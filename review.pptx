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e571232c06dfc03d533c300c9599ac5a728f4219.png"/>
          <p:cNvPicPr>
            <a:picLocks noChangeAspect="1"/>
          </p:cNvPicPr>
          <p:nvPr/>
        </p:nvPicPr>
        <p:blipFill>
          <a:blip r:embed="rId1">
            <a:alphaModFix amt="4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385888"/>
            <a:ext cx="2886075" cy="390525"/>
          </a:xfrm>
          <a:custGeom>
            <a:avLst/>
            <a:gdLst/>
            <a:ahLst/>
            <a:cxnLst/>
            <a:rect l="l" t="t" r="r" b="b"/>
            <a:pathLst>
              <a:path w="2886075" h="390525">
                <a:moveTo>
                  <a:pt x="76199" y="0"/>
                </a:moveTo>
                <a:lnTo>
                  <a:pt x="2809876" y="0"/>
                </a:lnTo>
                <a:cubicBezTo>
                  <a:pt x="2851959" y="0"/>
                  <a:pt x="2886075" y="34116"/>
                  <a:pt x="2886075" y="76199"/>
                </a:cubicBezTo>
                <a:lnTo>
                  <a:pt x="2886075" y="314326"/>
                </a:lnTo>
                <a:cubicBezTo>
                  <a:pt x="2886075" y="356409"/>
                  <a:pt x="2851959" y="390525"/>
                  <a:pt x="28098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481138"/>
            <a:ext cx="2646164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LITERATURE REVIEW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38375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 Agent Skills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技术文献综述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57675"/>
            <a:ext cx="7429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从过程性知识到模块化能力扩展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19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26256" y="51530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0" name="Text 7"/>
          <p:cNvSpPr/>
          <p:nvPr/>
        </p:nvSpPr>
        <p:spPr>
          <a:xfrm>
            <a:off x="952500" y="5019675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研究时间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5210175"/>
            <a:ext cx="97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2025-2026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40148" y="5019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2273498" y="5153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1"/>
          <p:cNvSpPr/>
          <p:nvPr/>
        </p:nvSpPr>
        <p:spPr>
          <a:xfrm>
            <a:off x="2711648" y="5019675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技术领域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11648" y="5210175"/>
            <a:ext cx="178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00125" cy="314325"/>
          </a:xfrm>
          <a:custGeom>
            <a:avLst/>
            <a:gdLst/>
            <a:ahLst/>
            <a:cxnLst/>
            <a:rect l="l" t="t" r="r" b="b"/>
            <a:pathLst>
              <a:path w="1000125" h="314325">
                <a:moveTo>
                  <a:pt x="38099" y="0"/>
                </a:moveTo>
                <a:lnTo>
                  <a:pt x="962026" y="0"/>
                </a:lnTo>
                <a:cubicBezTo>
                  <a:pt x="983067" y="0"/>
                  <a:pt x="1000125" y="17058"/>
                  <a:pt x="1000125" y="38099"/>
                </a:cubicBezTo>
                <a:lnTo>
                  <a:pt x="1000125" y="276226"/>
                </a:lnTo>
                <a:cubicBezTo>
                  <a:pt x="1000125" y="297267"/>
                  <a:pt x="983067" y="314325"/>
                  <a:pt x="962026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1963"/>
            <a:ext cx="830535" cy="176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85913"/>
            <a:ext cx="5591175" cy="1095375"/>
          </a:xfrm>
          <a:custGeom>
            <a:avLst/>
            <a:gdLst/>
            <a:ahLst/>
            <a:cxnLst/>
            <a:rect l="l" t="t" r="r" b="b"/>
            <a:pathLst>
              <a:path w="5591175" h="109537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981073"/>
                </a:lnTo>
                <a:cubicBezTo>
                  <a:pt x="5591175" y="1044200"/>
                  <a:pt x="5540000" y="1095375"/>
                  <a:pt x="54768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819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17203" y="1914525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4925" y="1819275"/>
            <a:ext cx="4552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研究背景与技术定位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2200275"/>
            <a:ext cx="4514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Skills技术的演进脉络与生态定位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5063" y="1585913"/>
            <a:ext cx="5591175" cy="1095375"/>
          </a:xfrm>
          <a:custGeom>
            <a:avLst/>
            <a:gdLst/>
            <a:ahLst/>
            <a:cxnLst/>
            <a:rect l="l" t="t" r="r" b="b"/>
            <a:pathLst>
              <a:path w="5591175" h="109537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981073"/>
                </a:lnTo>
                <a:cubicBezTo>
                  <a:pt x="5591175" y="1044200"/>
                  <a:pt x="5540000" y="1095375"/>
                  <a:pt x="54768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8425" y="1819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546503" y="1914525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4225" y="1819275"/>
            <a:ext cx="4552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核心技术架构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4225" y="2200275"/>
            <a:ext cx="4514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渐进式披露与双平台技术实现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2919413"/>
            <a:ext cx="5591175" cy="1095375"/>
          </a:xfrm>
          <a:custGeom>
            <a:avLst/>
            <a:gdLst/>
            <a:ahLst/>
            <a:cxnLst/>
            <a:rect l="l" t="t" r="r" b="b"/>
            <a:pathLst>
              <a:path w="5591175" h="109537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981073"/>
                </a:lnTo>
                <a:cubicBezTo>
                  <a:pt x="5591175" y="1044200"/>
                  <a:pt x="5540000" y="1095375"/>
                  <a:pt x="54768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125" y="3152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717203" y="3248025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4925" y="3152775"/>
            <a:ext cx="4552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功能价值与效能证据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4925" y="3533775"/>
            <a:ext cx="4514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量化收益与认知风险的实证研究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5063" y="2919413"/>
            <a:ext cx="5591175" cy="1095375"/>
          </a:xfrm>
          <a:custGeom>
            <a:avLst/>
            <a:gdLst/>
            <a:ahLst/>
            <a:cxnLst/>
            <a:rect l="l" t="t" r="r" b="b"/>
            <a:pathLst>
              <a:path w="5591175" h="109537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981073"/>
                </a:lnTo>
                <a:cubicBezTo>
                  <a:pt x="5591175" y="1044200"/>
                  <a:pt x="5540000" y="1095375"/>
                  <a:pt x="54768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8425" y="3152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546503" y="3248025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4225" y="3152775"/>
            <a:ext cx="4552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研究空白与未来方向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4225" y="3533775"/>
            <a:ext cx="4514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技术演进路径与待解关键问题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4248150"/>
            <a:ext cx="11410950" cy="609600"/>
          </a:xfrm>
          <a:custGeom>
            <a:avLst/>
            <a:gdLst/>
            <a:ahLst/>
            <a:cxnLst/>
            <a:rect l="l" t="t" r="r" b="b"/>
            <a:pathLst>
              <a:path w="11410950" h="609600">
                <a:moveTo>
                  <a:pt x="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495300"/>
                </a:lnTo>
                <a:cubicBezTo>
                  <a:pt x="11410950" y="558384"/>
                  <a:pt x="11359734" y="609600"/>
                  <a:pt x="11296650" y="609600"/>
                </a:cubicBez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26" name="Shape 24"/>
          <p:cNvSpPr/>
          <p:nvPr/>
        </p:nvSpPr>
        <p:spPr>
          <a:xfrm>
            <a:off x="400050" y="424815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Shape 25"/>
          <p:cNvSpPr/>
          <p:nvPr/>
        </p:nvSpPr>
        <p:spPr>
          <a:xfrm>
            <a:off x="657225" y="44577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6"/>
          <p:cNvSpPr/>
          <p:nvPr/>
        </p:nvSpPr>
        <p:spPr>
          <a:xfrm>
            <a:off x="962025" y="4438650"/>
            <a:ext cx="5543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核心洞察：</a:t>
            </a: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Skills技术代表AI Agent从"陈述性知识"向"程序性知识"转化的关键演进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ac46926c3bd7628eb1f04021db8e6e15109f10d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1444" r="144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638300"/>
            <a:ext cx="1400175" cy="428625"/>
          </a:xfrm>
          <a:custGeom>
            <a:avLst/>
            <a:gdLst/>
            <a:ahLst/>
            <a:cxnLst/>
            <a:rect l="l" t="t" r="r" b="b"/>
            <a:pathLst>
              <a:path w="1400175" h="428625">
                <a:moveTo>
                  <a:pt x="76201" y="0"/>
                </a:moveTo>
                <a:lnTo>
                  <a:pt x="1323974" y="0"/>
                </a:lnTo>
                <a:cubicBezTo>
                  <a:pt x="1366059" y="0"/>
                  <a:pt x="1400175" y="34116"/>
                  <a:pt x="1400175" y="76201"/>
                </a:cubicBezTo>
                <a:lnTo>
                  <a:pt x="1400175" y="352424"/>
                </a:lnTo>
                <a:cubicBezTo>
                  <a:pt x="1400175" y="394509"/>
                  <a:pt x="1366059" y="428625"/>
                  <a:pt x="132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738313"/>
            <a:ext cx="1168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00288"/>
            <a:ext cx="3771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研究背景与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技术定位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43388"/>
            <a:ext cx="35433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Skills技术的演进脉络与生态定位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9" name="Text 6"/>
          <p:cNvSpPr/>
          <p:nvPr/>
        </p:nvSpPr>
        <p:spPr>
          <a:xfrm>
            <a:off x="1524000" y="4995863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从概念提出到行业标准化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2066925" cy="314325"/>
          </a:xfrm>
          <a:custGeom>
            <a:avLst/>
            <a:gdLst/>
            <a:ahLst/>
            <a:cxnLst/>
            <a:rect l="l" t="t" r="r" b="b"/>
            <a:pathLst>
              <a:path w="2066925" h="314325">
                <a:moveTo>
                  <a:pt x="38099" y="0"/>
                </a:moveTo>
                <a:lnTo>
                  <a:pt x="2028826" y="0"/>
                </a:lnTo>
                <a:cubicBezTo>
                  <a:pt x="2049867" y="0"/>
                  <a:pt x="2066925" y="17058"/>
                  <a:pt x="2066925" y="38099"/>
                </a:cubicBezTo>
                <a:lnTo>
                  <a:pt x="2066925" y="276226"/>
                </a:lnTo>
                <a:cubicBezTo>
                  <a:pt x="2066925" y="297267"/>
                  <a:pt x="2049867" y="314325"/>
                  <a:pt x="2028826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1963"/>
            <a:ext cx="1896666" cy="176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EVOLUTION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Skills技术演进时间线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314450"/>
            <a:ext cx="19050" cy="4381500"/>
          </a:xfrm>
          <a:custGeom>
            <a:avLst/>
            <a:gdLst/>
            <a:ahLst/>
            <a:cxnLst/>
            <a:rect l="l" t="t" r="r" b="b"/>
            <a:pathLst>
              <a:path w="19050" h="4381500">
                <a:moveTo>
                  <a:pt x="0" y="0"/>
                </a:moveTo>
                <a:lnTo>
                  <a:pt x="19050" y="0"/>
                </a:lnTo>
                <a:lnTo>
                  <a:pt x="19050" y="4381500"/>
                </a:lnTo>
                <a:lnTo>
                  <a:pt x="0" y="4381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0">
                <a:srgbClr val="FFFFFF"/>
              </a:gs>
              <a:gs pos="50000">
                <a:srgbClr val="4A6C8C"/>
              </a:gs>
              <a:gs pos="100000">
                <a:srgbClr val="8D99AE"/>
              </a:gs>
            </a:gsLst>
            <a:lin ang="5400000" scaled="1"/>
          </a:gradFill>
        </p:spPr>
      </p:sp>
      <p:sp>
        <p:nvSpPr>
          <p:cNvPr id="6" name="Shape 4"/>
          <p:cNvSpPr/>
          <p:nvPr/>
        </p:nvSpPr>
        <p:spPr>
          <a:xfrm>
            <a:off x="400050" y="1333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5E8B7E"/>
          </a:solidFill>
          <a:ln w="50800">
            <a:solidFill>
              <a:srgbClr val="1A1D2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550" y="1524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Shape 6"/>
          <p:cNvSpPr/>
          <p:nvPr/>
        </p:nvSpPr>
        <p:spPr>
          <a:xfrm>
            <a:off x="1223963" y="1319213"/>
            <a:ext cx="10582275" cy="904875"/>
          </a:xfrm>
          <a:custGeom>
            <a:avLst/>
            <a:gdLst/>
            <a:ahLst/>
            <a:cxnLst/>
            <a:rect l="l" t="t" r="r" b="b"/>
            <a:pathLst>
              <a:path w="10582275" h="904875">
                <a:moveTo>
                  <a:pt x="114304" y="0"/>
                </a:moveTo>
                <a:lnTo>
                  <a:pt x="10467971" y="0"/>
                </a:lnTo>
                <a:cubicBezTo>
                  <a:pt x="10531099" y="0"/>
                  <a:pt x="10582275" y="51176"/>
                  <a:pt x="10582275" y="114304"/>
                </a:cubicBezTo>
                <a:lnTo>
                  <a:pt x="10582275" y="790571"/>
                </a:lnTo>
                <a:cubicBezTo>
                  <a:pt x="10582275" y="853699"/>
                  <a:pt x="10531099" y="904875"/>
                  <a:pt x="10467971" y="904875"/>
                </a:cubicBezTo>
                <a:lnTo>
                  <a:pt x="114304" y="904875"/>
                </a:lnTo>
                <a:cubicBezTo>
                  <a:pt x="51176" y="904875"/>
                  <a:pt x="0" y="853699"/>
                  <a:pt x="0" y="79057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1125" y="1476375"/>
            <a:ext cx="2438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Anthropic推出Claude Skills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840641" y="1476375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133350" y="0"/>
                </a:moveTo>
                <a:lnTo>
                  <a:pt x="676275" y="0"/>
                </a:lnTo>
                <a:cubicBezTo>
                  <a:pt x="749873" y="0"/>
                  <a:pt x="809625" y="59752"/>
                  <a:pt x="809625" y="133350"/>
                </a:cubicBezTo>
                <a:lnTo>
                  <a:pt x="809625" y="133350"/>
                </a:lnTo>
                <a:cubicBezTo>
                  <a:pt x="809625" y="206948"/>
                  <a:pt x="749873" y="266700"/>
                  <a:pt x="676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840641" y="1476375"/>
            <a:ext cx="8763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1125" y="1819275"/>
            <a:ext cx="103441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Anthropic率先推出Claude Skills功能，允许Agent通过模块化方式扩展能力。Skills作为可复用的指令包，将领域专业知识封装为标准化组件。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4003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4A6C8C"/>
          </a:solidFill>
          <a:ln w="50800">
            <a:solidFill>
              <a:srgbClr val="1A1D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8644" y="25908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15" name="Shape 13"/>
          <p:cNvSpPr/>
          <p:nvPr/>
        </p:nvSpPr>
        <p:spPr>
          <a:xfrm>
            <a:off x="1223963" y="2386013"/>
            <a:ext cx="10582275" cy="904875"/>
          </a:xfrm>
          <a:custGeom>
            <a:avLst/>
            <a:gdLst/>
            <a:ahLst/>
            <a:cxnLst/>
            <a:rect l="l" t="t" r="r" b="b"/>
            <a:pathLst>
              <a:path w="10582275" h="904875">
                <a:moveTo>
                  <a:pt x="114304" y="0"/>
                </a:moveTo>
                <a:lnTo>
                  <a:pt x="10467971" y="0"/>
                </a:lnTo>
                <a:cubicBezTo>
                  <a:pt x="10531099" y="0"/>
                  <a:pt x="10582275" y="51176"/>
                  <a:pt x="10582275" y="114304"/>
                </a:cubicBezTo>
                <a:lnTo>
                  <a:pt x="10582275" y="790571"/>
                </a:lnTo>
                <a:cubicBezTo>
                  <a:pt x="10582275" y="853699"/>
                  <a:pt x="10531099" y="904875"/>
                  <a:pt x="10467971" y="904875"/>
                </a:cubicBezTo>
                <a:lnTo>
                  <a:pt x="114304" y="904875"/>
                </a:lnTo>
                <a:cubicBezTo>
                  <a:pt x="51176" y="904875"/>
                  <a:pt x="0" y="853699"/>
                  <a:pt x="0" y="79057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1125" y="2543175"/>
            <a:ext cx="2171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OpenAI发布Codex Skills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40641" y="2543175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133350" y="0"/>
                </a:moveTo>
                <a:lnTo>
                  <a:pt x="676275" y="0"/>
                </a:lnTo>
                <a:cubicBezTo>
                  <a:pt x="749873" y="0"/>
                  <a:pt x="809625" y="59752"/>
                  <a:pt x="809625" y="133350"/>
                </a:cubicBezTo>
                <a:lnTo>
                  <a:pt x="809625" y="133350"/>
                </a:lnTo>
                <a:cubicBezTo>
                  <a:pt x="809625" y="206948"/>
                  <a:pt x="749873" y="266700"/>
                  <a:pt x="676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840641" y="2543175"/>
            <a:ext cx="8763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81125" y="2886075"/>
            <a:ext cx="103441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OpenAI紧随其后推出Codex Skills，采用类似的SKILL.md格式，但引入了显式/隐式双模式调用机制，体现不同的设计理念。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4671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5E8B7E"/>
          </a:solidFill>
          <a:ln w="50800">
            <a:solidFill>
              <a:srgbClr val="1A1D2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550" y="3657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2" name="Shape 20"/>
          <p:cNvSpPr/>
          <p:nvPr/>
        </p:nvSpPr>
        <p:spPr>
          <a:xfrm>
            <a:off x="1223963" y="3452813"/>
            <a:ext cx="10582275" cy="1171575"/>
          </a:xfrm>
          <a:custGeom>
            <a:avLst/>
            <a:gdLst/>
            <a:ahLst/>
            <a:cxnLst/>
            <a:rect l="l" t="t" r="r" b="b"/>
            <a:pathLst>
              <a:path w="10582275" h="1171575">
                <a:moveTo>
                  <a:pt x="114299" y="0"/>
                </a:moveTo>
                <a:lnTo>
                  <a:pt x="10467976" y="0"/>
                </a:lnTo>
                <a:cubicBezTo>
                  <a:pt x="10531102" y="0"/>
                  <a:pt x="10582275" y="51173"/>
                  <a:pt x="10582275" y="114299"/>
                </a:cubicBezTo>
                <a:lnTo>
                  <a:pt x="10582275" y="1057276"/>
                </a:lnTo>
                <a:cubicBezTo>
                  <a:pt x="10582275" y="1120402"/>
                  <a:pt x="10531102" y="1171575"/>
                  <a:pt x="104679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1125" y="3609975"/>
            <a:ext cx="2152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Anthropic开放Skills标准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704612" y="3609975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10704612" y="3609975"/>
            <a:ext cx="10096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2025年10月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81125" y="3952875"/>
            <a:ext cx="103441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Anthropic将Skills作为开放标准发布，建立官方GitHub仓库(anthropics/skills)，推动行业标准化。这一举措标志着Skills从专有功能向通用架构的转变。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00175" y="4305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6"/>
          <p:cNvSpPr/>
          <p:nvPr/>
        </p:nvSpPr>
        <p:spPr>
          <a:xfrm>
            <a:off x="1624013" y="427672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官方文档与最佳实践指南发布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8006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8D99AE"/>
          </a:solidFill>
          <a:ln w="50800">
            <a:solidFill>
              <a:srgbClr val="1A1D2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644" y="4991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1" name="Shape 29"/>
          <p:cNvSpPr/>
          <p:nvPr/>
        </p:nvSpPr>
        <p:spPr>
          <a:xfrm>
            <a:off x="1223963" y="4786313"/>
            <a:ext cx="10582275" cy="904875"/>
          </a:xfrm>
          <a:custGeom>
            <a:avLst/>
            <a:gdLst/>
            <a:ahLst/>
            <a:cxnLst/>
            <a:rect l="l" t="t" r="r" b="b"/>
            <a:pathLst>
              <a:path w="10582275" h="904875">
                <a:moveTo>
                  <a:pt x="114304" y="0"/>
                </a:moveTo>
                <a:lnTo>
                  <a:pt x="10467971" y="0"/>
                </a:lnTo>
                <a:cubicBezTo>
                  <a:pt x="10531099" y="0"/>
                  <a:pt x="10582275" y="51176"/>
                  <a:pt x="10582275" y="114304"/>
                </a:cubicBezTo>
                <a:lnTo>
                  <a:pt x="10582275" y="790571"/>
                </a:lnTo>
                <a:cubicBezTo>
                  <a:pt x="10582275" y="853699"/>
                  <a:pt x="10531099" y="904875"/>
                  <a:pt x="10467971" y="904875"/>
                </a:cubicBezTo>
                <a:lnTo>
                  <a:pt x="114304" y="904875"/>
                </a:lnTo>
                <a:cubicBezTo>
                  <a:pt x="51176" y="904875"/>
                  <a:pt x="0" y="853699"/>
                  <a:pt x="0" y="79057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81125" y="4943475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行业技术趋同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13318" y="4943475"/>
            <a:ext cx="933450" cy="266700"/>
          </a:xfrm>
          <a:custGeom>
            <a:avLst/>
            <a:gdLst/>
            <a:ahLst/>
            <a:cxnLst/>
            <a:rect l="l" t="t" r="r" b="b"/>
            <a:pathLst>
              <a:path w="933450" h="266700">
                <a:moveTo>
                  <a:pt x="133350" y="0"/>
                </a:moveTo>
                <a:lnTo>
                  <a:pt x="800100" y="0"/>
                </a:lnTo>
                <a:cubicBezTo>
                  <a:pt x="873698" y="0"/>
                  <a:pt x="933450" y="59752"/>
                  <a:pt x="933450" y="133350"/>
                </a:cubicBezTo>
                <a:lnTo>
                  <a:pt x="933450" y="133350"/>
                </a:lnTo>
                <a:cubicBezTo>
                  <a:pt x="933450" y="206948"/>
                  <a:pt x="873698" y="266700"/>
                  <a:pt x="800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0713318" y="4943475"/>
            <a:ext cx="10001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2025年12月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81125" y="5286375"/>
            <a:ext cx="103441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OpenAI事实上采纳了Anthropic的Skills框架，双平台在文件结构和核心概念上实现统一。行业技术趋同已经发生，为标准化奠定基础。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466850" cy="314325"/>
          </a:xfrm>
          <a:custGeom>
            <a:avLst/>
            <a:gdLst/>
            <a:ahLst/>
            <a:cxnLst/>
            <a:rect l="l" t="t" r="r" b="b"/>
            <a:pathLst>
              <a:path w="1466850" h="314325">
                <a:moveTo>
                  <a:pt x="38099" y="0"/>
                </a:moveTo>
                <a:lnTo>
                  <a:pt x="1428751" y="0"/>
                </a:lnTo>
                <a:cubicBezTo>
                  <a:pt x="1449792" y="0"/>
                  <a:pt x="1466850" y="17058"/>
                  <a:pt x="1466850" y="38099"/>
                </a:cubicBezTo>
                <a:lnTo>
                  <a:pt x="1466850" y="276226"/>
                </a:lnTo>
                <a:cubicBezTo>
                  <a:pt x="1466850" y="297267"/>
                  <a:pt x="1449792" y="314325"/>
                  <a:pt x="142875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1963"/>
            <a:ext cx="1291903" cy="176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DEFINITION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技术本质与核心定义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19213"/>
            <a:ext cx="5629275" cy="2428875"/>
          </a:xfrm>
          <a:custGeom>
            <a:avLst/>
            <a:gdLst/>
            <a:ahLst/>
            <a:cxnLst/>
            <a:rect l="l" t="t" r="r" b="b"/>
            <a:pathLst>
              <a:path w="5629275" h="2428875">
                <a:moveTo>
                  <a:pt x="114303" y="0"/>
                </a:moveTo>
                <a:lnTo>
                  <a:pt x="5514972" y="0"/>
                </a:lnTo>
                <a:cubicBezTo>
                  <a:pt x="5578058" y="0"/>
                  <a:pt x="5629275" y="51217"/>
                  <a:pt x="5629275" y="114303"/>
                </a:cubicBezTo>
                <a:lnTo>
                  <a:pt x="5629275" y="2314572"/>
                </a:lnTo>
                <a:cubicBezTo>
                  <a:pt x="5629275" y="2377658"/>
                  <a:pt x="5578058" y="2428875"/>
                  <a:pt x="5514972" y="2428875"/>
                </a:cubicBezTo>
                <a:lnTo>
                  <a:pt x="114303" y="2428875"/>
                </a:lnTo>
                <a:cubicBezTo>
                  <a:pt x="51217" y="2428875"/>
                  <a:pt x="0" y="2377658"/>
                  <a:pt x="0" y="23145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14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26281" y="16478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6"/>
          <p:cNvSpPr/>
          <p:nvPr/>
        </p:nvSpPr>
        <p:spPr>
          <a:xfrm>
            <a:off x="1152525" y="16097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官方定义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124075"/>
            <a:ext cx="5219700" cy="819150"/>
          </a:xfrm>
          <a:custGeom>
            <a:avLst/>
            <a:gdLst/>
            <a:ahLst/>
            <a:cxnLst/>
            <a:rect l="l" t="t" r="r" b="b"/>
            <a:pathLst>
              <a:path w="5219700" h="819150">
                <a:moveTo>
                  <a:pt x="0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742953"/>
                </a:lnTo>
                <a:cubicBezTo>
                  <a:pt x="5219700" y="785035"/>
                  <a:pt x="5185585" y="819150"/>
                  <a:pt x="5143503" y="819150"/>
                </a:cubicBez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00075" y="2124075"/>
            <a:ext cx="38100" cy="819150"/>
          </a:xfrm>
          <a:custGeom>
            <a:avLst/>
            <a:gdLst/>
            <a:ahLst/>
            <a:cxnLst/>
            <a:rect l="l" t="t" r="r" b="b"/>
            <a:pathLst>
              <a:path w="38100" h="819150">
                <a:moveTo>
                  <a:pt x="0" y="0"/>
                </a:moveTo>
                <a:lnTo>
                  <a:pt x="38100" y="0"/>
                </a:lnTo>
                <a:lnTo>
                  <a:pt x="3810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9"/>
          <p:cNvSpPr/>
          <p:nvPr/>
        </p:nvSpPr>
        <p:spPr>
          <a:xfrm>
            <a:off x="771525" y="2276475"/>
            <a:ext cx="49720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"Skills是可发现的指令、脚本和资源集合，赋予Agent新能力"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1525" y="2600325"/>
            <a:ext cx="4962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Anthropic官方文档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057525"/>
            <a:ext cx="5314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Skills不是简单的提示词模板，而是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完整的领域知识封装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，包含操作指南、示例、边界条件和可执行资源。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910013"/>
            <a:ext cx="5629275" cy="2257425"/>
          </a:xfrm>
          <a:custGeom>
            <a:avLst/>
            <a:gdLst/>
            <a:ahLst/>
            <a:cxnLst/>
            <a:rect l="l" t="t" r="r" b="b"/>
            <a:pathLst>
              <a:path w="5629275" h="2257425">
                <a:moveTo>
                  <a:pt x="114293" y="0"/>
                </a:moveTo>
                <a:lnTo>
                  <a:pt x="5514982" y="0"/>
                </a:lnTo>
                <a:cubicBezTo>
                  <a:pt x="5578062" y="0"/>
                  <a:pt x="5629275" y="51213"/>
                  <a:pt x="5629275" y="114293"/>
                </a:cubicBezTo>
                <a:lnTo>
                  <a:pt x="5629275" y="2143132"/>
                </a:lnTo>
                <a:cubicBezTo>
                  <a:pt x="5629275" y="2206212"/>
                  <a:pt x="5578062" y="2257425"/>
                  <a:pt x="551498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025" y="4105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14375" y="4238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5"/>
          <p:cNvSpPr/>
          <p:nvPr/>
        </p:nvSpPr>
        <p:spPr>
          <a:xfrm>
            <a:off x="1152525" y="42005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技术本质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1025" y="4714875"/>
            <a:ext cx="53149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Skills的核心是</a:t>
            </a:r>
            <a:r>
              <a:rPr lang="en-US" sz="1200" b="1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模块化的能力扩展机制 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，将以下要素封装为可复用组件：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5095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45319" y="5153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1" name="Text 19"/>
          <p:cNvSpPr/>
          <p:nvPr/>
        </p:nvSpPr>
        <p:spPr>
          <a:xfrm>
            <a:off x="923925" y="507682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领域专业知识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5419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45319" y="54768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4" name="Text 22"/>
          <p:cNvSpPr/>
          <p:nvPr/>
        </p:nvSpPr>
        <p:spPr>
          <a:xfrm>
            <a:off x="923925" y="5400675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标准化操作流程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5743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45319" y="58007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Text 25"/>
          <p:cNvSpPr/>
          <p:nvPr/>
        </p:nvSpPr>
        <p:spPr>
          <a:xfrm>
            <a:off x="923925" y="57245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可执行资源与脚本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963" y="1319213"/>
            <a:ext cx="5629275" cy="2390775"/>
          </a:xfrm>
          <a:custGeom>
            <a:avLst/>
            <a:gdLst/>
            <a:ahLst/>
            <a:cxnLst/>
            <a:rect l="l" t="t" r="r" b="b"/>
            <a:pathLst>
              <a:path w="5629275" h="2390775">
                <a:moveTo>
                  <a:pt x="114303" y="0"/>
                </a:moveTo>
                <a:lnTo>
                  <a:pt x="5514972" y="0"/>
                </a:lnTo>
                <a:cubicBezTo>
                  <a:pt x="5578100" y="0"/>
                  <a:pt x="5629275" y="51175"/>
                  <a:pt x="5629275" y="114303"/>
                </a:cubicBezTo>
                <a:lnTo>
                  <a:pt x="5629275" y="2276472"/>
                </a:lnTo>
                <a:cubicBezTo>
                  <a:pt x="5629275" y="2339600"/>
                  <a:pt x="5578100" y="2390775"/>
                  <a:pt x="5514972" y="2390775"/>
                </a:cubicBezTo>
                <a:lnTo>
                  <a:pt x="114303" y="2390775"/>
                </a:lnTo>
                <a:cubicBezTo>
                  <a:pt x="51175" y="2390775"/>
                  <a:pt x="0" y="2339600"/>
                  <a:pt x="0" y="2276472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2225" y="1514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505575" y="1647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6943725" y="16097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理论框架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72225" y="2124075"/>
            <a:ext cx="53149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从技术演进视角，Skills对应的是从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陈述性知识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程序性知识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的转化。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2225" y="2486025"/>
            <a:ext cx="5238750" cy="1028700"/>
          </a:xfrm>
          <a:custGeom>
            <a:avLst/>
            <a:gdLst/>
            <a:ahLst/>
            <a:cxnLst/>
            <a:rect l="l" t="t" r="r" b="b"/>
            <a:pathLst>
              <a:path w="5238750" h="1028700">
                <a:moveTo>
                  <a:pt x="76196" y="0"/>
                </a:moveTo>
                <a:lnTo>
                  <a:pt x="5162554" y="0"/>
                </a:lnTo>
                <a:cubicBezTo>
                  <a:pt x="5204636" y="0"/>
                  <a:pt x="5238750" y="34114"/>
                  <a:pt x="5238750" y="76196"/>
                </a:cubicBezTo>
                <a:lnTo>
                  <a:pt x="5238750" y="952504"/>
                </a:lnTo>
                <a:cubicBezTo>
                  <a:pt x="5238750" y="994586"/>
                  <a:pt x="5204636" y="1028700"/>
                  <a:pt x="516255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524625" y="2638425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理论来源：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24625" y="2905125"/>
            <a:ext cx="5010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TechRxiv预印本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4625" y="3133725"/>
            <a:ext cx="5010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《Agent Skills from the Perspective of Procedural Memory》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6963" y="3871913"/>
            <a:ext cx="5629275" cy="1266825"/>
          </a:xfrm>
          <a:custGeom>
            <a:avLst/>
            <a:gdLst/>
            <a:ahLst/>
            <a:cxnLst/>
            <a:rect l="l" t="t" r="r" b="b"/>
            <a:pathLst>
              <a:path w="5629275" h="1266825">
                <a:moveTo>
                  <a:pt x="114306" y="0"/>
                </a:moveTo>
                <a:lnTo>
                  <a:pt x="5514969" y="0"/>
                </a:lnTo>
                <a:cubicBezTo>
                  <a:pt x="5578099" y="0"/>
                  <a:pt x="5629275" y="51176"/>
                  <a:pt x="5629275" y="114306"/>
                </a:cubicBezTo>
                <a:lnTo>
                  <a:pt x="5629275" y="1152519"/>
                </a:lnTo>
                <a:cubicBezTo>
                  <a:pt x="5629275" y="1215649"/>
                  <a:pt x="5578099" y="1266825"/>
                  <a:pt x="551496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19850" y="41052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9" name="Text 37"/>
          <p:cNvSpPr/>
          <p:nvPr/>
        </p:nvSpPr>
        <p:spPr>
          <a:xfrm>
            <a:off x="6724650" y="40671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2225" y="4448175"/>
            <a:ext cx="5314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Skills将人类专家的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隐性知识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转化为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显性编码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，使AI Agent能够执行需要专业判断和复杂决策的任务，而不仅是信息检索或简单工具调用。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241" y="341241"/>
            <a:ext cx="1811527" cy="278048"/>
          </a:xfrm>
          <a:custGeom>
            <a:avLst/>
            <a:gdLst/>
            <a:ahLst/>
            <a:cxnLst/>
            <a:rect l="l" t="t" r="r" b="b"/>
            <a:pathLst>
              <a:path w="1811527" h="278048">
                <a:moveTo>
                  <a:pt x="33702" y="0"/>
                </a:moveTo>
                <a:lnTo>
                  <a:pt x="1777825" y="0"/>
                </a:lnTo>
                <a:cubicBezTo>
                  <a:pt x="1796438" y="0"/>
                  <a:pt x="1811527" y="15089"/>
                  <a:pt x="1811527" y="33702"/>
                </a:cubicBezTo>
                <a:lnTo>
                  <a:pt x="1811527" y="244346"/>
                </a:lnTo>
                <a:cubicBezTo>
                  <a:pt x="1811527" y="262959"/>
                  <a:pt x="1796438" y="278048"/>
                  <a:pt x="1777825" y="278048"/>
                </a:cubicBezTo>
                <a:lnTo>
                  <a:pt x="33702" y="278048"/>
                </a:lnTo>
                <a:cubicBezTo>
                  <a:pt x="15089" y="278048"/>
                  <a:pt x="0" y="262959"/>
                  <a:pt x="0" y="244346"/>
                </a:cubicBezTo>
                <a:lnTo>
                  <a:pt x="0" y="33702"/>
                </a:lnTo>
                <a:cubicBezTo>
                  <a:pt x="0" y="15101"/>
                  <a:pt x="15101" y="0"/>
                  <a:pt x="337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6563" y="408647"/>
            <a:ext cx="1660457" cy="155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kern="0" spc="46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ECOSYSTEM POSITIONING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7028" y="690908"/>
            <a:ext cx="11669606" cy="337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技术生态定位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7028" y="1095342"/>
            <a:ext cx="11593775" cy="23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 vs MCP vs Function Calling：互补而非替代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1241" y="1470286"/>
            <a:ext cx="11509518" cy="2367624"/>
          </a:xfrm>
          <a:custGeom>
            <a:avLst/>
            <a:gdLst/>
            <a:ahLst/>
            <a:cxnLst/>
            <a:rect l="l" t="t" r="r" b="b"/>
            <a:pathLst>
              <a:path w="11509518" h="2367624">
                <a:moveTo>
                  <a:pt x="101098" y="0"/>
                </a:moveTo>
                <a:lnTo>
                  <a:pt x="11408420" y="0"/>
                </a:lnTo>
                <a:cubicBezTo>
                  <a:pt x="11464255" y="0"/>
                  <a:pt x="11509518" y="45263"/>
                  <a:pt x="11509518" y="101098"/>
                </a:cubicBezTo>
                <a:lnTo>
                  <a:pt x="11509518" y="2266527"/>
                </a:lnTo>
                <a:cubicBezTo>
                  <a:pt x="11509518" y="2322361"/>
                  <a:pt x="11464255" y="2367624"/>
                  <a:pt x="11408420" y="2367624"/>
                </a:cubicBezTo>
                <a:lnTo>
                  <a:pt x="101098" y="2367624"/>
                </a:lnTo>
                <a:cubicBezTo>
                  <a:pt x="45263" y="2367624"/>
                  <a:pt x="0" y="2322361"/>
                  <a:pt x="0" y="2266527"/>
                </a:cubicBezTo>
                <a:lnTo>
                  <a:pt x="0" y="101098"/>
                </a:lnTo>
                <a:cubicBezTo>
                  <a:pt x="0" y="45263"/>
                  <a:pt x="45263" y="0"/>
                  <a:pt x="1010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80265" y="1609310"/>
          <a:ext cx="11231469" cy="2089576"/>
        </p:xfrm>
        <a:graphic>
          <a:graphicData uri="http://schemas.openxmlformats.org/drawingml/2006/table">
            <a:tbl>
              <a:tblPr/>
              <a:tblGrid>
                <a:gridCol w="3117512"/>
                <a:gridCol w="4179151"/>
                <a:gridCol w="1878933"/>
                <a:gridCol w="2055873"/>
              </a:tblGrid>
              <a:tr h="522394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技术方案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核心定位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解决的问题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抽象层级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239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Function Calling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原子操作级别的工具调用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能做什么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239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MCP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Agent与外部工具的连接协议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怎么连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239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Skills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完整工作流和领域最佳实践的封装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怎么做好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41241" y="3947444"/>
            <a:ext cx="5687353" cy="2569841"/>
          </a:xfrm>
          <a:custGeom>
            <a:avLst/>
            <a:gdLst/>
            <a:ahLst/>
            <a:cxnLst/>
            <a:rect l="l" t="t" r="r" b="b"/>
            <a:pathLst>
              <a:path w="5687353" h="2569841">
                <a:moveTo>
                  <a:pt x="101098" y="0"/>
                </a:moveTo>
                <a:lnTo>
                  <a:pt x="5586256" y="0"/>
                </a:lnTo>
                <a:cubicBezTo>
                  <a:pt x="5642090" y="0"/>
                  <a:pt x="5687353" y="45263"/>
                  <a:pt x="5687353" y="101098"/>
                </a:cubicBezTo>
                <a:lnTo>
                  <a:pt x="5687353" y="2468744"/>
                </a:lnTo>
                <a:cubicBezTo>
                  <a:pt x="5687353" y="2524578"/>
                  <a:pt x="5642090" y="2569841"/>
                  <a:pt x="5586256" y="2569841"/>
                </a:cubicBezTo>
                <a:lnTo>
                  <a:pt x="101098" y="2569841"/>
                </a:lnTo>
                <a:cubicBezTo>
                  <a:pt x="45263" y="2569841"/>
                  <a:pt x="0" y="2524578"/>
                  <a:pt x="0" y="2468744"/>
                </a:cubicBezTo>
                <a:lnTo>
                  <a:pt x="0" y="101098"/>
                </a:lnTo>
                <a:cubicBezTo>
                  <a:pt x="0" y="45263"/>
                  <a:pt x="45263" y="0"/>
                  <a:pt x="1010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0798" y="4120171"/>
            <a:ext cx="189578" cy="168514"/>
          </a:xfrm>
          <a:custGeom>
            <a:avLst/>
            <a:gdLst/>
            <a:ahLst/>
            <a:cxnLst/>
            <a:rect l="l" t="t" r="r" b="b"/>
            <a:pathLst>
              <a:path w="189578" h="168514">
                <a:moveTo>
                  <a:pt x="138070" y="31596"/>
                </a:moveTo>
                <a:cubicBezTo>
                  <a:pt x="132606" y="31596"/>
                  <a:pt x="127307" y="33077"/>
                  <a:pt x="122666" y="35776"/>
                </a:cubicBezTo>
                <a:cubicBezTo>
                  <a:pt x="117466" y="30510"/>
                  <a:pt x="111410" y="26100"/>
                  <a:pt x="104729" y="22776"/>
                </a:cubicBezTo>
                <a:cubicBezTo>
                  <a:pt x="114010" y="14877"/>
                  <a:pt x="125826" y="10532"/>
                  <a:pt x="138070" y="10532"/>
                </a:cubicBezTo>
                <a:cubicBezTo>
                  <a:pt x="166506" y="10532"/>
                  <a:pt x="189578" y="33571"/>
                  <a:pt x="189578" y="62041"/>
                </a:cubicBezTo>
                <a:cubicBezTo>
                  <a:pt x="189578" y="75700"/>
                  <a:pt x="184148" y="88799"/>
                  <a:pt x="174504" y="98443"/>
                </a:cubicBezTo>
                <a:lnTo>
                  <a:pt x="151103" y="121844"/>
                </a:lnTo>
                <a:cubicBezTo>
                  <a:pt x="141460" y="131487"/>
                  <a:pt x="128360" y="136918"/>
                  <a:pt x="114702" y="136918"/>
                </a:cubicBezTo>
                <a:cubicBezTo>
                  <a:pt x="86265" y="136918"/>
                  <a:pt x="63193" y="113879"/>
                  <a:pt x="63193" y="85409"/>
                </a:cubicBezTo>
                <a:cubicBezTo>
                  <a:pt x="63193" y="84915"/>
                  <a:pt x="63193" y="84422"/>
                  <a:pt x="63226" y="83928"/>
                </a:cubicBezTo>
                <a:cubicBezTo>
                  <a:pt x="63390" y="78102"/>
                  <a:pt x="68228" y="73527"/>
                  <a:pt x="74054" y="73692"/>
                </a:cubicBezTo>
                <a:cubicBezTo>
                  <a:pt x="79880" y="73857"/>
                  <a:pt x="84455" y="78695"/>
                  <a:pt x="84290" y="84520"/>
                </a:cubicBezTo>
                <a:cubicBezTo>
                  <a:pt x="84290" y="84817"/>
                  <a:pt x="84290" y="85113"/>
                  <a:pt x="84290" y="85376"/>
                </a:cubicBezTo>
                <a:cubicBezTo>
                  <a:pt x="84290" y="102195"/>
                  <a:pt x="97916" y="115821"/>
                  <a:pt x="114734" y="115821"/>
                </a:cubicBezTo>
                <a:cubicBezTo>
                  <a:pt x="122798" y="115821"/>
                  <a:pt x="130533" y="112628"/>
                  <a:pt x="136260" y="106901"/>
                </a:cubicBezTo>
                <a:lnTo>
                  <a:pt x="159661" y="83500"/>
                </a:lnTo>
                <a:cubicBezTo>
                  <a:pt x="165355" y="77806"/>
                  <a:pt x="168580" y="70039"/>
                  <a:pt x="168580" y="61975"/>
                </a:cubicBezTo>
                <a:cubicBezTo>
                  <a:pt x="168580" y="45157"/>
                  <a:pt x="154954" y="31531"/>
                  <a:pt x="138136" y="31531"/>
                </a:cubicBezTo>
                <a:close/>
                <a:moveTo>
                  <a:pt x="90576" y="57038"/>
                </a:moveTo>
                <a:cubicBezTo>
                  <a:pt x="89951" y="56775"/>
                  <a:pt x="89326" y="56413"/>
                  <a:pt x="88766" y="56018"/>
                </a:cubicBezTo>
                <a:cubicBezTo>
                  <a:pt x="84619" y="53878"/>
                  <a:pt x="79880" y="52661"/>
                  <a:pt x="74910" y="52661"/>
                </a:cubicBezTo>
                <a:cubicBezTo>
                  <a:pt x="66846" y="52661"/>
                  <a:pt x="59112" y="55853"/>
                  <a:pt x="53385" y="61580"/>
                </a:cubicBezTo>
                <a:lnTo>
                  <a:pt x="29984" y="84981"/>
                </a:lnTo>
                <a:cubicBezTo>
                  <a:pt x="24290" y="90675"/>
                  <a:pt x="21064" y="98443"/>
                  <a:pt x="21064" y="106506"/>
                </a:cubicBezTo>
                <a:cubicBezTo>
                  <a:pt x="21064" y="123325"/>
                  <a:pt x="34690" y="136951"/>
                  <a:pt x="51509" y="136951"/>
                </a:cubicBezTo>
                <a:cubicBezTo>
                  <a:pt x="56939" y="136951"/>
                  <a:pt x="62238" y="135503"/>
                  <a:pt x="66879" y="132804"/>
                </a:cubicBezTo>
                <a:cubicBezTo>
                  <a:pt x="72079" y="138070"/>
                  <a:pt x="78135" y="142480"/>
                  <a:pt x="84850" y="145804"/>
                </a:cubicBezTo>
                <a:cubicBezTo>
                  <a:pt x="75568" y="153670"/>
                  <a:pt x="63785" y="158048"/>
                  <a:pt x="51509" y="158048"/>
                </a:cubicBezTo>
                <a:cubicBezTo>
                  <a:pt x="23072" y="158048"/>
                  <a:pt x="0" y="135009"/>
                  <a:pt x="0" y="106539"/>
                </a:cubicBezTo>
                <a:cubicBezTo>
                  <a:pt x="0" y="92880"/>
                  <a:pt x="5431" y="79781"/>
                  <a:pt x="15074" y="70137"/>
                </a:cubicBezTo>
                <a:lnTo>
                  <a:pt x="38475" y="46736"/>
                </a:lnTo>
                <a:cubicBezTo>
                  <a:pt x="48119" y="37093"/>
                  <a:pt x="61218" y="31662"/>
                  <a:pt x="74877" y="31662"/>
                </a:cubicBezTo>
                <a:cubicBezTo>
                  <a:pt x="103379" y="31662"/>
                  <a:pt x="126386" y="54899"/>
                  <a:pt x="126386" y="83303"/>
                </a:cubicBezTo>
                <a:cubicBezTo>
                  <a:pt x="126386" y="83730"/>
                  <a:pt x="126386" y="84158"/>
                  <a:pt x="126386" y="84586"/>
                </a:cubicBezTo>
                <a:cubicBezTo>
                  <a:pt x="126254" y="90412"/>
                  <a:pt x="121416" y="94987"/>
                  <a:pt x="115590" y="94855"/>
                </a:cubicBezTo>
                <a:cubicBezTo>
                  <a:pt x="109765" y="94723"/>
                  <a:pt x="105190" y="89885"/>
                  <a:pt x="105321" y="84060"/>
                </a:cubicBezTo>
                <a:cubicBezTo>
                  <a:pt x="105321" y="83796"/>
                  <a:pt x="105321" y="83566"/>
                  <a:pt x="105321" y="83303"/>
                </a:cubicBezTo>
                <a:cubicBezTo>
                  <a:pt x="105321" y="72211"/>
                  <a:pt x="99397" y="62469"/>
                  <a:pt x="90576" y="5710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0" name="Text 7"/>
          <p:cNvSpPr/>
          <p:nvPr/>
        </p:nvSpPr>
        <p:spPr>
          <a:xfrm>
            <a:off x="792017" y="4086469"/>
            <a:ext cx="682482" cy="23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互补关系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265" y="4423497"/>
            <a:ext cx="5476710" cy="219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三者构成</a:t>
            </a:r>
            <a:r>
              <a:rPr lang="en-US" sz="106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互补的技术栈</a:t>
            </a:r>
            <a:r>
              <a:rPr lang="en-US" sz="106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，而非竞争关系：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0265" y="4777377"/>
            <a:ext cx="202217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2482" y="4743674"/>
            <a:ext cx="2199110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一个Skill内部可能调用</a:t>
            </a:r>
            <a:r>
              <a:rPr lang="en-US" sz="10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多个Function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0265" y="5080702"/>
            <a:ext cx="202217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2482" y="5046999"/>
            <a:ext cx="2494010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通过MCP连接的</a:t>
            </a:r>
            <a:r>
              <a:rPr lang="en-US" sz="10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外部工具</a:t>
            </a:r>
            <a:r>
              <a:rPr lang="en-US" sz="10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也可被Skill编排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0265" y="5384028"/>
            <a:ext cx="202217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2482" y="5350325"/>
            <a:ext cx="2805761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Skills处于</a:t>
            </a:r>
            <a:r>
              <a:rPr lang="en-US" sz="10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更高的抽象层级</a:t>
            </a:r>
            <a:r>
              <a:rPr lang="en-US" sz="10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，封装完整业务逻辑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68079" y="3947444"/>
            <a:ext cx="5687353" cy="2569841"/>
          </a:xfrm>
          <a:custGeom>
            <a:avLst/>
            <a:gdLst/>
            <a:ahLst/>
            <a:cxnLst/>
            <a:rect l="l" t="t" r="r" b="b"/>
            <a:pathLst>
              <a:path w="5687353" h="2569841">
                <a:moveTo>
                  <a:pt x="101098" y="0"/>
                </a:moveTo>
                <a:lnTo>
                  <a:pt x="5586256" y="0"/>
                </a:lnTo>
                <a:cubicBezTo>
                  <a:pt x="5642090" y="0"/>
                  <a:pt x="5687353" y="45263"/>
                  <a:pt x="5687353" y="101098"/>
                </a:cubicBezTo>
                <a:lnTo>
                  <a:pt x="5687353" y="2468744"/>
                </a:lnTo>
                <a:cubicBezTo>
                  <a:pt x="5687353" y="2524578"/>
                  <a:pt x="5642090" y="2569841"/>
                  <a:pt x="5586256" y="2569841"/>
                </a:cubicBezTo>
                <a:lnTo>
                  <a:pt x="101098" y="2569841"/>
                </a:lnTo>
                <a:cubicBezTo>
                  <a:pt x="45263" y="2569841"/>
                  <a:pt x="0" y="2524578"/>
                  <a:pt x="0" y="2468744"/>
                </a:cubicBezTo>
                <a:lnTo>
                  <a:pt x="0" y="101098"/>
                </a:lnTo>
                <a:cubicBezTo>
                  <a:pt x="0" y="45263"/>
                  <a:pt x="45263" y="0"/>
                  <a:pt x="1010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28168" y="4120171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76523" y="1711"/>
                </a:moveTo>
                <a:cubicBezTo>
                  <a:pt x="81427" y="-560"/>
                  <a:pt x="87088" y="-560"/>
                  <a:pt x="91992" y="1711"/>
                </a:cubicBezTo>
                <a:lnTo>
                  <a:pt x="163939" y="34954"/>
                </a:lnTo>
                <a:cubicBezTo>
                  <a:pt x="166737" y="36237"/>
                  <a:pt x="168514" y="39035"/>
                  <a:pt x="168514" y="42129"/>
                </a:cubicBezTo>
                <a:cubicBezTo>
                  <a:pt x="168514" y="45222"/>
                  <a:pt x="166737" y="48020"/>
                  <a:pt x="163939" y="49304"/>
                </a:cubicBezTo>
                <a:lnTo>
                  <a:pt x="91992" y="82546"/>
                </a:lnTo>
                <a:cubicBezTo>
                  <a:pt x="87088" y="84817"/>
                  <a:pt x="81427" y="84817"/>
                  <a:pt x="76523" y="82546"/>
                </a:cubicBezTo>
                <a:lnTo>
                  <a:pt x="4575" y="49304"/>
                </a:lnTo>
                <a:cubicBezTo>
                  <a:pt x="1777" y="47987"/>
                  <a:pt x="0" y="45189"/>
                  <a:pt x="0" y="42129"/>
                </a:cubicBezTo>
                <a:cubicBezTo>
                  <a:pt x="0" y="39068"/>
                  <a:pt x="1777" y="36237"/>
                  <a:pt x="4575" y="34954"/>
                </a:cubicBezTo>
                <a:lnTo>
                  <a:pt x="76523" y="1711"/>
                </a:lnTo>
                <a:close/>
                <a:moveTo>
                  <a:pt x="15831" y="71882"/>
                </a:moveTo>
                <a:lnTo>
                  <a:pt x="69907" y="96863"/>
                </a:lnTo>
                <a:cubicBezTo>
                  <a:pt x="79024" y="101076"/>
                  <a:pt x="89523" y="101076"/>
                  <a:pt x="98640" y="96863"/>
                </a:cubicBezTo>
                <a:lnTo>
                  <a:pt x="152716" y="71882"/>
                </a:lnTo>
                <a:lnTo>
                  <a:pt x="163939" y="77082"/>
                </a:lnTo>
                <a:cubicBezTo>
                  <a:pt x="166737" y="78366"/>
                  <a:pt x="168514" y="81163"/>
                  <a:pt x="168514" y="84257"/>
                </a:cubicBezTo>
                <a:cubicBezTo>
                  <a:pt x="168514" y="87351"/>
                  <a:pt x="166737" y="90148"/>
                  <a:pt x="163939" y="91432"/>
                </a:cubicBezTo>
                <a:lnTo>
                  <a:pt x="91992" y="124674"/>
                </a:lnTo>
                <a:cubicBezTo>
                  <a:pt x="87088" y="126945"/>
                  <a:pt x="81427" y="126945"/>
                  <a:pt x="76523" y="124674"/>
                </a:cubicBezTo>
                <a:lnTo>
                  <a:pt x="4575" y="91432"/>
                </a:lnTo>
                <a:cubicBezTo>
                  <a:pt x="1777" y="90116"/>
                  <a:pt x="0" y="87318"/>
                  <a:pt x="0" y="84257"/>
                </a:cubicBezTo>
                <a:cubicBezTo>
                  <a:pt x="0" y="81196"/>
                  <a:pt x="1777" y="78366"/>
                  <a:pt x="4575" y="77082"/>
                </a:cubicBezTo>
                <a:lnTo>
                  <a:pt x="15798" y="71882"/>
                </a:lnTo>
                <a:close/>
                <a:moveTo>
                  <a:pt x="4575" y="119211"/>
                </a:moveTo>
                <a:lnTo>
                  <a:pt x="15798" y="114010"/>
                </a:lnTo>
                <a:lnTo>
                  <a:pt x="69874" y="138991"/>
                </a:lnTo>
                <a:cubicBezTo>
                  <a:pt x="78991" y="143204"/>
                  <a:pt x="89490" y="143204"/>
                  <a:pt x="98607" y="138991"/>
                </a:cubicBezTo>
                <a:lnTo>
                  <a:pt x="152683" y="114010"/>
                </a:lnTo>
                <a:lnTo>
                  <a:pt x="163906" y="119211"/>
                </a:lnTo>
                <a:cubicBezTo>
                  <a:pt x="166704" y="120494"/>
                  <a:pt x="168481" y="123292"/>
                  <a:pt x="168481" y="126386"/>
                </a:cubicBezTo>
                <a:cubicBezTo>
                  <a:pt x="168481" y="129479"/>
                  <a:pt x="166704" y="132277"/>
                  <a:pt x="163906" y="133561"/>
                </a:cubicBezTo>
                <a:lnTo>
                  <a:pt x="91959" y="166803"/>
                </a:lnTo>
                <a:cubicBezTo>
                  <a:pt x="87055" y="169074"/>
                  <a:pt x="81394" y="169074"/>
                  <a:pt x="76490" y="166803"/>
                </a:cubicBezTo>
                <a:lnTo>
                  <a:pt x="4575" y="133561"/>
                </a:lnTo>
                <a:cubicBezTo>
                  <a:pt x="1777" y="132244"/>
                  <a:pt x="0" y="129447"/>
                  <a:pt x="0" y="126386"/>
                </a:cubicBezTo>
                <a:cubicBezTo>
                  <a:pt x="0" y="123325"/>
                  <a:pt x="1777" y="120494"/>
                  <a:pt x="4575" y="11921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0" name="Text 17"/>
          <p:cNvSpPr/>
          <p:nvPr/>
        </p:nvSpPr>
        <p:spPr>
          <a:xfrm>
            <a:off x="6618855" y="4086469"/>
            <a:ext cx="682482" cy="23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架构层级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23955" y="4423497"/>
            <a:ext cx="5392453" cy="606651"/>
          </a:xfrm>
          <a:custGeom>
            <a:avLst/>
            <a:gdLst/>
            <a:ahLst/>
            <a:cxnLst/>
            <a:rect l="l" t="t" r="r" b="b"/>
            <a:pathLst>
              <a:path w="5392453" h="606651">
                <a:moveTo>
                  <a:pt x="33703" y="0"/>
                </a:moveTo>
                <a:lnTo>
                  <a:pt x="5325048" y="0"/>
                </a:lnTo>
                <a:cubicBezTo>
                  <a:pt x="5362275" y="0"/>
                  <a:pt x="5392453" y="30178"/>
                  <a:pt x="5392453" y="67405"/>
                </a:cubicBezTo>
                <a:lnTo>
                  <a:pt x="5392453" y="539246"/>
                </a:lnTo>
                <a:cubicBezTo>
                  <a:pt x="5392453" y="576473"/>
                  <a:pt x="5362275" y="606651"/>
                  <a:pt x="5325048" y="606651"/>
                </a:cubicBezTo>
                <a:lnTo>
                  <a:pt x="33703" y="606651"/>
                </a:lnTo>
                <a:cubicBezTo>
                  <a:pt x="15089" y="606651"/>
                  <a:pt x="0" y="591562"/>
                  <a:pt x="0" y="5729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6323955" y="4423497"/>
            <a:ext cx="33703" cy="606651"/>
          </a:xfrm>
          <a:custGeom>
            <a:avLst/>
            <a:gdLst/>
            <a:ahLst/>
            <a:cxnLst/>
            <a:rect l="l" t="t" r="r" b="b"/>
            <a:pathLst>
              <a:path w="33703" h="606651">
                <a:moveTo>
                  <a:pt x="33703" y="0"/>
                </a:moveTo>
                <a:lnTo>
                  <a:pt x="33703" y="0"/>
                </a:lnTo>
                <a:lnTo>
                  <a:pt x="33703" y="606651"/>
                </a:lnTo>
                <a:lnTo>
                  <a:pt x="33703" y="606651"/>
                </a:lnTo>
                <a:cubicBezTo>
                  <a:pt x="15089" y="606651"/>
                  <a:pt x="0" y="591562"/>
                  <a:pt x="0" y="5729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3" name="Text 20"/>
          <p:cNvSpPr/>
          <p:nvPr/>
        </p:nvSpPr>
        <p:spPr>
          <a:xfrm>
            <a:off x="6441915" y="4524605"/>
            <a:ext cx="471840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339950" y="4541457"/>
            <a:ext cx="328603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41915" y="4760525"/>
            <a:ext cx="5232365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业务逻辑封装、工作流编排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23955" y="5097554"/>
            <a:ext cx="5392453" cy="606651"/>
          </a:xfrm>
          <a:custGeom>
            <a:avLst/>
            <a:gdLst/>
            <a:ahLst/>
            <a:cxnLst/>
            <a:rect l="l" t="t" r="r" b="b"/>
            <a:pathLst>
              <a:path w="5392453" h="606651">
                <a:moveTo>
                  <a:pt x="33703" y="0"/>
                </a:moveTo>
                <a:lnTo>
                  <a:pt x="5325048" y="0"/>
                </a:lnTo>
                <a:cubicBezTo>
                  <a:pt x="5362275" y="0"/>
                  <a:pt x="5392453" y="30178"/>
                  <a:pt x="5392453" y="67405"/>
                </a:cubicBezTo>
                <a:lnTo>
                  <a:pt x="5392453" y="539246"/>
                </a:lnTo>
                <a:cubicBezTo>
                  <a:pt x="5392453" y="576473"/>
                  <a:pt x="5362275" y="606651"/>
                  <a:pt x="5325048" y="606651"/>
                </a:cubicBezTo>
                <a:lnTo>
                  <a:pt x="33703" y="606651"/>
                </a:lnTo>
                <a:cubicBezTo>
                  <a:pt x="15089" y="606651"/>
                  <a:pt x="0" y="591562"/>
                  <a:pt x="0" y="5729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6323955" y="5097554"/>
            <a:ext cx="33703" cy="606651"/>
          </a:xfrm>
          <a:custGeom>
            <a:avLst/>
            <a:gdLst/>
            <a:ahLst/>
            <a:cxnLst/>
            <a:rect l="l" t="t" r="r" b="b"/>
            <a:pathLst>
              <a:path w="33703" h="606651">
                <a:moveTo>
                  <a:pt x="33703" y="0"/>
                </a:moveTo>
                <a:lnTo>
                  <a:pt x="33703" y="0"/>
                </a:lnTo>
                <a:lnTo>
                  <a:pt x="33703" y="606651"/>
                </a:lnTo>
                <a:lnTo>
                  <a:pt x="33703" y="606651"/>
                </a:lnTo>
                <a:cubicBezTo>
                  <a:pt x="15089" y="606651"/>
                  <a:pt x="0" y="591562"/>
                  <a:pt x="0" y="5729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8" name="Text 25"/>
          <p:cNvSpPr/>
          <p:nvPr/>
        </p:nvSpPr>
        <p:spPr>
          <a:xfrm>
            <a:off x="6441915" y="5198662"/>
            <a:ext cx="471840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协议层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353510" y="5215513"/>
            <a:ext cx="320177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41915" y="5434582"/>
            <a:ext cx="5232365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标准化连接、上下文传递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23955" y="5771610"/>
            <a:ext cx="5392453" cy="606651"/>
          </a:xfrm>
          <a:custGeom>
            <a:avLst/>
            <a:gdLst/>
            <a:ahLst/>
            <a:cxnLst/>
            <a:rect l="l" t="t" r="r" b="b"/>
            <a:pathLst>
              <a:path w="5392453" h="606651">
                <a:moveTo>
                  <a:pt x="33703" y="0"/>
                </a:moveTo>
                <a:lnTo>
                  <a:pt x="5325048" y="0"/>
                </a:lnTo>
                <a:cubicBezTo>
                  <a:pt x="5362275" y="0"/>
                  <a:pt x="5392453" y="30178"/>
                  <a:pt x="5392453" y="67405"/>
                </a:cubicBezTo>
                <a:lnTo>
                  <a:pt x="5392453" y="539246"/>
                </a:lnTo>
                <a:cubicBezTo>
                  <a:pt x="5392453" y="576473"/>
                  <a:pt x="5362275" y="606651"/>
                  <a:pt x="5325048" y="606651"/>
                </a:cubicBezTo>
                <a:lnTo>
                  <a:pt x="33703" y="606651"/>
                </a:lnTo>
                <a:cubicBezTo>
                  <a:pt x="15089" y="606651"/>
                  <a:pt x="0" y="591562"/>
                  <a:pt x="0" y="5729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6323955" y="5771610"/>
            <a:ext cx="33703" cy="606651"/>
          </a:xfrm>
          <a:custGeom>
            <a:avLst/>
            <a:gdLst/>
            <a:ahLst/>
            <a:cxnLst/>
            <a:rect l="l" t="t" r="r" b="b"/>
            <a:pathLst>
              <a:path w="33703" h="606651">
                <a:moveTo>
                  <a:pt x="33703" y="0"/>
                </a:moveTo>
                <a:lnTo>
                  <a:pt x="33703" y="0"/>
                </a:lnTo>
                <a:lnTo>
                  <a:pt x="33703" y="606651"/>
                </a:lnTo>
                <a:lnTo>
                  <a:pt x="33703" y="606651"/>
                </a:lnTo>
                <a:cubicBezTo>
                  <a:pt x="15089" y="606651"/>
                  <a:pt x="0" y="591562"/>
                  <a:pt x="0" y="5729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3" name="Text 30"/>
          <p:cNvSpPr/>
          <p:nvPr/>
        </p:nvSpPr>
        <p:spPr>
          <a:xfrm>
            <a:off x="6441915" y="5872719"/>
            <a:ext cx="471840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执行层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735998" y="5889570"/>
            <a:ext cx="935254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 Calling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41915" y="6108639"/>
            <a:ext cx="5232365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原子操作、工具执行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f1815ceb92bf683938e80e04c61e7a0bc930a36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638300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>
                <a:moveTo>
                  <a:pt x="76201" y="0"/>
                </a:moveTo>
                <a:lnTo>
                  <a:pt x="1352549" y="0"/>
                </a:lnTo>
                <a:cubicBezTo>
                  <a:pt x="1394634" y="0"/>
                  <a:pt x="1428750" y="34116"/>
                  <a:pt x="1428750" y="76201"/>
                </a:cubicBezTo>
                <a:lnTo>
                  <a:pt x="1428750" y="352424"/>
                </a:lnTo>
                <a:cubicBezTo>
                  <a:pt x="1428750" y="394509"/>
                  <a:pt x="1394634" y="428625"/>
                  <a:pt x="13525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738313"/>
            <a:ext cx="119747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00288"/>
            <a:ext cx="3705225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核心技术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架构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43388"/>
            <a:ext cx="347662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渐进式披露与双平台技术实现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9" name="Text 6"/>
          <p:cNvSpPr/>
          <p:nvPr/>
        </p:nvSpPr>
        <p:spPr>
          <a:xfrm>
            <a:off x="1524000" y="4995863"/>
            <a:ext cx="2295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解决Context窗口约束的关键创新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2133600" cy="314325"/>
          </a:xfrm>
          <a:custGeom>
            <a:avLst/>
            <a:gdLst/>
            <a:ahLst/>
            <a:cxnLst/>
            <a:rect l="l" t="t" r="r" b="b"/>
            <a:pathLst>
              <a:path w="2133600" h="314325">
                <a:moveTo>
                  <a:pt x="38099" y="0"/>
                </a:moveTo>
                <a:lnTo>
                  <a:pt x="2095501" y="0"/>
                </a:lnTo>
                <a:cubicBezTo>
                  <a:pt x="2116542" y="0"/>
                  <a:pt x="2133600" y="17058"/>
                  <a:pt x="2133600" y="38099"/>
                </a:cubicBezTo>
                <a:lnTo>
                  <a:pt x="2133600" y="276226"/>
                </a:lnTo>
                <a:cubicBezTo>
                  <a:pt x="2133600" y="297267"/>
                  <a:pt x="2116542" y="314325"/>
                  <a:pt x="20955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1963"/>
            <a:ext cx="1960959" cy="176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PROGRESSIVE DISCLOSURE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渐进式披露机制：三级信息分层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3825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Skills架构最核心的设计，实现Context窗口的高效利用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662113"/>
            <a:ext cx="11420475" cy="2409825"/>
          </a:xfrm>
          <a:custGeom>
            <a:avLst/>
            <a:gdLst/>
            <a:ahLst/>
            <a:cxnLst/>
            <a:rect l="l" t="t" r="r" b="b"/>
            <a:pathLst>
              <a:path w="11420475" h="2409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2295527"/>
                </a:lnTo>
                <a:cubicBezTo>
                  <a:pt x="11420475" y="2358610"/>
                  <a:pt x="11369260" y="2409825"/>
                  <a:pt x="11306177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2925" y="1819275"/>
          <a:ext cx="11106150" cy="2095500"/>
        </p:xfrm>
        <a:graphic>
          <a:graphicData uri="http://schemas.openxmlformats.org/drawingml/2006/table">
            <a:tbl>
              <a:tblPr/>
              <a:tblGrid>
                <a:gridCol w="1762125"/>
                <a:gridCol w="4695825"/>
                <a:gridCol w="2286000"/>
                <a:gridCol w="2362200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加载内容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触发条件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Token开销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每个Skill的名称 + 一句话描述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系统启动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~50-100 tokens/skill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完整指令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SKILL.md全文（步骤、示例、边界条件）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任务语义匹配成功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~2000 tokens/skill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外部资源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脚本、参考文档、模板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执行过程中按需引用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按需加载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85763" y="4195763"/>
            <a:ext cx="3695700" cy="1847850"/>
          </a:xfrm>
          <a:custGeom>
            <a:avLst/>
            <a:gdLst/>
            <a:ahLst/>
            <a:cxnLst/>
            <a:rect l="l" t="t" r="r" b="b"/>
            <a:pathLst>
              <a:path w="3695700" h="184785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733542"/>
                </a:lnTo>
                <a:cubicBezTo>
                  <a:pt x="3695700" y="1796673"/>
                  <a:pt x="3644523" y="1847850"/>
                  <a:pt x="3581392" y="1847850"/>
                </a:cubicBezTo>
                <a:lnTo>
                  <a:pt x="114308" y="1847850"/>
                </a:lnTo>
                <a:cubicBezTo>
                  <a:pt x="51177" y="1847850"/>
                  <a:pt x="0" y="1796673"/>
                  <a:pt x="0" y="17335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15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7" name="Shape 6"/>
          <p:cNvSpPr/>
          <p:nvPr/>
        </p:nvSpPr>
        <p:spPr>
          <a:xfrm>
            <a:off x="542925" y="4352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695920" y="4410075"/>
            <a:ext cx="17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0125" y="441007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925" y="4848225"/>
            <a:ext cx="3457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系统启动时，Agent仅加载所有可用Skill的</a:t>
            </a: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元数据层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（名称+描述），建立Skill索引。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2925" y="54578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657225" y="5572125"/>
            <a:ext cx="3219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类比：图书馆的</a:t>
            </a: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目录卡片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46513" y="4195763"/>
            <a:ext cx="3695700" cy="1847850"/>
          </a:xfrm>
          <a:custGeom>
            <a:avLst/>
            <a:gdLst/>
            <a:ahLst/>
            <a:cxnLst/>
            <a:rect l="l" t="t" r="r" b="b"/>
            <a:pathLst>
              <a:path w="3695700" h="184785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733542"/>
                </a:lnTo>
                <a:cubicBezTo>
                  <a:pt x="3695700" y="1796673"/>
                  <a:pt x="3644523" y="1847850"/>
                  <a:pt x="3581392" y="1847850"/>
                </a:cubicBezTo>
                <a:lnTo>
                  <a:pt x="114308" y="1847850"/>
                </a:lnTo>
                <a:cubicBezTo>
                  <a:pt x="51177" y="1847850"/>
                  <a:pt x="0" y="1796673"/>
                  <a:pt x="0" y="17335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03675" y="4352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4540597" y="4410075"/>
            <a:ext cx="200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60875" y="4410075"/>
            <a:ext cx="866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03675" y="4848225"/>
            <a:ext cx="3457575" cy="504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当任务描述与某Skill的元数据</a:t>
            </a: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语义匹配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时，系统加载该Skill的完整</a:t>
            </a:r>
            <a:r>
              <a:rPr lang="en-US" sz="12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SKILL.md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03675" y="5462588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4517975" y="5576888"/>
            <a:ext cx="3219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类比：根据目录找到</a:t>
            </a: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具体书籍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107338" y="4195763"/>
            <a:ext cx="3695700" cy="1847850"/>
          </a:xfrm>
          <a:custGeom>
            <a:avLst/>
            <a:gdLst/>
            <a:ahLst/>
            <a:cxnLst/>
            <a:rect l="l" t="t" r="r" b="b"/>
            <a:pathLst>
              <a:path w="3695700" h="184785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733542"/>
                </a:lnTo>
                <a:cubicBezTo>
                  <a:pt x="3695700" y="1796673"/>
                  <a:pt x="3644523" y="1847850"/>
                  <a:pt x="3581392" y="1847850"/>
                </a:cubicBezTo>
                <a:lnTo>
                  <a:pt x="114308" y="1847850"/>
                </a:lnTo>
                <a:cubicBezTo>
                  <a:pt x="51177" y="1847850"/>
                  <a:pt x="0" y="1796673"/>
                  <a:pt x="0" y="17335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64500" y="4352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8398966" y="4410075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721700" y="441007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64500" y="4848225"/>
            <a:ext cx="3457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Agent执行Skill指令时，</a:t>
            </a: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按需引用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配套资源（脚本、文档、模板）。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64500" y="54578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8378800" y="5572125"/>
            <a:ext cx="3219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类比：阅读时查阅</a:t>
            </a: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附录资料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158" y="360158"/>
            <a:ext cx="1413952" cy="293462"/>
          </a:xfrm>
          <a:custGeom>
            <a:avLst/>
            <a:gdLst/>
            <a:ahLst/>
            <a:cxnLst/>
            <a:rect l="l" t="t" r="r" b="b"/>
            <a:pathLst>
              <a:path w="1413952" h="293462">
                <a:moveTo>
                  <a:pt x="35570" y="0"/>
                </a:moveTo>
                <a:lnTo>
                  <a:pt x="1378381" y="0"/>
                </a:lnTo>
                <a:cubicBezTo>
                  <a:pt x="1398013" y="0"/>
                  <a:pt x="1413952" y="15939"/>
                  <a:pt x="1413952" y="35570"/>
                </a:cubicBezTo>
                <a:lnTo>
                  <a:pt x="1413952" y="257891"/>
                </a:lnTo>
                <a:cubicBezTo>
                  <a:pt x="1413952" y="277536"/>
                  <a:pt x="1398026" y="293462"/>
                  <a:pt x="1378381" y="293462"/>
                </a:cubicBezTo>
                <a:lnTo>
                  <a:pt x="35570" y="293462"/>
                </a:lnTo>
                <a:cubicBezTo>
                  <a:pt x="15939" y="293462"/>
                  <a:pt x="0" y="277523"/>
                  <a:pt x="0" y="257891"/>
                </a:cubicBezTo>
                <a:lnTo>
                  <a:pt x="0" y="35570"/>
                </a:lnTo>
                <a:cubicBezTo>
                  <a:pt x="0" y="15939"/>
                  <a:pt x="15939" y="0"/>
                  <a:pt x="3557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1317" y="431300"/>
            <a:ext cx="1255827" cy="164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kern="0" spc="49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EFFICIENCY GAINS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5711" y="729208"/>
            <a:ext cx="11640648" cy="355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渐进式披露的效能收益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5711" y="1156061"/>
            <a:ext cx="11560613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Context窗口优化的量化分析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0158" y="1480648"/>
            <a:ext cx="5655807" cy="2836796"/>
          </a:xfrm>
          <a:custGeom>
            <a:avLst/>
            <a:gdLst/>
            <a:ahLst/>
            <a:cxnLst/>
            <a:rect l="l" t="t" r="r" b="b"/>
            <a:pathLst>
              <a:path w="5655807" h="2836796">
                <a:moveTo>
                  <a:pt x="106720" y="0"/>
                </a:moveTo>
                <a:lnTo>
                  <a:pt x="5549087" y="0"/>
                </a:lnTo>
                <a:cubicBezTo>
                  <a:pt x="5608027" y="0"/>
                  <a:pt x="5655807" y="47780"/>
                  <a:pt x="5655807" y="106720"/>
                </a:cubicBezTo>
                <a:lnTo>
                  <a:pt x="5655807" y="2730076"/>
                </a:lnTo>
                <a:cubicBezTo>
                  <a:pt x="5655807" y="2789016"/>
                  <a:pt x="5608027" y="2836797"/>
                  <a:pt x="5549087" y="2836796"/>
                </a:cubicBezTo>
                <a:lnTo>
                  <a:pt x="106720" y="2836796"/>
                </a:lnTo>
                <a:cubicBezTo>
                  <a:pt x="47780" y="2836796"/>
                  <a:pt x="0" y="2789016"/>
                  <a:pt x="0" y="2730076"/>
                </a:cubicBezTo>
                <a:lnTo>
                  <a:pt x="0" y="106720"/>
                </a:lnTo>
                <a:cubicBezTo>
                  <a:pt x="0" y="47820"/>
                  <a:pt x="47820" y="0"/>
                  <a:pt x="106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9120" y="1662950"/>
            <a:ext cx="177856" cy="177856"/>
          </a:xfrm>
          <a:custGeom>
            <a:avLst/>
            <a:gdLst/>
            <a:ahLst/>
            <a:cxnLst/>
            <a:rect l="l" t="t" r="r" b="b"/>
            <a:pathLst>
              <a:path w="177856" h="177856">
                <a:moveTo>
                  <a:pt x="22232" y="22232"/>
                </a:moveTo>
                <a:cubicBezTo>
                  <a:pt x="22232" y="16083"/>
                  <a:pt x="17264" y="11116"/>
                  <a:pt x="11116" y="11116"/>
                </a:cubicBezTo>
                <a:cubicBezTo>
                  <a:pt x="4967" y="11116"/>
                  <a:pt x="0" y="16083"/>
                  <a:pt x="0" y="22232"/>
                </a:cubicBezTo>
                <a:lnTo>
                  <a:pt x="0" y="138950"/>
                </a:lnTo>
                <a:cubicBezTo>
                  <a:pt x="0" y="154304"/>
                  <a:pt x="12436" y="166740"/>
                  <a:pt x="27790" y="166740"/>
                </a:cubicBezTo>
                <a:lnTo>
                  <a:pt x="166740" y="166740"/>
                </a:lnTo>
                <a:cubicBezTo>
                  <a:pt x="172888" y="166740"/>
                  <a:pt x="177856" y="161772"/>
                  <a:pt x="177856" y="155624"/>
                </a:cubicBezTo>
                <a:cubicBezTo>
                  <a:pt x="177856" y="149475"/>
                  <a:pt x="172888" y="144508"/>
                  <a:pt x="166740" y="144508"/>
                </a:cubicBezTo>
                <a:lnTo>
                  <a:pt x="27790" y="144508"/>
                </a:lnTo>
                <a:cubicBezTo>
                  <a:pt x="24733" y="144508"/>
                  <a:pt x="22232" y="142007"/>
                  <a:pt x="22232" y="138950"/>
                </a:cubicBezTo>
                <a:lnTo>
                  <a:pt x="22232" y="22232"/>
                </a:lnTo>
                <a:close/>
                <a:moveTo>
                  <a:pt x="163474" y="52315"/>
                </a:moveTo>
                <a:cubicBezTo>
                  <a:pt x="167816" y="47972"/>
                  <a:pt x="167816" y="40921"/>
                  <a:pt x="163474" y="36579"/>
                </a:cubicBezTo>
                <a:cubicBezTo>
                  <a:pt x="159132" y="32236"/>
                  <a:pt x="152080" y="32236"/>
                  <a:pt x="147738" y="36579"/>
                </a:cubicBezTo>
                <a:lnTo>
                  <a:pt x="111160" y="73192"/>
                </a:lnTo>
                <a:lnTo>
                  <a:pt x="91220" y="53287"/>
                </a:lnTo>
                <a:cubicBezTo>
                  <a:pt x="86878" y="48945"/>
                  <a:pt x="79827" y="48945"/>
                  <a:pt x="75484" y="53287"/>
                </a:cubicBezTo>
                <a:lnTo>
                  <a:pt x="42136" y="86635"/>
                </a:lnTo>
                <a:cubicBezTo>
                  <a:pt x="37794" y="90977"/>
                  <a:pt x="37794" y="98029"/>
                  <a:pt x="42136" y="102371"/>
                </a:cubicBezTo>
                <a:cubicBezTo>
                  <a:pt x="46479" y="106713"/>
                  <a:pt x="53530" y="106713"/>
                  <a:pt x="57873" y="102371"/>
                </a:cubicBezTo>
                <a:lnTo>
                  <a:pt x="83370" y="76874"/>
                </a:lnTo>
                <a:lnTo>
                  <a:pt x="103309" y="96813"/>
                </a:lnTo>
                <a:cubicBezTo>
                  <a:pt x="107651" y="101155"/>
                  <a:pt x="114703" y="101155"/>
                  <a:pt x="119045" y="96813"/>
                </a:cubicBezTo>
                <a:lnTo>
                  <a:pt x="163509" y="52349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6"/>
          <p:cNvSpPr/>
          <p:nvPr/>
        </p:nvSpPr>
        <p:spPr>
          <a:xfrm>
            <a:off x="729208" y="1627379"/>
            <a:ext cx="5228954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Token消耗对比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6888" y="2018661"/>
            <a:ext cx="924849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传统全量加载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50743" y="1983090"/>
            <a:ext cx="631387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100K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888" y="2338801"/>
            <a:ext cx="5362346" cy="142284"/>
          </a:xfrm>
          <a:custGeom>
            <a:avLst/>
            <a:gdLst/>
            <a:ahLst/>
            <a:cxnLst/>
            <a:rect l="l" t="t" r="r" b="b"/>
            <a:pathLst>
              <a:path w="5362346" h="142284">
                <a:moveTo>
                  <a:pt x="71142" y="0"/>
                </a:moveTo>
                <a:lnTo>
                  <a:pt x="5291204" y="0"/>
                </a:lnTo>
                <a:cubicBezTo>
                  <a:pt x="5330494" y="0"/>
                  <a:pt x="5362346" y="31851"/>
                  <a:pt x="5362346" y="71142"/>
                </a:cubicBezTo>
                <a:lnTo>
                  <a:pt x="5362346" y="71142"/>
                </a:lnTo>
                <a:cubicBezTo>
                  <a:pt x="5362346" y="110433"/>
                  <a:pt x="5330494" y="142284"/>
                  <a:pt x="5291204" y="142284"/>
                </a:cubicBezTo>
                <a:lnTo>
                  <a:pt x="71142" y="142284"/>
                </a:lnTo>
                <a:cubicBezTo>
                  <a:pt x="31851" y="142284"/>
                  <a:pt x="0" y="110433"/>
                  <a:pt x="0" y="71142"/>
                </a:cubicBezTo>
                <a:lnTo>
                  <a:pt x="0" y="71142"/>
                </a:lnTo>
                <a:cubicBezTo>
                  <a:pt x="0" y="31851"/>
                  <a:pt x="31851" y="0"/>
                  <a:pt x="7114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06888" y="2338801"/>
            <a:ext cx="5362346" cy="142284"/>
          </a:xfrm>
          <a:custGeom>
            <a:avLst/>
            <a:gdLst/>
            <a:ahLst/>
            <a:cxnLst/>
            <a:rect l="l" t="t" r="r" b="b"/>
            <a:pathLst>
              <a:path w="5362346" h="142284">
                <a:moveTo>
                  <a:pt x="0" y="0"/>
                </a:moveTo>
                <a:lnTo>
                  <a:pt x="5362346" y="0"/>
                </a:lnTo>
                <a:lnTo>
                  <a:pt x="5362346" y="142284"/>
                </a:lnTo>
                <a:lnTo>
                  <a:pt x="0" y="142284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13" name="Text 11"/>
          <p:cNvSpPr/>
          <p:nvPr/>
        </p:nvSpPr>
        <p:spPr>
          <a:xfrm>
            <a:off x="506888" y="2516656"/>
            <a:ext cx="5424595" cy="17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50个Skills × 2000 tokens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6888" y="2836796"/>
            <a:ext cx="782565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渐进式披露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76632" y="2801225"/>
            <a:ext cx="497996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888" y="3156937"/>
            <a:ext cx="5362346" cy="142284"/>
          </a:xfrm>
          <a:custGeom>
            <a:avLst/>
            <a:gdLst/>
            <a:ahLst/>
            <a:cxnLst/>
            <a:rect l="l" t="t" r="r" b="b"/>
            <a:pathLst>
              <a:path w="5362346" h="142284">
                <a:moveTo>
                  <a:pt x="71142" y="0"/>
                </a:moveTo>
                <a:lnTo>
                  <a:pt x="5291204" y="0"/>
                </a:lnTo>
                <a:cubicBezTo>
                  <a:pt x="5330494" y="0"/>
                  <a:pt x="5362346" y="31851"/>
                  <a:pt x="5362346" y="71142"/>
                </a:cubicBezTo>
                <a:lnTo>
                  <a:pt x="5362346" y="71142"/>
                </a:lnTo>
                <a:cubicBezTo>
                  <a:pt x="5362346" y="110433"/>
                  <a:pt x="5330494" y="142284"/>
                  <a:pt x="5291204" y="142284"/>
                </a:cubicBezTo>
                <a:lnTo>
                  <a:pt x="71142" y="142284"/>
                </a:lnTo>
                <a:cubicBezTo>
                  <a:pt x="31851" y="142284"/>
                  <a:pt x="0" y="110433"/>
                  <a:pt x="0" y="71142"/>
                </a:cubicBezTo>
                <a:lnTo>
                  <a:pt x="0" y="71142"/>
                </a:lnTo>
                <a:cubicBezTo>
                  <a:pt x="0" y="31851"/>
                  <a:pt x="31851" y="0"/>
                  <a:pt x="7114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506888" y="3156937"/>
            <a:ext cx="800350" cy="142284"/>
          </a:xfrm>
          <a:custGeom>
            <a:avLst/>
            <a:gdLst/>
            <a:ahLst/>
            <a:cxnLst/>
            <a:rect l="l" t="t" r="r" b="b"/>
            <a:pathLst>
              <a:path w="800350" h="142284">
                <a:moveTo>
                  <a:pt x="0" y="0"/>
                </a:moveTo>
                <a:lnTo>
                  <a:pt x="800350" y="0"/>
                </a:lnTo>
                <a:lnTo>
                  <a:pt x="800350" y="142284"/>
                </a:lnTo>
                <a:lnTo>
                  <a:pt x="0" y="142284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8" name="Text 16"/>
          <p:cNvSpPr/>
          <p:nvPr/>
        </p:nvSpPr>
        <p:spPr>
          <a:xfrm>
            <a:off x="506888" y="3334792"/>
            <a:ext cx="5424595" cy="17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元数据层5K + 激活2-3个Skills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1335" y="3623807"/>
            <a:ext cx="5353453" cy="542460"/>
          </a:xfrm>
          <a:custGeom>
            <a:avLst/>
            <a:gdLst/>
            <a:ahLst/>
            <a:cxnLst/>
            <a:rect l="l" t="t" r="r" b="b"/>
            <a:pathLst>
              <a:path w="5353453" h="542460">
                <a:moveTo>
                  <a:pt x="71144" y="0"/>
                </a:moveTo>
                <a:lnTo>
                  <a:pt x="5282309" y="0"/>
                </a:lnTo>
                <a:cubicBezTo>
                  <a:pt x="5321601" y="0"/>
                  <a:pt x="5353453" y="31852"/>
                  <a:pt x="5353453" y="71144"/>
                </a:cubicBezTo>
                <a:lnTo>
                  <a:pt x="5353453" y="471316"/>
                </a:lnTo>
                <a:cubicBezTo>
                  <a:pt x="5353453" y="510607"/>
                  <a:pt x="5321601" y="542460"/>
                  <a:pt x="5282309" y="542460"/>
                </a:cubicBezTo>
                <a:lnTo>
                  <a:pt x="71144" y="542460"/>
                </a:lnTo>
                <a:cubicBezTo>
                  <a:pt x="31852" y="542460"/>
                  <a:pt x="0" y="510607"/>
                  <a:pt x="0" y="471316"/>
                </a:cubicBezTo>
                <a:lnTo>
                  <a:pt x="0" y="71144"/>
                </a:lnTo>
                <a:cubicBezTo>
                  <a:pt x="0" y="31878"/>
                  <a:pt x="31878" y="0"/>
                  <a:pt x="71144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495" y="3788324"/>
            <a:ext cx="640280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节省比例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65271" y="3734967"/>
            <a:ext cx="827028" cy="320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85%+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0158" y="4433050"/>
            <a:ext cx="5655807" cy="2063125"/>
          </a:xfrm>
          <a:custGeom>
            <a:avLst/>
            <a:gdLst/>
            <a:ahLst/>
            <a:cxnLst/>
            <a:rect l="l" t="t" r="r" b="b"/>
            <a:pathLst>
              <a:path w="5655807" h="2063125">
                <a:moveTo>
                  <a:pt x="106705" y="0"/>
                </a:moveTo>
                <a:lnTo>
                  <a:pt x="5549103" y="0"/>
                </a:lnTo>
                <a:cubicBezTo>
                  <a:pt x="5608034" y="0"/>
                  <a:pt x="5655807" y="47773"/>
                  <a:pt x="5655807" y="106705"/>
                </a:cubicBezTo>
                <a:lnTo>
                  <a:pt x="5655807" y="1956420"/>
                </a:lnTo>
                <a:cubicBezTo>
                  <a:pt x="5655807" y="2015351"/>
                  <a:pt x="5608034" y="2063125"/>
                  <a:pt x="5549103" y="2063125"/>
                </a:cubicBezTo>
                <a:lnTo>
                  <a:pt x="106705" y="2063125"/>
                </a:lnTo>
                <a:cubicBezTo>
                  <a:pt x="47773" y="2063125"/>
                  <a:pt x="0" y="2015351"/>
                  <a:pt x="0" y="1956420"/>
                </a:cubicBezTo>
                <a:lnTo>
                  <a:pt x="0" y="106705"/>
                </a:lnTo>
                <a:cubicBezTo>
                  <a:pt x="0" y="47773"/>
                  <a:pt x="47773" y="0"/>
                  <a:pt x="1067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120" y="4624245"/>
            <a:ext cx="160070" cy="160070"/>
          </a:xfrm>
          <a:custGeom>
            <a:avLst/>
            <a:gdLst/>
            <a:ahLst/>
            <a:cxnLst/>
            <a:rect l="l" t="t" r="r" b="b"/>
            <a:pathLst>
              <a:path w="160070" h="160070">
                <a:moveTo>
                  <a:pt x="37516" y="17508"/>
                </a:moveTo>
                <a:cubicBezTo>
                  <a:pt x="37516" y="7847"/>
                  <a:pt x="45364" y="0"/>
                  <a:pt x="55024" y="0"/>
                </a:cubicBezTo>
                <a:lnTo>
                  <a:pt x="62527" y="0"/>
                </a:lnTo>
                <a:cubicBezTo>
                  <a:pt x="68061" y="0"/>
                  <a:pt x="72532" y="4471"/>
                  <a:pt x="72532" y="10004"/>
                </a:cubicBezTo>
                <a:lnTo>
                  <a:pt x="72532" y="150066"/>
                </a:lnTo>
                <a:cubicBezTo>
                  <a:pt x="72532" y="155599"/>
                  <a:pt x="68061" y="160070"/>
                  <a:pt x="62527" y="160070"/>
                </a:cubicBezTo>
                <a:lnTo>
                  <a:pt x="52523" y="160070"/>
                </a:lnTo>
                <a:cubicBezTo>
                  <a:pt x="43206" y="160070"/>
                  <a:pt x="35359" y="153692"/>
                  <a:pt x="33139" y="145063"/>
                </a:cubicBezTo>
                <a:cubicBezTo>
                  <a:pt x="32921" y="145063"/>
                  <a:pt x="32733" y="145063"/>
                  <a:pt x="32514" y="145063"/>
                </a:cubicBezTo>
                <a:cubicBezTo>
                  <a:pt x="18696" y="145063"/>
                  <a:pt x="7503" y="133871"/>
                  <a:pt x="7503" y="120053"/>
                </a:cubicBezTo>
                <a:cubicBezTo>
                  <a:pt x="7503" y="114425"/>
                  <a:pt x="9379" y="109235"/>
                  <a:pt x="12505" y="105046"/>
                </a:cubicBezTo>
                <a:cubicBezTo>
                  <a:pt x="6440" y="100481"/>
                  <a:pt x="2501" y="93228"/>
                  <a:pt x="2501" y="85037"/>
                </a:cubicBezTo>
                <a:cubicBezTo>
                  <a:pt x="2501" y="75377"/>
                  <a:pt x="8004" y="66967"/>
                  <a:pt x="16007" y="62809"/>
                </a:cubicBezTo>
                <a:cubicBezTo>
                  <a:pt x="13787" y="59057"/>
                  <a:pt x="12505" y="54680"/>
                  <a:pt x="12505" y="50022"/>
                </a:cubicBezTo>
                <a:cubicBezTo>
                  <a:pt x="12505" y="36203"/>
                  <a:pt x="23698" y="25011"/>
                  <a:pt x="37516" y="25011"/>
                </a:cubicBezTo>
                <a:lnTo>
                  <a:pt x="37516" y="17508"/>
                </a:lnTo>
                <a:close/>
                <a:moveTo>
                  <a:pt x="122554" y="17508"/>
                </a:moveTo>
                <a:lnTo>
                  <a:pt x="122554" y="25011"/>
                </a:lnTo>
                <a:cubicBezTo>
                  <a:pt x="136372" y="25011"/>
                  <a:pt x="147565" y="36203"/>
                  <a:pt x="147565" y="50022"/>
                </a:cubicBezTo>
                <a:cubicBezTo>
                  <a:pt x="147565" y="54711"/>
                  <a:pt x="146283" y="59088"/>
                  <a:pt x="144063" y="62809"/>
                </a:cubicBezTo>
                <a:cubicBezTo>
                  <a:pt x="152098" y="66967"/>
                  <a:pt x="157569" y="75345"/>
                  <a:pt x="157569" y="85037"/>
                </a:cubicBezTo>
                <a:cubicBezTo>
                  <a:pt x="157569" y="93228"/>
                  <a:pt x="153630" y="100481"/>
                  <a:pt x="147565" y="105046"/>
                </a:cubicBezTo>
                <a:cubicBezTo>
                  <a:pt x="150691" y="109235"/>
                  <a:pt x="152567" y="114425"/>
                  <a:pt x="152567" y="120053"/>
                </a:cubicBezTo>
                <a:cubicBezTo>
                  <a:pt x="152567" y="133871"/>
                  <a:pt x="141374" y="145063"/>
                  <a:pt x="127556" y="145063"/>
                </a:cubicBezTo>
                <a:cubicBezTo>
                  <a:pt x="127337" y="145063"/>
                  <a:pt x="127149" y="145063"/>
                  <a:pt x="126931" y="145063"/>
                </a:cubicBezTo>
                <a:cubicBezTo>
                  <a:pt x="124711" y="153692"/>
                  <a:pt x="116864" y="160070"/>
                  <a:pt x="107547" y="160070"/>
                </a:cubicBezTo>
                <a:lnTo>
                  <a:pt x="97543" y="160070"/>
                </a:lnTo>
                <a:cubicBezTo>
                  <a:pt x="92009" y="160070"/>
                  <a:pt x="87538" y="155599"/>
                  <a:pt x="87538" y="150066"/>
                </a:cubicBezTo>
                <a:lnTo>
                  <a:pt x="87538" y="10004"/>
                </a:lnTo>
                <a:cubicBezTo>
                  <a:pt x="87538" y="4471"/>
                  <a:pt x="92009" y="0"/>
                  <a:pt x="97543" y="0"/>
                </a:cubicBezTo>
                <a:lnTo>
                  <a:pt x="105046" y="0"/>
                </a:lnTo>
                <a:cubicBezTo>
                  <a:pt x="114706" y="0"/>
                  <a:pt x="122554" y="7847"/>
                  <a:pt x="122554" y="17508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4" name="Text 22"/>
          <p:cNvSpPr/>
          <p:nvPr/>
        </p:nvSpPr>
        <p:spPr>
          <a:xfrm>
            <a:off x="711422" y="4579781"/>
            <a:ext cx="5237847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深层效益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6888" y="4953278"/>
            <a:ext cx="284569" cy="284569"/>
          </a:xfrm>
          <a:custGeom>
            <a:avLst/>
            <a:gdLst/>
            <a:ahLst/>
            <a:cxnLst/>
            <a:rect l="l" t="t" r="r" b="b"/>
            <a:pathLst>
              <a:path w="284569" h="284569">
                <a:moveTo>
                  <a:pt x="35571" y="0"/>
                </a:moveTo>
                <a:lnTo>
                  <a:pt x="248998" y="0"/>
                </a:lnTo>
                <a:cubicBezTo>
                  <a:pt x="268643" y="0"/>
                  <a:pt x="284569" y="15926"/>
                  <a:pt x="284569" y="35571"/>
                </a:cubicBezTo>
                <a:lnTo>
                  <a:pt x="284569" y="248998"/>
                </a:lnTo>
                <a:cubicBezTo>
                  <a:pt x="284569" y="268643"/>
                  <a:pt x="268643" y="284569"/>
                  <a:pt x="248998" y="284569"/>
                </a:cubicBezTo>
                <a:lnTo>
                  <a:pt x="35571" y="284569"/>
                </a:lnTo>
                <a:cubicBezTo>
                  <a:pt x="15926" y="284569"/>
                  <a:pt x="0" y="268643"/>
                  <a:pt x="0" y="248998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589147" y="5033313"/>
            <a:ext cx="124499" cy="124499"/>
          </a:xfrm>
          <a:custGeom>
            <a:avLst/>
            <a:gdLst/>
            <a:ahLst/>
            <a:cxnLst/>
            <a:rect l="l" t="t" r="r" b="b"/>
            <a:pathLst>
              <a:path w="124499" h="124499">
                <a:moveTo>
                  <a:pt x="15562" y="15562"/>
                </a:moveTo>
                <a:cubicBezTo>
                  <a:pt x="6979" y="15562"/>
                  <a:pt x="0" y="22541"/>
                  <a:pt x="0" y="31125"/>
                </a:cubicBezTo>
                <a:lnTo>
                  <a:pt x="0" y="32924"/>
                </a:lnTo>
                <a:cubicBezTo>
                  <a:pt x="0" y="34578"/>
                  <a:pt x="1070" y="35988"/>
                  <a:pt x="2456" y="36888"/>
                </a:cubicBezTo>
                <a:cubicBezTo>
                  <a:pt x="5666" y="38979"/>
                  <a:pt x="7781" y="42578"/>
                  <a:pt x="7781" y="46687"/>
                </a:cubicBezTo>
                <a:cubicBezTo>
                  <a:pt x="7781" y="50797"/>
                  <a:pt x="5666" y="54395"/>
                  <a:pt x="2456" y="56487"/>
                </a:cubicBezTo>
                <a:cubicBezTo>
                  <a:pt x="1070" y="57386"/>
                  <a:pt x="0" y="58797"/>
                  <a:pt x="0" y="60450"/>
                </a:cubicBezTo>
                <a:lnTo>
                  <a:pt x="0" y="73921"/>
                </a:lnTo>
                <a:lnTo>
                  <a:pt x="124499" y="73921"/>
                </a:lnTo>
                <a:lnTo>
                  <a:pt x="124499" y="60450"/>
                </a:lnTo>
                <a:cubicBezTo>
                  <a:pt x="124499" y="58797"/>
                  <a:pt x="123429" y="57386"/>
                  <a:pt x="122043" y="56487"/>
                </a:cubicBezTo>
                <a:cubicBezTo>
                  <a:pt x="118833" y="54395"/>
                  <a:pt x="116718" y="50797"/>
                  <a:pt x="116718" y="46687"/>
                </a:cubicBezTo>
                <a:cubicBezTo>
                  <a:pt x="116718" y="42578"/>
                  <a:pt x="118833" y="38979"/>
                  <a:pt x="122043" y="36888"/>
                </a:cubicBezTo>
                <a:cubicBezTo>
                  <a:pt x="123429" y="35988"/>
                  <a:pt x="124499" y="34578"/>
                  <a:pt x="124499" y="32924"/>
                </a:cubicBezTo>
                <a:lnTo>
                  <a:pt x="124499" y="31125"/>
                </a:lnTo>
                <a:cubicBezTo>
                  <a:pt x="124499" y="22541"/>
                  <a:pt x="117520" y="15562"/>
                  <a:pt x="108937" y="15562"/>
                </a:cubicBezTo>
                <a:lnTo>
                  <a:pt x="15562" y="15562"/>
                </a:lnTo>
                <a:close/>
                <a:moveTo>
                  <a:pt x="124499" y="101155"/>
                </a:moveTo>
                <a:lnTo>
                  <a:pt x="124499" y="85593"/>
                </a:lnTo>
                <a:lnTo>
                  <a:pt x="0" y="85593"/>
                </a:lnTo>
                <a:lnTo>
                  <a:pt x="0" y="101155"/>
                </a:lnTo>
                <a:cubicBezTo>
                  <a:pt x="0" y="105459"/>
                  <a:pt x="3477" y="108937"/>
                  <a:pt x="7781" y="108937"/>
                </a:cubicBezTo>
                <a:lnTo>
                  <a:pt x="23344" y="108937"/>
                </a:lnTo>
                <a:lnTo>
                  <a:pt x="23344" y="103101"/>
                </a:lnTo>
                <a:cubicBezTo>
                  <a:pt x="23344" y="99867"/>
                  <a:pt x="25945" y="97265"/>
                  <a:pt x="29179" y="97265"/>
                </a:cubicBezTo>
                <a:cubicBezTo>
                  <a:pt x="32413" y="97265"/>
                  <a:pt x="35015" y="99867"/>
                  <a:pt x="35015" y="103101"/>
                </a:cubicBezTo>
                <a:lnTo>
                  <a:pt x="35015" y="108937"/>
                </a:lnTo>
                <a:lnTo>
                  <a:pt x="56414" y="108937"/>
                </a:lnTo>
                <a:lnTo>
                  <a:pt x="56414" y="103101"/>
                </a:lnTo>
                <a:cubicBezTo>
                  <a:pt x="56414" y="99867"/>
                  <a:pt x="59015" y="97265"/>
                  <a:pt x="62249" y="97265"/>
                </a:cubicBezTo>
                <a:cubicBezTo>
                  <a:pt x="65484" y="97265"/>
                  <a:pt x="68085" y="99867"/>
                  <a:pt x="68085" y="103101"/>
                </a:cubicBezTo>
                <a:lnTo>
                  <a:pt x="68085" y="108937"/>
                </a:lnTo>
                <a:lnTo>
                  <a:pt x="89484" y="108937"/>
                </a:lnTo>
                <a:lnTo>
                  <a:pt x="89484" y="103101"/>
                </a:lnTo>
                <a:cubicBezTo>
                  <a:pt x="89484" y="99867"/>
                  <a:pt x="92085" y="97265"/>
                  <a:pt x="95319" y="97265"/>
                </a:cubicBezTo>
                <a:cubicBezTo>
                  <a:pt x="98554" y="97265"/>
                  <a:pt x="101155" y="99867"/>
                  <a:pt x="101155" y="103101"/>
                </a:cubicBezTo>
                <a:lnTo>
                  <a:pt x="101155" y="108937"/>
                </a:lnTo>
                <a:lnTo>
                  <a:pt x="116718" y="108937"/>
                </a:lnTo>
                <a:cubicBezTo>
                  <a:pt x="121022" y="108937"/>
                  <a:pt x="124499" y="105459"/>
                  <a:pt x="124499" y="101155"/>
                </a:cubicBezTo>
                <a:close/>
                <a:moveTo>
                  <a:pt x="38906" y="38906"/>
                </a:moveTo>
                <a:lnTo>
                  <a:pt x="38906" y="54468"/>
                </a:lnTo>
                <a:cubicBezTo>
                  <a:pt x="38906" y="58772"/>
                  <a:pt x="35429" y="62249"/>
                  <a:pt x="31125" y="62249"/>
                </a:cubicBezTo>
                <a:cubicBezTo>
                  <a:pt x="26821" y="62249"/>
                  <a:pt x="23344" y="58772"/>
                  <a:pt x="23344" y="54468"/>
                </a:cubicBezTo>
                <a:lnTo>
                  <a:pt x="23344" y="38906"/>
                </a:lnTo>
                <a:cubicBezTo>
                  <a:pt x="23344" y="34602"/>
                  <a:pt x="26821" y="31125"/>
                  <a:pt x="31125" y="31125"/>
                </a:cubicBezTo>
                <a:cubicBezTo>
                  <a:pt x="35429" y="31125"/>
                  <a:pt x="38906" y="34602"/>
                  <a:pt x="38906" y="38906"/>
                </a:cubicBezTo>
                <a:close/>
                <a:moveTo>
                  <a:pt x="70031" y="38906"/>
                </a:moveTo>
                <a:lnTo>
                  <a:pt x="70031" y="54468"/>
                </a:lnTo>
                <a:cubicBezTo>
                  <a:pt x="70031" y="58772"/>
                  <a:pt x="66553" y="62249"/>
                  <a:pt x="62249" y="62249"/>
                </a:cubicBezTo>
                <a:cubicBezTo>
                  <a:pt x="57945" y="62249"/>
                  <a:pt x="54468" y="58772"/>
                  <a:pt x="54468" y="54468"/>
                </a:cubicBezTo>
                <a:lnTo>
                  <a:pt x="54468" y="38906"/>
                </a:lnTo>
                <a:cubicBezTo>
                  <a:pt x="54468" y="34602"/>
                  <a:pt x="57945" y="31125"/>
                  <a:pt x="62249" y="31125"/>
                </a:cubicBezTo>
                <a:cubicBezTo>
                  <a:pt x="66553" y="31125"/>
                  <a:pt x="70031" y="34602"/>
                  <a:pt x="70031" y="38906"/>
                </a:cubicBezTo>
                <a:close/>
                <a:moveTo>
                  <a:pt x="101155" y="38906"/>
                </a:moveTo>
                <a:lnTo>
                  <a:pt x="101155" y="54468"/>
                </a:lnTo>
                <a:cubicBezTo>
                  <a:pt x="101155" y="58772"/>
                  <a:pt x="97678" y="62249"/>
                  <a:pt x="93374" y="62249"/>
                </a:cubicBezTo>
                <a:cubicBezTo>
                  <a:pt x="89070" y="62249"/>
                  <a:pt x="85593" y="58772"/>
                  <a:pt x="85593" y="54468"/>
                </a:cubicBezTo>
                <a:lnTo>
                  <a:pt x="85593" y="38906"/>
                </a:lnTo>
                <a:cubicBezTo>
                  <a:pt x="85593" y="34602"/>
                  <a:pt x="89070" y="31125"/>
                  <a:pt x="93374" y="31125"/>
                </a:cubicBezTo>
                <a:cubicBezTo>
                  <a:pt x="97678" y="31125"/>
                  <a:pt x="101155" y="34602"/>
                  <a:pt x="101155" y="3890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Text 25"/>
          <p:cNvSpPr/>
          <p:nvPr/>
        </p:nvSpPr>
        <p:spPr>
          <a:xfrm>
            <a:off x="898171" y="4935492"/>
            <a:ext cx="504220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长任务执行的内存效率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8171" y="5184490"/>
            <a:ext cx="5033313" cy="409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Skill执行过程中早期步骤可被</a:t>
            </a:r>
            <a:r>
              <a:rPr lang="en-US" sz="98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摘要归档</a:t>
            </a:r>
            <a:r>
              <a:rPr lang="en-US" sz="9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，类似操作系统虚拟内存管理，使Agent能处理超出物理context窗口的任务。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6888" y="5713611"/>
            <a:ext cx="284569" cy="284569"/>
          </a:xfrm>
          <a:custGeom>
            <a:avLst/>
            <a:gdLst/>
            <a:ahLst/>
            <a:cxnLst/>
            <a:rect l="l" t="t" r="r" b="b"/>
            <a:pathLst>
              <a:path w="284569" h="284569">
                <a:moveTo>
                  <a:pt x="35571" y="0"/>
                </a:moveTo>
                <a:lnTo>
                  <a:pt x="248998" y="0"/>
                </a:lnTo>
                <a:cubicBezTo>
                  <a:pt x="268643" y="0"/>
                  <a:pt x="284569" y="15926"/>
                  <a:pt x="284569" y="35571"/>
                </a:cubicBezTo>
                <a:lnTo>
                  <a:pt x="284569" y="248998"/>
                </a:lnTo>
                <a:cubicBezTo>
                  <a:pt x="284569" y="268643"/>
                  <a:pt x="268643" y="284569"/>
                  <a:pt x="248998" y="284569"/>
                </a:cubicBezTo>
                <a:lnTo>
                  <a:pt x="35571" y="284569"/>
                </a:lnTo>
                <a:cubicBezTo>
                  <a:pt x="15926" y="284569"/>
                  <a:pt x="0" y="268643"/>
                  <a:pt x="0" y="248998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81365" y="5793646"/>
            <a:ext cx="140061" cy="124499"/>
          </a:xfrm>
          <a:custGeom>
            <a:avLst/>
            <a:gdLst/>
            <a:ahLst/>
            <a:cxnLst/>
            <a:rect l="l" t="t" r="r" b="b"/>
            <a:pathLst>
              <a:path w="140061" h="124499">
                <a:moveTo>
                  <a:pt x="70031" y="7781"/>
                </a:moveTo>
                <a:cubicBezTo>
                  <a:pt x="50383" y="7781"/>
                  <a:pt x="34651" y="16730"/>
                  <a:pt x="23198" y="27380"/>
                </a:cubicBezTo>
                <a:cubicBezTo>
                  <a:pt x="11818" y="37958"/>
                  <a:pt x="4207" y="50578"/>
                  <a:pt x="584" y="59259"/>
                </a:cubicBezTo>
                <a:cubicBezTo>
                  <a:pt x="-219" y="61180"/>
                  <a:pt x="-219" y="63319"/>
                  <a:pt x="584" y="65240"/>
                </a:cubicBezTo>
                <a:cubicBezTo>
                  <a:pt x="4207" y="73921"/>
                  <a:pt x="11818" y="86566"/>
                  <a:pt x="23198" y="97119"/>
                </a:cubicBezTo>
                <a:cubicBezTo>
                  <a:pt x="34651" y="107745"/>
                  <a:pt x="50383" y="116718"/>
                  <a:pt x="70031" y="116718"/>
                </a:cubicBezTo>
                <a:cubicBezTo>
                  <a:pt x="89678" y="116718"/>
                  <a:pt x="105411" y="107769"/>
                  <a:pt x="116864" y="97119"/>
                </a:cubicBezTo>
                <a:cubicBezTo>
                  <a:pt x="128244" y="86541"/>
                  <a:pt x="135855" y="73921"/>
                  <a:pt x="139478" y="65240"/>
                </a:cubicBezTo>
                <a:cubicBezTo>
                  <a:pt x="140280" y="63319"/>
                  <a:pt x="140280" y="61180"/>
                  <a:pt x="139478" y="59259"/>
                </a:cubicBezTo>
                <a:cubicBezTo>
                  <a:pt x="135855" y="50578"/>
                  <a:pt x="128244" y="37933"/>
                  <a:pt x="116864" y="27380"/>
                </a:cubicBezTo>
                <a:cubicBezTo>
                  <a:pt x="105411" y="16754"/>
                  <a:pt x="89678" y="7781"/>
                  <a:pt x="70031" y="7781"/>
                </a:cubicBezTo>
                <a:close/>
                <a:moveTo>
                  <a:pt x="35015" y="62249"/>
                </a:moveTo>
                <a:cubicBezTo>
                  <a:pt x="35015" y="42924"/>
                  <a:pt x="50705" y="27234"/>
                  <a:pt x="70031" y="27234"/>
                </a:cubicBezTo>
                <a:cubicBezTo>
                  <a:pt x="89356" y="27234"/>
                  <a:pt x="105046" y="42924"/>
                  <a:pt x="105046" y="62249"/>
                </a:cubicBezTo>
                <a:cubicBezTo>
                  <a:pt x="105046" y="81575"/>
                  <a:pt x="89356" y="97265"/>
                  <a:pt x="70031" y="97265"/>
                </a:cubicBezTo>
                <a:cubicBezTo>
                  <a:pt x="50705" y="97265"/>
                  <a:pt x="35015" y="81575"/>
                  <a:pt x="35015" y="62249"/>
                </a:cubicBezTo>
                <a:close/>
                <a:moveTo>
                  <a:pt x="70031" y="46687"/>
                </a:moveTo>
                <a:cubicBezTo>
                  <a:pt x="70031" y="55271"/>
                  <a:pt x="63052" y="62249"/>
                  <a:pt x="54468" y="62249"/>
                </a:cubicBezTo>
                <a:cubicBezTo>
                  <a:pt x="51672" y="62249"/>
                  <a:pt x="49046" y="61520"/>
                  <a:pt x="46760" y="60207"/>
                </a:cubicBezTo>
                <a:cubicBezTo>
                  <a:pt x="46517" y="62857"/>
                  <a:pt x="46736" y="65581"/>
                  <a:pt x="47465" y="68280"/>
                </a:cubicBezTo>
                <a:cubicBezTo>
                  <a:pt x="50797" y="80730"/>
                  <a:pt x="63611" y="88122"/>
                  <a:pt x="76061" y="84791"/>
                </a:cubicBezTo>
                <a:cubicBezTo>
                  <a:pt x="88511" y="81459"/>
                  <a:pt x="95903" y="68645"/>
                  <a:pt x="92572" y="56195"/>
                </a:cubicBezTo>
                <a:cubicBezTo>
                  <a:pt x="89605" y="45082"/>
                  <a:pt x="79076" y="38006"/>
                  <a:pt x="67988" y="38979"/>
                </a:cubicBezTo>
                <a:cubicBezTo>
                  <a:pt x="69277" y="41240"/>
                  <a:pt x="70031" y="43866"/>
                  <a:pt x="70031" y="4668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1" name="Text 29"/>
          <p:cNvSpPr/>
          <p:nvPr/>
        </p:nvSpPr>
        <p:spPr>
          <a:xfrm>
            <a:off x="898171" y="5695825"/>
            <a:ext cx="504220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注意力聚焦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8171" y="5944823"/>
            <a:ext cx="5033313" cy="409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实证观察表明过长context导致模型</a:t>
            </a:r>
            <a:r>
              <a:rPr lang="en-US" sz="98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注意力分散</a:t>
            </a:r>
            <a:r>
              <a:rPr lang="en-US" sz="9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，渐进披露通过控制信息暴露粒度缓解这一问题。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0060" y="1480648"/>
            <a:ext cx="5655807" cy="4028429"/>
          </a:xfrm>
          <a:custGeom>
            <a:avLst/>
            <a:gdLst/>
            <a:ahLst/>
            <a:cxnLst/>
            <a:rect l="l" t="t" r="r" b="b"/>
            <a:pathLst>
              <a:path w="5655807" h="4028429">
                <a:moveTo>
                  <a:pt x="106713" y="0"/>
                </a:moveTo>
                <a:lnTo>
                  <a:pt x="5549094" y="0"/>
                </a:lnTo>
                <a:cubicBezTo>
                  <a:pt x="5608030" y="0"/>
                  <a:pt x="5655807" y="47777"/>
                  <a:pt x="5655807" y="106713"/>
                </a:cubicBezTo>
                <a:lnTo>
                  <a:pt x="5655807" y="3921716"/>
                </a:lnTo>
                <a:cubicBezTo>
                  <a:pt x="5655807" y="3980612"/>
                  <a:pt x="5607991" y="4028429"/>
                  <a:pt x="5549094" y="4028429"/>
                </a:cubicBezTo>
                <a:lnTo>
                  <a:pt x="106713" y="4028429"/>
                </a:lnTo>
                <a:cubicBezTo>
                  <a:pt x="47777" y="4028429"/>
                  <a:pt x="0" y="3980652"/>
                  <a:pt x="0" y="3921716"/>
                </a:cubicBezTo>
                <a:lnTo>
                  <a:pt x="0" y="106713"/>
                </a:lnTo>
                <a:cubicBezTo>
                  <a:pt x="0" y="47777"/>
                  <a:pt x="47777" y="0"/>
                  <a:pt x="10671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6791" y="1627379"/>
            <a:ext cx="5442381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渐进式披露流程示意</a:t>
            </a:r>
            <a:endParaRPr lang="en-US" sz="1600" dirty="0"/>
          </a:p>
        </p:txBody>
      </p:sp>
      <p:pic>
        <p:nvPicPr>
          <p:cNvPr id="35" name="Image 0" descr="https://kimi-img.moonshot.cn/pub/slides/26-02-11-13:00:47-d660pvsn90739q75usa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16791" y="1983090"/>
            <a:ext cx="4962171" cy="3379256"/>
          </a:xfrm>
          <a:prstGeom prst="roundRect">
            <a:avLst>
              <a:gd name="adj" fmla="val 0"/>
            </a:avLst>
          </a:prstGeom>
        </p:spPr>
      </p:pic>
      <p:sp>
        <p:nvSpPr>
          <p:cNvPr id="36" name="Shape 33"/>
          <p:cNvSpPr/>
          <p:nvPr/>
        </p:nvSpPr>
        <p:spPr>
          <a:xfrm>
            <a:off x="6170060" y="5624683"/>
            <a:ext cx="5655807" cy="631387"/>
          </a:xfrm>
          <a:custGeom>
            <a:avLst/>
            <a:gdLst/>
            <a:ahLst/>
            <a:cxnLst/>
            <a:rect l="l" t="t" r="r" b="b"/>
            <a:pathLst>
              <a:path w="5655807" h="631387">
                <a:moveTo>
                  <a:pt x="71145" y="0"/>
                </a:moveTo>
                <a:lnTo>
                  <a:pt x="5584663" y="0"/>
                </a:lnTo>
                <a:cubicBezTo>
                  <a:pt x="5623955" y="0"/>
                  <a:pt x="5655807" y="31853"/>
                  <a:pt x="5655807" y="71145"/>
                </a:cubicBezTo>
                <a:lnTo>
                  <a:pt x="5655807" y="560243"/>
                </a:lnTo>
                <a:cubicBezTo>
                  <a:pt x="5655807" y="599535"/>
                  <a:pt x="5623955" y="631387"/>
                  <a:pt x="5584663" y="631387"/>
                </a:cubicBezTo>
                <a:lnTo>
                  <a:pt x="71145" y="631387"/>
                </a:lnTo>
                <a:cubicBezTo>
                  <a:pt x="31853" y="631387"/>
                  <a:pt x="0" y="599535"/>
                  <a:pt x="0" y="560243"/>
                </a:cubicBezTo>
                <a:lnTo>
                  <a:pt x="0" y="71145"/>
                </a:lnTo>
                <a:cubicBezTo>
                  <a:pt x="0" y="31879"/>
                  <a:pt x="31879" y="0"/>
                  <a:pt x="7114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81220" y="5771414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71142" y="142284"/>
                </a:moveTo>
                <a:cubicBezTo>
                  <a:pt x="110407" y="142284"/>
                  <a:pt x="142284" y="110407"/>
                  <a:pt x="142284" y="71142"/>
                </a:cubicBezTo>
                <a:cubicBezTo>
                  <a:pt x="142284" y="31878"/>
                  <a:pt x="110407" y="0"/>
                  <a:pt x="71142" y="0"/>
                </a:cubicBezTo>
                <a:cubicBezTo>
                  <a:pt x="31878" y="0"/>
                  <a:pt x="0" y="31878"/>
                  <a:pt x="0" y="71142"/>
                </a:cubicBezTo>
                <a:cubicBezTo>
                  <a:pt x="0" y="110407"/>
                  <a:pt x="31878" y="142284"/>
                  <a:pt x="71142" y="142284"/>
                </a:cubicBezTo>
                <a:close/>
                <a:moveTo>
                  <a:pt x="62249" y="44464"/>
                </a:moveTo>
                <a:cubicBezTo>
                  <a:pt x="62249" y="39556"/>
                  <a:pt x="66234" y="35571"/>
                  <a:pt x="71142" y="35571"/>
                </a:cubicBezTo>
                <a:cubicBezTo>
                  <a:pt x="76050" y="35571"/>
                  <a:pt x="80035" y="39556"/>
                  <a:pt x="80035" y="44464"/>
                </a:cubicBezTo>
                <a:cubicBezTo>
                  <a:pt x="80035" y="49372"/>
                  <a:pt x="76050" y="53357"/>
                  <a:pt x="71142" y="53357"/>
                </a:cubicBezTo>
                <a:cubicBezTo>
                  <a:pt x="66234" y="53357"/>
                  <a:pt x="62249" y="49372"/>
                  <a:pt x="62249" y="44464"/>
                </a:cubicBezTo>
                <a:close/>
                <a:moveTo>
                  <a:pt x="60026" y="62249"/>
                </a:moveTo>
                <a:lnTo>
                  <a:pt x="73365" y="62249"/>
                </a:lnTo>
                <a:cubicBezTo>
                  <a:pt x="77061" y="62249"/>
                  <a:pt x="80035" y="65223"/>
                  <a:pt x="80035" y="68919"/>
                </a:cubicBezTo>
                <a:lnTo>
                  <a:pt x="80035" y="93374"/>
                </a:lnTo>
                <a:lnTo>
                  <a:pt x="82258" y="93374"/>
                </a:lnTo>
                <a:cubicBezTo>
                  <a:pt x="85954" y="93374"/>
                  <a:pt x="88928" y="96348"/>
                  <a:pt x="88928" y="100044"/>
                </a:cubicBezTo>
                <a:cubicBezTo>
                  <a:pt x="88928" y="103740"/>
                  <a:pt x="85954" y="106713"/>
                  <a:pt x="82258" y="106713"/>
                </a:cubicBezTo>
                <a:lnTo>
                  <a:pt x="60026" y="106713"/>
                </a:lnTo>
                <a:cubicBezTo>
                  <a:pt x="56330" y="106713"/>
                  <a:pt x="53357" y="103740"/>
                  <a:pt x="53357" y="100044"/>
                </a:cubicBezTo>
                <a:cubicBezTo>
                  <a:pt x="53357" y="96348"/>
                  <a:pt x="56330" y="93374"/>
                  <a:pt x="60026" y="93374"/>
                </a:cubicBezTo>
                <a:lnTo>
                  <a:pt x="66696" y="93374"/>
                </a:lnTo>
                <a:lnTo>
                  <a:pt x="66696" y="75589"/>
                </a:lnTo>
                <a:lnTo>
                  <a:pt x="60026" y="75589"/>
                </a:lnTo>
                <a:cubicBezTo>
                  <a:pt x="56330" y="75589"/>
                  <a:pt x="53357" y="72615"/>
                  <a:pt x="53357" y="68919"/>
                </a:cubicBezTo>
                <a:cubicBezTo>
                  <a:pt x="53357" y="65223"/>
                  <a:pt x="56330" y="62249"/>
                  <a:pt x="60026" y="6224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8" name="Text 35"/>
          <p:cNvSpPr/>
          <p:nvPr/>
        </p:nvSpPr>
        <p:spPr>
          <a:xfrm>
            <a:off x="6494647" y="5735842"/>
            <a:ext cx="5282311" cy="409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关键洞察：</a:t>
            </a:r>
            <a:r>
              <a:rPr lang="en-US" sz="9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渐进式披露不仅是Token优化技术，更是</a:t>
            </a:r>
            <a:r>
              <a:rPr lang="en-US" sz="98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认知负荷管理</a:t>
            </a:r>
            <a:r>
              <a:rPr lang="en-US" sz="9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策略，使Agent能在有限Context窗口内处理更复杂的长期任务。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579563" cy="261937"/>
          </a:xfrm>
          <a:custGeom>
            <a:avLst/>
            <a:gdLst/>
            <a:ahLst/>
            <a:cxnLst/>
            <a:rect l="l" t="t" r="r" b="b"/>
            <a:pathLst>
              <a:path w="1579563" h="261937">
                <a:moveTo>
                  <a:pt x="31749" y="0"/>
                </a:moveTo>
                <a:lnTo>
                  <a:pt x="1547813" y="0"/>
                </a:lnTo>
                <a:cubicBezTo>
                  <a:pt x="1565348" y="0"/>
                  <a:pt x="1579563" y="14215"/>
                  <a:pt x="1579563" y="31749"/>
                </a:cubicBezTo>
                <a:lnTo>
                  <a:pt x="1579563" y="230188"/>
                </a:lnTo>
                <a:cubicBezTo>
                  <a:pt x="1579563" y="247723"/>
                  <a:pt x="1565348" y="261937"/>
                  <a:pt x="1547813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4969"/>
            <a:ext cx="1437990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INVOCATION &amp; FORMAT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调用模式与标准格式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99344"/>
            <a:ext cx="5707063" cy="1992313"/>
          </a:xfrm>
          <a:custGeom>
            <a:avLst/>
            <a:gdLst/>
            <a:ahLst/>
            <a:cxnLst/>
            <a:rect l="l" t="t" r="r" b="b"/>
            <a:pathLst>
              <a:path w="5707063" h="1992313">
                <a:moveTo>
                  <a:pt x="95252" y="0"/>
                </a:moveTo>
                <a:lnTo>
                  <a:pt x="5611810" y="0"/>
                </a:lnTo>
                <a:cubicBezTo>
                  <a:pt x="5664417" y="0"/>
                  <a:pt x="5707063" y="42646"/>
                  <a:pt x="5707063" y="95252"/>
                </a:cubicBezTo>
                <a:lnTo>
                  <a:pt x="5707063" y="1897060"/>
                </a:lnTo>
                <a:cubicBezTo>
                  <a:pt x="5707062" y="1949667"/>
                  <a:pt x="5664417" y="1992313"/>
                  <a:pt x="5611810" y="1992313"/>
                </a:cubicBezTo>
                <a:lnTo>
                  <a:pt x="95252" y="1992313"/>
                </a:lnTo>
                <a:cubicBezTo>
                  <a:pt x="42646" y="1992313"/>
                  <a:pt x="0" y="1949667"/>
                  <a:pt x="0" y="1897060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2620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05234" y="137318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12402"/>
                </a:moveTo>
                <a:cubicBezTo>
                  <a:pt x="39688" y="5550"/>
                  <a:pt x="45238" y="0"/>
                  <a:pt x="52090" y="0"/>
                </a:cubicBezTo>
                <a:cubicBezTo>
                  <a:pt x="58942" y="0"/>
                  <a:pt x="64492" y="5550"/>
                  <a:pt x="64492" y="12402"/>
                </a:cubicBezTo>
                <a:lnTo>
                  <a:pt x="64492" y="58353"/>
                </a:lnTo>
                <a:cubicBezTo>
                  <a:pt x="67128" y="55997"/>
                  <a:pt x="70600" y="54570"/>
                  <a:pt x="74414" y="54570"/>
                </a:cubicBezTo>
                <a:cubicBezTo>
                  <a:pt x="80801" y="54570"/>
                  <a:pt x="86258" y="58601"/>
                  <a:pt x="88367" y="64244"/>
                </a:cubicBezTo>
                <a:cubicBezTo>
                  <a:pt x="91095" y="61361"/>
                  <a:pt x="94940" y="59531"/>
                  <a:pt x="99219" y="59531"/>
                </a:cubicBezTo>
                <a:cubicBezTo>
                  <a:pt x="107063" y="59531"/>
                  <a:pt x="113481" y="65577"/>
                  <a:pt x="114071" y="73267"/>
                </a:cubicBezTo>
                <a:cubicBezTo>
                  <a:pt x="116706" y="70879"/>
                  <a:pt x="120210" y="69453"/>
                  <a:pt x="124023" y="69453"/>
                </a:cubicBezTo>
                <a:cubicBezTo>
                  <a:pt x="132240" y="69453"/>
                  <a:pt x="138906" y="76119"/>
                  <a:pt x="138906" y="84336"/>
                </a:cubicBezTo>
                <a:lnTo>
                  <a:pt x="138906" y="119062"/>
                </a:lnTo>
                <a:cubicBezTo>
                  <a:pt x="138906" y="140984"/>
                  <a:pt x="121140" y="158750"/>
                  <a:pt x="99219" y="158750"/>
                </a:cubicBezTo>
                <a:lnTo>
                  <a:pt x="72771" y="158750"/>
                </a:lnTo>
                <a:cubicBezTo>
                  <a:pt x="71220" y="158750"/>
                  <a:pt x="69701" y="158657"/>
                  <a:pt x="68213" y="158440"/>
                </a:cubicBezTo>
                <a:cubicBezTo>
                  <a:pt x="51067" y="156704"/>
                  <a:pt x="35285" y="147898"/>
                  <a:pt x="24805" y="133945"/>
                </a:cubicBezTo>
                <a:lnTo>
                  <a:pt x="2480" y="104180"/>
                </a:lnTo>
                <a:cubicBezTo>
                  <a:pt x="-1643" y="98692"/>
                  <a:pt x="-527" y="90940"/>
                  <a:pt x="4961" y="86816"/>
                </a:cubicBezTo>
                <a:cubicBezTo>
                  <a:pt x="10449" y="82693"/>
                  <a:pt x="18200" y="83809"/>
                  <a:pt x="22324" y="89297"/>
                </a:cubicBezTo>
                <a:lnTo>
                  <a:pt x="39688" y="112458"/>
                </a:lnTo>
                <a:lnTo>
                  <a:pt x="39688" y="12402"/>
                </a:lnTo>
                <a:close/>
                <a:moveTo>
                  <a:pt x="74414" y="94258"/>
                </a:moveTo>
                <a:cubicBezTo>
                  <a:pt x="74414" y="91529"/>
                  <a:pt x="72182" y="89297"/>
                  <a:pt x="69453" y="89297"/>
                </a:cubicBezTo>
                <a:cubicBezTo>
                  <a:pt x="66725" y="89297"/>
                  <a:pt x="64492" y="91529"/>
                  <a:pt x="64492" y="94258"/>
                </a:cubicBezTo>
                <a:lnTo>
                  <a:pt x="64492" y="124023"/>
                </a:lnTo>
                <a:cubicBezTo>
                  <a:pt x="64492" y="126752"/>
                  <a:pt x="66725" y="128984"/>
                  <a:pt x="69453" y="128984"/>
                </a:cubicBezTo>
                <a:cubicBezTo>
                  <a:pt x="72182" y="128984"/>
                  <a:pt x="74414" y="126752"/>
                  <a:pt x="74414" y="124023"/>
                </a:cubicBezTo>
                <a:lnTo>
                  <a:pt x="74414" y="94258"/>
                </a:lnTo>
                <a:close/>
                <a:moveTo>
                  <a:pt x="89297" y="89297"/>
                </a:moveTo>
                <a:cubicBezTo>
                  <a:pt x="86568" y="89297"/>
                  <a:pt x="84336" y="91529"/>
                  <a:pt x="84336" y="94258"/>
                </a:cubicBezTo>
                <a:lnTo>
                  <a:pt x="84336" y="124023"/>
                </a:lnTo>
                <a:cubicBezTo>
                  <a:pt x="84336" y="126752"/>
                  <a:pt x="86568" y="128984"/>
                  <a:pt x="89297" y="128984"/>
                </a:cubicBezTo>
                <a:cubicBezTo>
                  <a:pt x="92025" y="128984"/>
                  <a:pt x="94258" y="126752"/>
                  <a:pt x="94258" y="124023"/>
                </a:cubicBezTo>
                <a:lnTo>
                  <a:pt x="94258" y="94258"/>
                </a:lnTo>
                <a:cubicBezTo>
                  <a:pt x="94258" y="91529"/>
                  <a:pt x="92025" y="89297"/>
                  <a:pt x="89297" y="89297"/>
                </a:cubicBezTo>
                <a:close/>
                <a:moveTo>
                  <a:pt x="114102" y="94258"/>
                </a:moveTo>
                <a:cubicBezTo>
                  <a:pt x="114102" y="91529"/>
                  <a:pt x="111869" y="89297"/>
                  <a:pt x="109141" y="89297"/>
                </a:cubicBezTo>
                <a:cubicBezTo>
                  <a:pt x="106412" y="89297"/>
                  <a:pt x="104180" y="91529"/>
                  <a:pt x="104180" y="94258"/>
                </a:cubicBezTo>
                <a:lnTo>
                  <a:pt x="104180" y="124023"/>
                </a:lnTo>
                <a:cubicBezTo>
                  <a:pt x="104180" y="126752"/>
                  <a:pt x="106412" y="128984"/>
                  <a:pt x="109141" y="128984"/>
                </a:cubicBezTo>
                <a:cubicBezTo>
                  <a:pt x="111869" y="128984"/>
                  <a:pt x="114102" y="126752"/>
                  <a:pt x="114102" y="124023"/>
                </a:cubicBezTo>
                <a:lnTo>
                  <a:pt x="114102" y="9425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8" name="Text 6"/>
          <p:cNvSpPr/>
          <p:nvPr/>
        </p:nvSpPr>
        <p:spPr>
          <a:xfrm>
            <a:off x="960438" y="1341438"/>
            <a:ext cx="714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显式调用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1770063"/>
            <a:ext cx="544512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</a:t>
            </a: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直接指定</a:t>
            </a: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要使用的Skill，系统立即加载完整指令。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063" y="2071688"/>
            <a:ext cx="5365750" cy="857250"/>
          </a:xfrm>
          <a:custGeom>
            <a:avLst/>
            <a:gdLst/>
            <a:ahLst/>
            <a:cxnLst/>
            <a:rect l="l" t="t" r="r" b="b"/>
            <a:pathLst>
              <a:path w="5365750" h="857250">
                <a:moveTo>
                  <a:pt x="31750" y="0"/>
                </a:moveTo>
                <a:lnTo>
                  <a:pt x="5302253" y="0"/>
                </a:lnTo>
                <a:cubicBezTo>
                  <a:pt x="5337322" y="0"/>
                  <a:pt x="5365750" y="28428"/>
                  <a:pt x="5365750" y="63497"/>
                </a:cubicBezTo>
                <a:lnTo>
                  <a:pt x="5365750" y="793753"/>
                </a:lnTo>
                <a:cubicBezTo>
                  <a:pt x="5365750" y="828822"/>
                  <a:pt x="5337322" y="857250"/>
                  <a:pt x="5302253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00063" y="2071688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2" name="Text 10"/>
          <p:cNvSpPr/>
          <p:nvPr/>
        </p:nvSpPr>
        <p:spPr>
          <a:xfrm>
            <a:off x="611188" y="2166938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调用语法：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1188" y="2389188"/>
            <a:ext cx="793750" cy="222250"/>
          </a:xfrm>
          <a:custGeom>
            <a:avLst/>
            <a:gdLst/>
            <a:ahLst/>
            <a:cxnLst/>
            <a:rect l="l" t="t" r="r" b="b"/>
            <a:pathLst>
              <a:path w="793750" h="222250">
                <a:moveTo>
                  <a:pt x="31751" y="0"/>
                </a:moveTo>
                <a:lnTo>
                  <a:pt x="761999" y="0"/>
                </a:lnTo>
                <a:cubicBezTo>
                  <a:pt x="779535" y="0"/>
                  <a:pt x="793750" y="14215"/>
                  <a:pt x="793750" y="31751"/>
                </a:cubicBezTo>
                <a:lnTo>
                  <a:pt x="793750" y="190499"/>
                </a:lnTo>
                <a:cubicBezTo>
                  <a:pt x="793750" y="208035"/>
                  <a:pt x="779535" y="222250"/>
                  <a:pt x="7619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11188" y="2389188"/>
            <a:ext cx="849313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$SkillName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70732" y="2420938"/>
            <a:ext cx="500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语法调用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1188" y="2674938"/>
            <a:ext cx="611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自然语言：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0313" y="2674938"/>
            <a:ext cx="1047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"使用Excel处理Skill"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1469" y="3226594"/>
            <a:ext cx="5707063" cy="1690688"/>
          </a:xfrm>
          <a:custGeom>
            <a:avLst/>
            <a:gdLst/>
            <a:ahLst/>
            <a:cxnLst/>
            <a:rect l="l" t="t" r="r" b="b"/>
            <a:pathLst>
              <a:path w="5707063" h="1690688">
                <a:moveTo>
                  <a:pt x="95253" y="0"/>
                </a:moveTo>
                <a:lnTo>
                  <a:pt x="5611809" y="0"/>
                </a:lnTo>
                <a:cubicBezTo>
                  <a:pt x="5664416" y="0"/>
                  <a:pt x="5707063" y="42646"/>
                  <a:pt x="5707063" y="95253"/>
                </a:cubicBezTo>
                <a:lnTo>
                  <a:pt x="5707063" y="1595434"/>
                </a:lnTo>
                <a:cubicBezTo>
                  <a:pt x="5707063" y="1648041"/>
                  <a:pt x="5664416" y="1690688"/>
                  <a:pt x="5611809" y="1690688"/>
                </a:cubicBezTo>
                <a:lnTo>
                  <a:pt x="95253" y="1690688"/>
                </a:lnTo>
                <a:cubicBezTo>
                  <a:pt x="42646" y="1690688"/>
                  <a:pt x="0" y="1648041"/>
                  <a:pt x="0" y="1595434"/>
                </a:cubicBezTo>
                <a:lnTo>
                  <a:pt x="0" y="95253"/>
                </a:lnTo>
                <a:cubicBezTo>
                  <a:pt x="0" y="42682"/>
                  <a:pt x="42682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" y="3389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95313" y="35004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1" name="Text 19"/>
          <p:cNvSpPr/>
          <p:nvPr/>
        </p:nvSpPr>
        <p:spPr>
          <a:xfrm>
            <a:off x="960438" y="3468688"/>
            <a:ext cx="714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隐式调用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187" y="3897313"/>
            <a:ext cx="544512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系统基于</a:t>
            </a: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任务描述</a:t>
            </a: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与Skill元数据的</a:t>
            </a: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语义匹配</a:t>
            </a: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自动路由。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063" y="4198938"/>
            <a:ext cx="5365750" cy="555625"/>
          </a:xfrm>
          <a:custGeom>
            <a:avLst/>
            <a:gdLst/>
            <a:ahLst/>
            <a:cxnLst/>
            <a:rect l="l" t="t" r="r" b="b"/>
            <a:pathLst>
              <a:path w="5365750" h="555625">
                <a:moveTo>
                  <a:pt x="31750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492123"/>
                </a:lnTo>
                <a:cubicBezTo>
                  <a:pt x="5365750" y="527194"/>
                  <a:pt x="5337319" y="555625"/>
                  <a:pt x="5302248" y="555625"/>
                </a:cubicBezTo>
                <a:lnTo>
                  <a:pt x="31750" y="555625"/>
                </a:lnTo>
                <a:cubicBezTo>
                  <a:pt x="14215" y="555625"/>
                  <a:pt x="0" y="541410"/>
                  <a:pt x="0" y="52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500063" y="4198938"/>
            <a:ext cx="31750" cy="555625"/>
          </a:xfrm>
          <a:custGeom>
            <a:avLst/>
            <a:gdLst/>
            <a:ahLst/>
            <a:cxnLst/>
            <a:rect l="l" t="t" r="r" b="b"/>
            <a:pathLst>
              <a:path w="31750" h="555625">
                <a:moveTo>
                  <a:pt x="31750" y="0"/>
                </a:moveTo>
                <a:lnTo>
                  <a:pt x="31750" y="0"/>
                </a:lnTo>
                <a:lnTo>
                  <a:pt x="31750" y="555625"/>
                </a:lnTo>
                <a:lnTo>
                  <a:pt x="31750" y="555625"/>
                </a:lnTo>
                <a:cubicBezTo>
                  <a:pt x="14227" y="555625"/>
                  <a:pt x="0" y="541398"/>
                  <a:pt x="0" y="52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5" name="Text 23"/>
          <p:cNvSpPr/>
          <p:nvPr/>
        </p:nvSpPr>
        <p:spPr>
          <a:xfrm>
            <a:off x="611188" y="4294188"/>
            <a:ext cx="5214938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 Codex设计：</a:t>
            </a: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Agent在隐式激活Skill时必须</a:t>
            </a: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声明所用Skill及原因</a:t>
            </a: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，在自动化与可解释性之间做了权衡。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3469" y="175419"/>
            <a:ext cx="5707063" cy="3341688"/>
          </a:xfrm>
          <a:custGeom>
            <a:avLst/>
            <a:gdLst/>
            <a:ahLst/>
            <a:cxnLst/>
            <a:rect l="l" t="t" r="r" b="b"/>
            <a:pathLst>
              <a:path w="5707063" h="3341688">
                <a:moveTo>
                  <a:pt x="95238" y="0"/>
                </a:moveTo>
                <a:lnTo>
                  <a:pt x="5611824" y="0"/>
                </a:lnTo>
                <a:cubicBezTo>
                  <a:pt x="5664423" y="0"/>
                  <a:pt x="5707062" y="42640"/>
                  <a:pt x="5707062" y="95238"/>
                </a:cubicBezTo>
                <a:lnTo>
                  <a:pt x="5707063" y="3246449"/>
                </a:lnTo>
                <a:cubicBezTo>
                  <a:pt x="5707063" y="3299048"/>
                  <a:pt x="5664423" y="3341687"/>
                  <a:pt x="5611824" y="3341688"/>
                </a:cubicBezTo>
                <a:lnTo>
                  <a:pt x="95238" y="3341688"/>
                </a:lnTo>
                <a:cubicBezTo>
                  <a:pt x="42640" y="3341688"/>
                  <a:pt x="0" y="3299048"/>
                  <a:pt x="0" y="3246449"/>
                </a:cubicBezTo>
                <a:lnTo>
                  <a:pt x="0" y="95238"/>
                </a:lnTo>
                <a:cubicBezTo>
                  <a:pt x="0" y="42675"/>
                  <a:pt x="42675" y="0"/>
                  <a:pt x="9523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3891" y="377825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17859"/>
                </a:moveTo>
                <a:cubicBezTo>
                  <a:pt x="0" y="8009"/>
                  <a:pt x="8009" y="0"/>
                  <a:pt x="17859" y="0"/>
                </a:cubicBezTo>
                <a:lnTo>
                  <a:pt x="59578" y="0"/>
                </a:lnTo>
                <a:cubicBezTo>
                  <a:pt x="64322" y="0"/>
                  <a:pt x="68870" y="1870"/>
                  <a:pt x="72219" y="5218"/>
                </a:cubicBezTo>
                <a:lnTo>
                  <a:pt x="101938" y="34965"/>
                </a:lnTo>
                <a:cubicBezTo>
                  <a:pt x="105287" y="38314"/>
                  <a:pt x="107156" y="42863"/>
                  <a:pt x="107156" y="47606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17859"/>
                </a:lnTo>
                <a:close/>
                <a:moveTo>
                  <a:pt x="58043" y="16325"/>
                </a:moveTo>
                <a:lnTo>
                  <a:pt x="58043" y="42416"/>
                </a:lnTo>
                <a:cubicBezTo>
                  <a:pt x="58043" y="46127"/>
                  <a:pt x="61029" y="49113"/>
                  <a:pt x="64740" y="49113"/>
                </a:cubicBezTo>
                <a:lnTo>
                  <a:pt x="90832" y="49113"/>
                </a:lnTo>
                <a:lnTo>
                  <a:pt x="58043" y="16325"/>
                </a:lnTo>
                <a:close/>
                <a:moveTo>
                  <a:pt x="43030" y="82488"/>
                </a:moveTo>
                <a:cubicBezTo>
                  <a:pt x="45430" y="79670"/>
                  <a:pt x="45123" y="75456"/>
                  <a:pt x="42304" y="73056"/>
                </a:cubicBezTo>
                <a:cubicBezTo>
                  <a:pt x="39486" y="70656"/>
                  <a:pt x="35272" y="70963"/>
                  <a:pt x="32872" y="73782"/>
                </a:cubicBezTo>
                <a:lnTo>
                  <a:pt x="19478" y="89408"/>
                </a:lnTo>
                <a:cubicBezTo>
                  <a:pt x="17329" y="91920"/>
                  <a:pt x="17329" y="95603"/>
                  <a:pt x="19478" y="98115"/>
                </a:cubicBezTo>
                <a:lnTo>
                  <a:pt x="32872" y="113742"/>
                </a:lnTo>
                <a:cubicBezTo>
                  <a:pt x="35272" y="116560"/>
                  <a:pt x="39514" y="116867"/>
                  <a:pt x="42304" y="114467"/>
                </a:cubicBezTo>
                <a:cubicBezTo>
                  <a:pt x="45095" y="112068"/>
                  <a:pt x="45430" y="107826"/>
                  <a:pt x="43030" y="105035"/>
                </a:cubicBezTo>
                <a:lnTo>
                  <a:pt x="33375" y="93762"/>
                </a:lnTo>
                <a:lnTo>
                  <a:pt x="43030" y="82488"/>
                </a:lnTo>
                <a:close/>
                <a:moveTo>
                  <a:pt x="74284" y="73782"/>
                </a:moveTo>
                <a:cubicBezTo>
                  <a:pt x="71884" y="70963"/>
                  <a:pt x="67642" y="70656"/>
                  <a:pt x="64852" y="73056"/>
                </a:cubicBezTo>
                <a:cubicBezTo>
                  <a:pt x="62061" y="75456"/>
                  <a:pt x="61726" y="79697"/>
                  <a:pt x="64126" y="82488"/>
                </a:cubicBezTo>
                <a:lnTo>
                  <a:pt x="73782" y="93762"/>
                </a:lnTo>
                <a:lnTo>
                  <a:pt x="64126" y="105035"/>
                </a:lnTo>
                <a:cubicBezTo>
                  <a:pt x="61726" y="107854"/>
                  <a:pt x="62033" y="112068"/>
                  <a:pt x="64852" y="114467"/>
                </a:cubicBezTo>
                <a:cubicBezTo>
                  <a:pt x="67670" y="116867"/>
                  <a:pt x="71884" y="116560"/>
                  <a:pt x="74284" y="113742"/>
                </a:cubicBezTo>
                <a:lnTo>
                  <a:pt x="87678" y="98115"/>
                </a:lnTo>
                <a:cubicBezTo>
                  <a:pt x="89827" y="95603"/>
                  <a:pt x="89827" y="91920"/>
                  <a:pt x="87678" y="89408"/>
                </a:cubicBezTo>
                <a:lnTo>
                  <a:pt x="74284" y="73782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6"/>
          <p:cNvSpPr/>
          <p:nvPr/>
        </p:nvSpPr>
        <p:spPr>
          <a:xfrm>
            <a:off x="6508750" y="338138"/>
            <a:ext cx="5270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SKILL.md 标准格式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6188" y="687388"/>
            <a:ext cx="5381625" cy="2667000"/>
          </a:xfrm>
          <a:custGeom>
            <a:avLst/>
            <a:gdLst/>
            <a:ahLst/>
            <a:cxnLst/>
            <a:rect l="l" t="t" r="r" b="b"/>
            <a:pathLst>
              <a:path w="5381625" h="2667000">
                <a:moveTo>
                  <a:pt x="63501" y="0"/>
                </a:moveTo>
                <a:lnTo>
                  <a:pt x="5318124" y="0"/>
                </a:lnTo>
                <a:cubicBezTo>
                  <a:pt x="5353195" y="0"/>
                  <a:pt x="5381625" y="28430"/>
                  <a:pt x="5381625" y="63501"/>
                </a:cubicBezTo>
                <a:lnTo>
                  <a:pt x="5381625" y="2603499"/>
                </a:lnTo>
                <a:cubicBezTo>
                  <a:pt x="5381625" y="2638570"/>
                  <a:pt x="5353195" y="2667000"/>
                  <a:pt x="5318124" y="2667000"/>
                </a:cubicBezTo>
                <a:lnTo>
                  <a:pt x="63501" y="2667000"/>
                </a:lnTo>
                <a:cubicBezTo>
                  <a:pt x="28430" y="2667000"/>
                  <a:pt x="0" y="2638570"/>
                  <a:pt x="0" y="2603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453188" y="81438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YAML前置元数据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3188" y="97313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name: excel-processing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3188" y="113188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description: 处理Excel表格数据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53188" y="129063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version: 1.0.0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3188" y="144938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tags: [data, excel, analysis]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53188" y="160813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tools: [pandas, openpyxl]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3188" y="183038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---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3188" y="205263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Markdown正文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53188" y="221138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## 操作流程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3188" y="237013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读取Excel文件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53188" y="252888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数据清洗与验证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53188" y="268763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执行分析任务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53188" y="2909887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## 示例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53188" y="3068638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63469" y="3652044"/>
            <a:ext cx="5707063" cy="3024188"/>
          </a:xfrm>
          <a:custGeom>
            <a:avLst/>
            <a:gdLst/>
            <a:ahLst/>
            <a:cxnLst/>
            <a:rect l="l" t="t" r="r" b="b"/>
            <a:pathLst>
              <a:path w="5707063" h="3024188">
                <a:moveTo>
                  <a:pt x="95262" y="0"/>
                </a:moveTo>
                <a:lnTo>
                  <a:pt x="5611801" y="0"/>
                </a:lnTo>
                <a:cubicBezTo>
                  <a:pt x="5664412" y="0"/>
                  <a:pt x="5707063" y="42650"/>
                  <a:pt x="5707063" y="95262"/>
                </a:cubicBezTo>
                <a:lnTo>
                  <a:pt x="5707063" y="2928926"/>
                </a:lnTo>
                <a:cubicBezTo>
                  <a:pt x="5707062" y="2981537"/>
                  <a:pt x="5664412" y="3024188"/>
                  <a:pt x="5611801" y="3024188"/>
                </a:cubicBezTo>
                <a:lnTo>
                  <a:pt x="95262" y="3024188"/>
                </a:lnTo>
                <a:cubicBezTo>
                  <a:pt x="42650" y="3024188"/>
                  <a:pt x="0" y="2981537"/>
                  <a:pt x="0" y="2928926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6188" y="3814763"/>
            <a:ext cx="5453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配套目录结构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6188" y="4164013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476248"/>
                </a:lnTo>
                <a:cubicBezTo>
                  <a:pt x="5381625" y="511319"/>
                  <a:pt x="5353194" y="539750"/>
                  <a:pt x="5318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437313" y="43703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11125"/>
                </a:move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35719"/>
                </a:lnTo>
                <a:cubicBezTo>
                  <a:pt x="127000" y="26963"/>
                  <a:pt x="119881" y="19844"/>
                  <a:pt x="111125" y="19844"/>
                </a:cubicBezTo>
                <a:lnTo>
                  <a:pt x="74092" y="19844"/>
                </a:lnTo>
                <a:cubicBezTo>
                  <a:pt x="72380" y="19844"/>
                  <a:pt x="70693" y="19298"/>
                  <a:pt x="69329" y="18256"/>
                </a:cubicBezTo>
                <a:lnTo>
                  <a:pt x="59804" y="11113"/>
                </a:lnTo>
                <a:cubicBezTo>
                  <a:pt x="57051" y="9054"/>
                  <a:pt x="53702" y="7938"/>
                  <a:pt x="50279" y="7938"/>
                </a:cubicBezTo>
                <a:lnTo>
                  <a:pt x="15875" y="7938"/>
                </a:lnTo>
                <a:cubicBezTo>
                  <a:pt x="7119" y="7938"/>
                  <a:pt x="0" y="15056"/>
                  <a:pt x="0" y="23812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8" name="Text 46"/>
          <p:cNvSpPr/>
          <p:nvPr/>
        </p:nvSpPr>
        <p:spPr>
          <a:xfrm>
            <a:off x="6675438" y="4259263"/>
            <a:ext cx="619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/scripts/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75438" y="4449763"/>
            <a:ext cx="611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可执行代码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6188" y="4767263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476248"/>
                </a:lnTo>
                <a:cubicBezTo>
                  <a:pt x="5381625" y="511319"/>
                  <a:pt x="5353194" y="539750"/>
                  <a:pt x="5318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437313" y="49736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11125"/>
                </a:move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35719"/>
                </a:lnTo>
                <a:cubicBezTo>
                  <a:pt x="127000" y="26963"/>
                  <a:pt x="119881" y="19844"/>
                  <a:pt x="111125" y="19844"/>
                </a:cubicBezTo>
                <a:lnTo>
                  <a:pt x="74092" y="19844"/>
                </a:lnTo>
                <a:cubicBezTo>
                  <a:pt x="72380" y="19844"/>
                  <a:pt x="70693" y="19298"/>
                  <a:pt x="69329" y="18256"/>
                </a:cubicBezTo>
                <a:lnTo>
                  <a:pt x="59804" y="11113"/>
                </a:lnTo>
                <a:cubicBezTo>
                  <a:pt x="57051" y="9054"/>
                  <a:pt x="53702" y="7938"/>
                  <a:pt x="50279" y="7938"/>
                </a:cubicBezTo>
                <a:lnTo>
                  <a:pt x="15875" y="7938"/>
                </a:lnTo>
                <a:cubicBezTo>
                  <a:pt x="7119" y="7938"/>
                  <a:pt x="0" y="15056"/>
                  <a:pt x="0" y="23812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2" name="Text 50"/>
          <p:cNvSpPr/>
          <p:nvPr/>
        </p:nvSpPr>
        <p:spPr>
          <a:xfrm>
            <a:off x="6675438" y="4862513"/>
            <a:ext cx="785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/references/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75438" y="5053013"/>
            <a:ext cx="777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参考文档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6188" y="5370513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476248"/>
                </a:lnTo>
                <a:cubicBezTo>
                  <a:pt x="5381625" y="511319"/>
                  <a:pt x="5353194" y="539750"/>
                  <a:pt x="5318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6437313" y="55768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11125"/>
                </a:move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35719"/>
                </a:lnTo>
                <a:cubicBezTo>
                  <a:pt x="127000" y="26963"/>
                  <a:pt x="119881" y="19844"/>
                  <a:pt x="111125" y="19844"/>
                </a:cubicBezTo>
                <a:lnTo>
                  <a:pt x="74092" y="19844"/>
                </a:lnTo>
                <a:cubicBezTo>
                  <a:pt x="72380" y="19844"/>
                  <a:pt x="70693" y="19298"/>
                  <a:pt x="69329" y="18256"/>
                </a:cubicBezTo>
                <a:lnTo>
                  <a:pt x="59804" y="11113"/>
                </a:lnTo>
                <a:cubicBezTo>
                  <a:pt x="57051" y="9054"/>
                  <a:pt x="53702" y="7938"/>
                  <a:pt x="50279" y="7938"/>
                </a:cubicBezTo>
                <a:lnTo>
                  <a:pt x="15875" y="7938"/>
                </a:lnTo>
                <a:cubicBezTo>
                  <a:pt x="7119" y="7938"/>
                  <a:pt x="0" y="15056"/>
                  <a:pt x="0" y="23812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6" name="Text 54"/>
          <p:cNvSpPr/>
          <p:nvPr/>
        </p:nvSpPr>
        <p:spPr>
          <a:xfrm>
            <a:off x="6675438" y="5465763"/>
            <a:ext cx="738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/templates/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75438" y="5656263"/>
            <a:ext cx="730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模板资源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26188" y="5973763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476248"/>
                </a:lnTo>
                <a:cubicBezTo>
                  <a:pt x="5381625" y="511319"/>
                  <a:pt x="5353194" y="539750"/>
                  <a:pt x="5318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6437313" y="61801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11125"/>
                </a:move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35719"/>
                </a:lnTo>
                <a:cubicBezTo>
                  <a:pt x="127000" y="26963"/>
                  <a:pt x="119881" y="19844"/>
                  <a:pt x="111125" y="19844"/>
                </a:cubicBezTo>
                <a:lnTo>
                  <a:pt x="74092" y="19844"/>
                </a:lnTo>
                <a:cubicBezTo>
                  <a:pt x="72380" y="19844"/>
                  <a:pt x="70693" y="19298"/>
                  <a:pt x="69329" y="18256"/>
                </a:cubicBezTo>
                <a:lnTo>
                  <a:pt x="59804" y="11113"/>
                </a:lnTo>
                <a:cubicBezTo>
                  <a:pt x="57051" y="9054"/>
                  <a:pt x="53702" y="7938"/>
                  <a:pt x="50279" y="7938"/>
                </a:cubicBezTo>
                <a:lnTo>
                  <a:pt x="15875" y="7938"/>
                </a:lnTo>
                <a:cubicBezTo>
                  <a:pt x="7119" y="7938"/>
                  <a:pt x="0" y="15056"/>
                  <a:pt x="0" y="23812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60" name="Text 58"/>
          <p:cNvSpPr/>
          <p:nvPr/>
        </p:nvSpPr>
        <p:spPr>
          <a:xfrm>
            <a:off x="6675438" y="6069013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/tests/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75438" y="6259513"/>
            <a:ext cx="500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测试用例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6589" y="336589"/>
            <a:ext cx="1736965" cy="274258"/>
          </a:xfrm>
          <a:custGeom>
            <a:avLst/>
            <a:gdLst/>
            <a:ahLst/>
            <a:cxnLst/>
            <a:rect l="l" t="t" r="r" b="b"/>
            <a:pathLst>
              <a:path w="1736965" h="274258">
                <a:moveTo>
                  <a:pt x="33243" y="0"/>
                </a:moveTo>
                <a:lnTo>
                  <a:pt x="1703722" y="0"/>
                </a:lnTo>
                <a:cubicBezTo>
                  <a:pt x="1722082" y="0"/>
                  <a:pt x="1736965" y="14883"/>
                  <a:pt x="1736965" y="33243"/>
                </a:cubicBezTo>
                <a:lnTo>
                  <a:pt x="1736965" y="241015"/>
                </a:lnTo>
                <a:cubicBezTo>
                  <a:pt x="1736965" y="259374"/>
                  <a:pt x="1722082" y="274258"/>
                  <a:pt x="1703722" y="274258"/>
                </a:cubicBezTo>
                <a:lnTo>
                  <a:pt x="33243" y="274258"/>
                </a:lnTo>
                <a:cubicBezTo>
                  <a:pt x="14896" y="274258"/>
                  <a:pt x="0" y="259362"/>
                  <a:pt x="0" y="241015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0474" y="403076"/>
            <a:ext cx="1585682" cy="153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kern="0" spc="46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434" y="681489"/>
            <a:ext cx="11676728" cy="3324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Anthropic vs OpenAI：双平台技术对比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2434" y="1080409"/>
            <a:ext cx="11601930" cy="232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设计理念相似，核心实现各有特色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6589" y="1450241"/>
            <a:ext cx="11518822" cy="2576360"/>
          </a:xfrm>
          <a:custGeom>
            <a:avLst/>
            <a:gdLst/>
            <a:ahLst/>
            <a:cxnLst/>
            <a:rect l="l" t="t" r="r" b="b"/>
            <a:pathLst>
              <a:path w="11518822" h="2576360">
                <a:moveTo>
                  <a:pt x="99731" y="0"/>
                </a:moveTo>
                <a:lnTo>
                  <a:pt x="11419091" y="0"/>
                </a:lnTo>
                <a:cubicBezTo>
                  <a:pt x="11474171" y="0"/>
                  <a:pt x="11518822" y="44651"/>
                  <a:pt x="11518822" y="99731"/>
                </a:cubicBezTo>
                <a:lnTo>
                  <a:pt x="11518822" y="2476629"/>
                </a:lnTo>
                <a:cubicBezTo>
                  <a:pt x="11518822" y="2531709"/>
                  <a:pt x="11474171" y="2576360"/>
                  <a:pt x="11419091" y="2576360"/>
                </a:cubicBezTo>
                <a:lnTo>
                  <a:pt x="99731" y="2576360"/>
                </a:lnTo>
                <a:cubicBezTo>
                  <a:pt x="44651" y="2576360"/>
                  <a:pt x="0" y="2531709"/>
                  <a:pt x="0" y="2476629"/>
                </a:cubicBezTo>
                <a:lnTo>
                  <a:pt x="0" y="99731"/>
                </a:lnTo>
                <a:cubicBezTo>
                  <a:pt x="0" y="44688"/>
                  <a:pt x="44688" y="0"/>
                  <a:pt x="9973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73718" y="1587370"/>
          <a:ext cx="11244565" cy="2302102"/>
        </p:xfrm>
        <a:graphic>
          <a:graphicData uri="http://schemas.openxmlformats.org/drawingml/2006/table">
            <a:tbl>
              <a:tblPr/>
              <a:tblGrid>
                <a:gridCol w="1845006"/>
                <a:gridCol w="4487853"/>
                <a:gridCol w="4911706"/>
              </a:tblGrid>
              <a:tr h="460420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Anthropic Claude Skills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OpenAI Codex Skills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042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标志性设计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渐进式披露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三级信息分层，优化Context效率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双模式调用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显式/隐式调用 + Discovery元Skill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042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调用机制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支持显式调用，语义匹配自动激活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显式/隐式双模式，必须声明激活原因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042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元认知设计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通过渐进披露实现隐式元认知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内置Discovery元Skill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，显式元认知能力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042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设计理念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确定性代码、模型无关标准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开发者速度优先、工具编排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36589" y="4134642"/>
            <a:ext cx="5684613" cy="2385211"/>
          </a:xfrm>
          <a:custGeom>
            <a:avLst/>
            <a:gdLst/>
            <a:ahLst/>
            <a:cxnLst/>
            <a:rect l="l" t="t" r="r" b="b"/>
            <a:pathLst>
              <a:path w="5684613" h="2385211">
                <a:moveTo>
                  <a:pt x="99726" y="0"/>
                </a:moveTo>
                <a:lnTo>
                  <a:pt x="5584888" y="0"/>
                </a:lnTo>
                <a:cubicBezTo>
                  <a:pt x="5639965" y="0"/>
                  <a:pt x="5684613" y="44649"/>
                  <a:pt x="5684613" y="99726"/>
                </a:cubicBezTo>
                <a:lnTo>
                  <a:pt x="5684613" y="2285485"/>
                </a:lnTo>
                <a:cubicBezTo>
                  <a:pt x="5684613" y="2340562"/>
                  <a:pt x="5639965" y="2385211"/>
                  <a:pt x="5584888" y="2385211"/>
                </a:cubicBezTo>
                <a:lnTo>
                  <a:pt x="99726" y="2385211"/>
                </a:lnTo>
                <a:cubicBezTo>
                  <a:pt x="44649" y="2385211"/>
                  <a:pt x="0" y="2340562"/>
                  <a:pt x="0" y="2285485"/>
                </a:cubicBezTo>
                <a:lnTo>
                  <a:pt x="0" y="99726"/>
                </a:lnTo>
                <a:cubicBezTo>
                  <a:pt x="0" y="44686"/>
                  <a:pt x="44686" y="0"/>
                  <a:pt x="99726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4883" y="4305014"/>
            <a:ext cx="145440" cy="166217"/>
          </a:xfrm>
          <a:custGeom>
            <a:avLst/>
            <a:gdLst/>
            <a:ahLst/>
            <a:cxnLst/>
            <a:rect l="l" t="t" r="r" b="b"/>
            <a:pathLst>
              <a:path w="145440" h="166217">
                <a:moveTo>
                  <a:pt x="25971" y="33763"/>
                </a:moveTo>
                <a:cubicBezTo>
                  <a:pt x="30272" y="33763"/>
                  <a:pt x="33763" y="30272"/>
                  <a:pt x="33763" y="25971"/>
                </a:cubicBezTo>
                <a:cubicBezTo>
                  <a:pt x="33763" y="21671"/>
                  <a:pt x="30272" y="18180"/>
                  <a:pt x="25971" y="18180"/>
                </a:cubicBezTo>
                <a:cubicBezTo>
                  <a:pt x="21671" y="18180"/>
                  <a:pt x="18180" y="21671"/>
                  <a:pt x="18180" y="25971"/>
                </a:cubicBezTo>
                <a:cubicBezTo>
                  <a:pt x="18180" y="30272"/>
                  <a:pt x="21671" y="33763"/>
                  <a:pt x="25971" y="33763"/>
                </a:cubicBezTo>
                <a:close/>
                <a:moveTo>
                  <a:pt x="51943" y="25971"/>
                </a:moveTo>
                <a:cubicBezTo>
                  <a:pt x="51943" y="36620"/>
                  <a:pt x="45547" y="45775"/>
                  <a:pt x="36360" y="49768"/>
                </a:cubicBezTo>
                <a:lnTo>
                  <a:pt x="36360" y="72720"/>
                </a:lnTo>
                <a:lnTo>
                  <a:pt x="93497" y="72720"/>
                </a:lnTo>
                <a:cubicBezTo>
                  <a:pt x="102100" y="72720"/>
                  <a:pt x="109080" y="65740"/>
                  <a:pt x="109080" y="57137"/>
                </a:cubicBezTo>
                <a:lnTo>
                  <a:pt x="109080" y="49768"/>
                </a:lnTo>
                <a:cubicBezTo>
                  <a:pt x="99892" y="45775"/>
                  <a:pt x="93497" y="36620"/>
                  <a:pt x="93497" y="25971"/>
                </a:cubicBezTo>
                <a:cubicBezTo>
                  <a:pt x="93497" y="11622"/>
                  <a:pt x="105119" y="0"/>
                  <a:pt x="119468" y="0"/>
                </a:cubicBezTo>
                <a:cubicBezTo>
                  <a:pt x="133817" y="0"/>
                  <a:pt x="145440" y="11622"/>
                  <a:pt x="145440" y="25971"/>
                </a:cubicBezTo>
                <a:cubicBezTo>
                  <a:pt x="145440" y="36620"/>
                  <a:pt x="139044" y="45775"/>
                  <a:pt x="129857" y="49768"/>
                </a:cubicBezTo>
                <a:lnTo>
                  <a:pt x="129857" y="57137"/>
                </a:lnTo>
                <a:cubicBezTo>
                  <a:pt x="129857" y="77232"/>
                  <a:pt x="113592" y="93497"/>
                  <a:pt x="93497" y="93497"/>
                </a:cubicBezTo>
                <a:lnTo>
                  <a:pt x="36360" y="93497"/>
                </a:lnTo>
                <a:lnTo>
                  <a:pt x="36360" y="116449"/>
                </a:lnTo>
                <a:cubicBezTo>
                  <a:pt x="45547" y="120442"/>
                  <a:pt x="51943" y="129597"/>
                  <a:pt x="51943" y="140245"/>
                </a:cubicBezTo>
                <a:cubicBezTo>
                  <a:pt x="51943" y="154595"/>
                  <a:pt x="40321" y="166217"/>
                  <a:pt x="25971" y="166217"/>
                </a:cubicBezTo>
                <a:cubicBezTo>
                  <a:pt x="11622" y="166217"/>
                  <a:pt x="0" y="154595"/>
                  <a:pt x="0" y="140245"/>
                </a:cubicBezTo>
                <a:cubicBezTo>
                  <a:pt x="0" y="129597"/>
                  <a:pt x="6395" y="120442"/>
                  <a:pt x="15583" y="116449"/>
                </a:cubicBezTo>
                <a:lnTo>
                  <a:pt x="15583" y="49800"/>
                </a:lnTo>
                <a:cubicBezTo>
                  <a:pt x="6395" y="45775"/>
                  <a:pt x="0" y="36620"/>
                  <a:pt x="0" y="25971"/>
                </a:cubicBezTo>
                <a:cubicBezTo>
                  <a:pt x="0" y="11622"/>
                  <a:pt x="11622" y="0"/>
                  <a:pt x="25971" y="0"/>
                </a:cubicBezTo>
                <a:cubicBezTo>
                  <a:pt x="40321" y="0"/>
                  <a:pt x="51943" y="11622"/>
                  <a:pt x="51943" y="25971"/>
                </a:cubicBezTo>
                <a:close/>
                <a:moveTo>
                  <a:pt x="127260" y="25971"/>
                </a:moveTo>
                <a:cubicBezTo>
                  <a:pt x="127260" y="21671"/>
                  <a:pt x="123768" y="18180"/>
                  <a:pt x="119468" y="18180"/>
                </a:cubicBezTo>
                <a:cubicBezTo>
                  <a:pt x="115168" y="18180"/>
                  <a:pt x="111677" y="21671"/>
                  <a:pt x="111677" y="25971"/>
                </a:cubicBezTo>
                <a:cubicBezTo>
                  <a:pt x="111677" y="30272"/>
                  <a:pt x="115168" y="33763"/>
                  <a:pt x="119468" y="33763"/>
                </a:cubicBezTo>
                <a:cubicBezTo>
                  <a:pt x="123768" y="33763"/>
                  <a:pt x="127260" y="30272"/>
                  <a:pt x="127260" y="25971"/>
                </a:cubicBezTo>
                <a:close/>
                <a:moveTo>
                  <a:pt x="25971" y="148037"/>
                </a:moveTo>
                <a:cubicBezTo>
                  <a:pt x="30272" y="148037"/>
                  <a:pt x="33763" y="144546"/>
                  <a:pt x="33763" y="140245"/>
                </a:cubicBezTo>
                <a:cubicBezTo>
                  <a:pt x="33763" y="135945"/>
                  <a:pt x="30272" y="132454"/>
                  <a:pt x="25971" y="132454"/>
                </a:cubicBezTo>
                <a:cubicBezTo>
                  <a:pt x="21671" y="132454"/>
                  <a:pt x="18180" y="135945"/>
                  <a:pt x="18180" y="140245"/>
                </a:cubicBezTo>
                <a:cubicBezTo>
                  <a:pt x="18180" y="144546"/>
                  <a:pt x="21671" y="148037"/>
                  <a:pt x="25971" y="14803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0" name="Text 7"/>
          <p:cNvSpPr/>
          <p:nvPr/>
        </p:nvSpPr>
        <p:spPr>
          <a:xfrm>
            <a:off x="781219" y="4271771"/>
            <a:ext cx="972368" cy="232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行业技术趋同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3718" y="4604204"/>
            <a:ext cx="5476843" cy="21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2025年12月</a:t>
            </a:r>
            <a:r>
              <a:rPr lang="en-US" sz="10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，OpenAI事实上采纳了Anthropic的Skills框架，双平台在以下方面实现统一：</a:t>
            </a:r>
            <a:endParaRPr lang="en-US" sz="1600" dirty="0"/>
          </a:p>
        </p:txBody>
      </p:sp>
      <p:sp>
        <p:nvSpPr>
          <p:cNvPr id="7" name="Shape 9"/>
          <p:cNvSpPr/>
          <p:nvPr/>
        </p:nvSpPr>
        <p:spPr>
          <a:xfrm>
            <a:off x="490339" y="4953260"/>
            <a:ext cx="132973" cy="132973"/>
          </a:xfrm>
          <a:custGeom>
            <a:avLst/>
            <a:gdLst/>
            <a:ahLst/>
            <a:cxnLst/>
            <a:rect l="l" t="t" r="r" b="b"/>
            <a:pathLst>
              <a:path w="132973" h="132973">
                <a:moveTo>
                  <a:pt x="66487" y="132973"/>
                </a:moveTo>
                <a:cubicBezTo>
                  <a:pt x="103182" y="132973"/>
                  <a:pt x="132973" y="103182"/>
                  <a:pt x="132973" y="66487"/>
                </a:cubicBezTo>
                <a:cubicBezTo>
                  <a:pt x="132973" y="29792"/>
                  <a:pt x="103182" y="0"/>
                  <a:pt x="66487" y="0"/>
                </a:cubicBezTo>
                <a:cubicBezTo>
                  <a:pt x="29792" y="0"/>
                  <a:pt x="0" y="29792"/>
                  <a:pt x="0" y="66487"/>
                </a:cubicBezTo>
                <a:cubicBezTo>
                  <a:pt x="0" y="103182"/>
                  <a:pt x="29792" y="132973"/>
                  <a:pt x="66487" y="132973"/>
                </a:cubicBezTo>
                <a:close/>
                <a:moveTo>
                  <a:pt x="88407" y="55241"/>
                </a:moveTo>
                <a:lnTo>
                  <a:pt x="67629" y="88484"/>
                </a:lnTo>
                <a:cubicBezTo>
                  <a:pt x="66539" y="90225"/>
                  <a:pt x="64669" y="91315"/>
                  <a:pt x="62617" y="91419"/>
                </a:cubicBezTo>
                <a:cubicBezTo>
                  <a:pt x="60565" y="91523"/>
                  <a:pt x="58591" y="90588"/>
                  <a:pt x="57371" y="88926"/>
                </a:cubicBezTo>
                <a:lnTo>
                  <a:pt x="44904" y="72304"/>
                </a:lnTo>
                <a:cubicBezTo>
                  <a:pt x="42827" y="69551"/>
                  <a:pt x="43398" y="65656"/>
                  <a:pt x="46151" y="63578"/>
                </a:cubicBezTo>
                <a:cubicBezTo>
                  <a:pt x="48904" y="61500"/>
                  <a:pt x="52800" y="62072"/>
                  <a:pt x="54878" y="64825"/>
                </a:cubicBezTo>
                <a:lnTo>
                  <a:pt x="61890" y="74174"/>
                </a:lnTo>
                <a:lnTo>
                  <a:pt x="77836" y="48644"/>
                </a:lnTo>
                <a:cubicBezTo>
                  <a:pt x="79654" y="45736"/>
                  <a:pt x="83498" y="44827"/>
                  <a:pt x="86433" y="46671"/>
                </a:cubicBezTo>
                <a:cubicBezTo>
                  <a:pt x="89367" y="48515"/>
                  <a:pt x="90251" y="52332"/>
                  <a:pt x="88407" y="5526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3" name="Text 10"/>
          <p:cNvSpPr/>
          <p:nvPr/>
        </p:nvSpPr>
        <p:spPr>
          <a:xfrm>
            <a:off x="706421" y="4920016"/>
            <a:ext cx="3016834" cy="2077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文件结构：均采用</a:t>
            </a:r>
            <a:r>
              <a:rPr lang="en-US" sz="1045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SKILL.md </a:t>
            </a:r>
            <a:r>
              <a:rPr lang="en-US" sz="10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YAML前置元数据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90339" y="5223362"/>
            <a:ext cx="132973" cy="132973"/>
          </a:xfrm>
          <a:custGeom>
            <a:avLst/>
            <a:gdLst/>
            <a:ahLst/>
            <a:cxnLst/>
            <a:rect l="l" t="t" r="r" b="b"/>
            <a:pathLst>
              <a:path w="132973" h="132973">
                <a:moveTo>
                  <a:pt x="66487" y="132973"/>
                </a:moveTo>
                <a:cubicBezTo>
                  <a:pt x="103182" y="132973"/>
                  <a:pt x="132973" y="103182"/>
                  <a:pt x="132973" y="66487"/>
                </a:cubicBezTo>
                <a:cubicBezTo>
                  <a:pt x="132973" y="29792"/>
                  <a:pt x="103182" y="0"/>
                  <a:pt x="66487" y="0"/>
                </a:cubicBezTo>
                <a:cubicBezTo>
                  <a:pt x="29792" y="0"/>
                  <a:pt x="0" y="29792"/>
                  <a:pt x="0" y="66487"/>
                </a:cubicBezTo>
                <a:cubicBezTo>
                  <a:pt x="0" y="103182"/>
                  <a:pt x="29792" y="132973"/>
                  <a:pt x="66487" y="132973"/>
                </a:cubicBezTo>
                <a:close/>
                <a:moveTo>
                  <a:pt x="88407" y="55241"/>
                </a:moveTo>
                <a:lnTo>
                  <a:pt x="67629" y="88484"/>
                </a:lnTo>
                <a:cubicBezTo>
                  <a:pt x="66539" y="90225"/>
                  <a:pt x="64669" y="91315"/>
                  <a:pt x="62617" y="91419"/>
                </a:cubicBezTo>
                <a:cubicBezTo>
                  <a:pt x="60565" y="91523"/>
                  <a:pt x="58591" y="90588"/>
                  <a:pt x="57371" y="88926"/>
                </a:cubicBezTo>
                <a:lnTo>
                  <a:pt x="44904" y="72304"/>
                </a:lnTo>
                <a:cubicBezTo>
                  <a:pt x="42827" y="69551"/>
                  <a:pt x="43398" y="65656"/>
                  <a:pt x="46151" y="63578"/>
                </a:cubicBezTo>
                <a:cubicBezTo>
                  <a:pt x="48904" y="61500"/>
                  <a:pt x="52800" y="62072"/>
                  <a:pt x="54878" y="64825"/>
                </a:cubicBezTo>
                <a:lnTo>
                  <a:pt x="61890" y="74174"/>
                </a:lnTo>
                <a:lnTo>
                  <a:pt x="77836" y="48644"/>
                </a:lnTo>
                <a:cubicBezTo>
                  <a:pt x="79654" y="45736"/>
                  <a:pt x="83498" y="44827"/>
                  <a:pt x="86433" y="46671"/>
                </a:cubicBezTo>
                <a:cubicBezTo>
                  <a:pt x="89367" y="48515"/>
                  <a:pt x="90251" y="52332"/>
                  <a:pt x="88407" y="5526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5" name="Text 12"/>
          <p:cNvSpPr/>
          <p:nvPr/>
        </p:nvSpPr>
        <p:spPr>
          <a:xfrm>
            <a:off x="706421" y="5190119"/>
            <a:ext cx="2169129" cy="199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核心概念：Skill、元数据、渐进披露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90339" y="5489309"/>
            <a:ext cx="132973" cy="132973"/>
          </a:xfrm>
          <a:custGeom>
            <a:avLst/>
            <a:gdLst/>
            <a:ahLst/>
            <a:cxnLst/>
            <a:rect l="l" t="t" r="r" b="b"/>
            <a:pathLst>
              <a:path w="132973" h="132973">
                <a:moveTo>
                  <a:pt x="66487" y="132973"/>
                </a:moveTo>
                <a:cubicBezTo>
                  <a:pt x="103182" y="132973"/>
                  <a:pt x="132973" y="103182"/>
                  <a:pt x="132973" y="66487"/>
                </a:cubicBezTo>
                <a:cubicBezTo>
                  <a:pt x="132973" y="29792"/>
                  <a:pt x="103182" y="0"/>
                  <a:pt x="66487" y="0"/>
                </a:cubicBezTo>
                <a:cubicBezTo>
                  <a:pt x="29792" y="0"/>
                  <a:pt x="0" y="29792"/>
                  <a:pt x="0" y="66487"/>
                </a:cubicBezTo>
                <a:cubicBezTo>
                  <a:pt x="0" y="103182"/>
                  <a:pt x="29792" y="132973"/>
                  <a:pt x="66487" y="132973"/>
                </a:cubicBezTo>
                <a:close/>
                <a:moveTo>
                  <a:pt x="88407" y="55241"/>
                </a:moveTo>
                <a:lnTo>
                  <a:pt x="67629" y="88484"/>
                </a:lnTo>
                <a:cubicBezTo>
                  <a:pt x="66539" y="90225"/>
                  <a:pt x="64669" y="91315"/>
                  <a:pt x="62617" y="91419"/>
                </a:cubicBezTo>
                <a:cubicBezTo>
                  <a:pt x="60565" y="91523"/>
                  <a:pt x="58591" y="90588"/>
                  <a:pt x="57371" y="88926"/>
                </a:cubicBezTo>
                <a:lnTo>
                  <a:pt x="44904" y="72304"/>
                </a:lnTo>
                <a:cubicBezTo>
                  <a:pt x="42827" y="69551"/>
                  <a:pt x="43398" y="65656"/>
                  <a:pt x="46151" y="63578"/>
                </a:cubicBezTo>
                <a:cubicBezTo>
                  <a:pt x="48904" y="61500"/>
                  <a:pt x="52800" y="62072"/>
                  <a:pt x="54878" y="64825"/>
                </a:cubicBezTo>
                <a:lnTo>
                  <a:pt x="61890" y="74174"/>
                </a:lnTo>
                <a:lnTo>
                  <a:pt x="77836" y="48644"/>
                </a:lnTo>
                <a:cubicBezTo>
                  <a:pt x="79654" y="45736"/>
                  <a:pt x="83498" y="44827"/>
                  <a:pt x="86433" y="46671"/>
                </a:cubicBezTo>
                <a:cubicBezTo>
                  <a:pt x="89367" y="48515"/>
                  <a:pt x="90251" y="52332"/>
                  <a:pt x="88407" y="5526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4"/>
          <p:cNvSpPr/>
          <p:nvPr/>
        </p:nvSpPr>
        <p:spPr>
          <a:xfrm>
            <a:off x="706421" y="5456065"/>
            <a:ext cx="2260548" cy="199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开放标准：Anthropic推动行业标准化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65214" y="4134642"/>
            <a:ext cx="5684613" cy="2385211"/>
          </a:xfrm>
          <a:custGeom>
            <a:avLst/>
            <a:gdLst/>
            <a:ahLst/>
            <a:cxnLst/>
            <a:rect l="l" t="t" r="r" b="b"/>
            <a:pathLst>
              <a:path w="5684613" h="2385211">
                <a:moveTo>
                  <a:pt x="99726" y="0"/>
                </a:moveTo>
                <a:lnTo>
                  <a:pt x="5584888" y="0"/>
                </a:lnTo>
                <a:cubicBezTo>
                  <a:pt x="5639965" y="0"/>
                  <a:pt x="5684613" y="44649"/>
                  <a:pt x="5684613" y="99726"/>
                </a:cubicBezTo>
                <a:lnTo>
                  <a:pt x="5684613" y="2285485"/>
                </a:lnTo>
                <a:cubicBezTo>
                  <a:pt x="5684613" y="2340562"/>
                  <a:pt x="5639965" y="2385211"/>
                  <a:pt x="5584888" y="2385211"/>
                </a:cubicBezTo>
                <a:lnTo>
                  <a:pt x="99726" y="2385211"/>
                </a:lnTo>
                <a:cubicBezTo>
                  <a:pt x="44649" y="2385211"/>
                  <a:pt x="0" y="2340562"/>
                  <a:pt x="0" y="2285485"/>
                </a:cubicBezTo>
                <a:lnTo>
                  <a:pt x="0" y="99726"/>
                </a:lnTo>
                <a:cubicBezTo>
                  <a:pt x="0" y="44686"/>
                  <a:pt x="44686" y="0"/>
                  <a:pt x="9972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2343" y="4305014"/>
            <a:ext cx="207771" cy="166217"/>
          </a:xfrm>
          <a:custGeom>
            <a:avLst/>
            <a:gdLst/>
            <a:ahLst/>
            <a:cxnLst/>
            <a:rect l="l" t="t" r="r" b="b"/>
            <a:pathLst>
              <a:path w="207771" h="166217">
                <a:moveTo>
                  <a:pt x="124663" y="10389"/>
                </a:moveTo>
                <a:lnTo>
                  <a:pt x="166217" y="10389"/>
                </a:lnTo>
                <a:cubicBezTo>
                  <a:pt x="171963" y="10389"/>
                  <a:pt x="176605" y="15031"/>
                  <a:pt x="176605" y="20777"/>
                </a:cubicBezTo>
                <a:cubicBezTo>
                  <a:pt x="176605" y="26523"/>
                  <a:pt x="171963" y="31166"/>
                  <a:pt x="166217" y="31166"/>
                </a:cubicBezTo>
                <a:lnTo>
                  <a:pt x="129337" y="31166"/>
                </a:lnTo>
                <a:cubicBezTo>
                  <a:pt x="127649" y="39541"/>
                  <a:pt x="121903" y="46456"/>
                  <a:pt x="114274" y="49768"/>
                </a:cubicBezTo>
                <a:lnTo>
                  <a:pt x="114274" y="145440"/>
                </a:lnTo>
                <a:lnTo>
                  <a:pt x="166217" y="145440"/>
                </a:lnTo>
                <a:cubicBezTo>
                  <a:pt x="171963" y="145440"/>
                  <a:pt x="176605" y="150082"/>
                  <a:pt x="176605" y="155828"/>
                </a:cubicBezTo>
                <a:cubicBezTo>
                  <a:pt x="176605" y="161574"/>
                  <a:pt x="171963" y="166217"/>
                  <a:pt x="166217" y="166217"/>
                </a:cubicBezTo>
                <a:lnTo>
                  <a:pt x="41554" y="166217"/>
                </a:lnTo>
                <a:cubicBezTo>
                  <a:pt x="35808" y="166217"/>
                  <a:pt x="31166" y="161574"/>
                  <a:pt x="31166" y="155828"/>
                </a:cubicBezTo>
                <a:cubicBezTo>
                  <a:pt x="31166" y="150082"/>
                  <a:pt x="35808" y="145440"/>
                  <a:pt x="41554" y="145440"/>
                </a:cubicBezTo>
                <a:lnTo>
                  <a:pt x="93497" y="145440"/>
                </a:lnTo>
                <a:lnTo>
                  <a:pt x="93497" y="49768"/>
                </a:lnTo>
                <a:cubicBezTo>
                  <a:pt x="85868" y="46424"/>
                  <a:pt x="80122" y="39509"/>
                  <a:pt x="78434" y="31166"/>
                </a:cubicBezTo>
                <a:lnTo>
                  <a:pt x="41554" y="31166"/>
                </a:lnTo>
                <a:cubicBezTo>
                  <a:pt x="35808" y="31166"/>
                  <a:pt x="31166" y="26523"/>
                  <a:pt x="31166" y="20777"/>
                </a:cubicBezTo>
                <a:cubicBezTo>
                  <a:pt x="31166" y="15031"/>
                  <a:pt x="35808" y="10389"/>
                  <a:pt x="41554" y="10389"/>
                </a:cubicBezTo>
                <a:lnTo>
                  <a:pt x="83108" y="10389"/>
                </a:lnTo>
                <a:cubicBezTo>
                  <a:pt x="87848" y="4090"/>
                  <a:pt x="95380" y="0"/>
                  <a:pt x="103885" y="0"/>
                </a:cubicBezTo>
                <a:cubicBezTo>
                  <a:pt x="112391" y="0"/>
                  <a:pt x="119923" y="4090"/>
                  <a:pt x="124663" y="10389"/>
                </a:cubicBezTo>
                <a:close/>
                <a:moveTo>
                  <a:pt x="142713" y="103885"/>
                </a:moveTo>
                <a:lnTo>
                  <a:pt x="189721" y="103885"/>
                </a:lnTo>
                <a:lnTo>
                  <a:pt x="166217" y="63565"/>
                </a:lnTo>
                <a:lnTo>
                  <a:pt x="142713" y="103885"/>
                </a:lnTo>
                <a:close/>
                <a:moveTo>
                  <a:pt x="166217" y="135051"/>
                </a:moveTo>
                <a:cubicBezTo>
                  <a:pt x="145797" y="135051"/>
                  <a:pt x="128818" y="124013"/>
                  <a:pt x="125312" y="109437"/>
                </a:cubicBezTo>
                <a:cubicBezTo>
                  <a:pt x="124468" y="105866"/>
                  <a:pt x="125637" y="102197"/>
                  <a:pt x="127487" y="99016"/>
                </a:cubicBezTo>
                <a:lnTo>
                  <a:pt x="158393" y="46034"/>
                </a:lnTo>
                <a:cubicBezTo>
                  <a:pt x="160016" y="43242"/>
                  <a:pt x="163003" y="41554"/>
                  <a:pt x="166217" y="41554"/>
                </a:cubicBezTo>
                <a:cubicBezTo>
                  <a:pt x="169431" y="41554"/>
                  <a:pt x="172417" y="43275"/>
                  <a:pt x="174041" y="46034"/>
                </a:cubicBezTo>
                <a:lnTo>
                  <a:pt x="204947" y="99016"/>
                </a:lnTo>
                <a:cubicBezTo>
                  <a:pt x="206797" y="102197"/>
                  <a:pt x="207966" y="105866"/>
                  <a:pt x="207122" y="109437"/>
                </a:cubicBezTo>
                <a:cubicBezTo>
                  <a:pt x="203616" y="123981"/>
                  <a:pt x="186637" y="135051"/>
                  <a:pt x="166217" y="135051"/>
                </a:cubicBezTo>
                <a:close/>
                <a:moveTo>
                  <a:pt x="41165" y="63565"/>
                </a:moveTo>
                <a:lnTo>
                  <a:pt x="17661" y="103885"/>
                </a:lnTo>
                <a:lnTo>
                  <a:pt x="64701" y="103885"/>
                </a:lnTo>
                <a:lnTo>
                  <a:pt x="41165" y="63565"/>
                </a:lnTo>
                <a:close/>
                <a:moveTo>
                  <a:pt x="292" y="109437"/>
                </a:moveTo>
                <a:cubicBezTo>
                  <a:pt x="-552" y="105866"/>
                  <a:pt x="617" y="102197"/>
                  <a:pt x="2467" y="99016"/>
                </a:cubicBezTo>
                <a:lnTo>
                  <a:pt x="33373" y="46034"/>
                </a:lnTo>
                <a:cubicBezTo>
                  <a:pt x="34996" y="43242"/>
                  <a:pt x="37983" y="41554"/>
                  <a:pt x="41197" y="41554"/>
                </a:cubicBezTo>
                <a:cubicBezTo>
                  <a:pt x="44411" y="41554"/>
                  <a:pt x="47398" y="43275"/>
                  <a:pt x="49021" y="46034"/>
                </a:cubicBezTo>
                <a:lnTo>
                  <a:pt x="79927" y="99016"/>
                </a:lnTo>
                <a:cubicBezTo>
                  <a:pt x="81777" y="102197"/>
                  <a:pt x="82946" y="105866"/>
                  <a:pt x="82102" y="109437"/>
                </a:cubicBezTo>
                <a:cubicBezTo>
                  <a:pt x="78596" y="123981"/>
                  <a:pt x="61617" y="135051"/>
                  <a:pt x="41197" y="135051"/>
                </a:cubicBezTo>
                <a:cubicBezTo>
                  <a:pt x="20777" y="135051"/>
                  <a:pt x="3798" y="124013"/>
                  <a:pt x="292" y="109437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0" name="Text 17"/>
          <p:cNvSpPr/>
          <p:nvPr/>
        </p:nvSpPr>
        <p:spPr>
          <a:xfrm>
            <a:off x="6609844" y="4271771"/>
            <a:ext cx="673178" cy="232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核心差异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18964" y="4604204"/>
            <a:ext cx="5393734" cy="598380"/>
          </a:xfrm>
          <a:custGeom>
            <a:avLst/>
            <a:gdLst/>
            <a:ahLst/>
            <a:cxnLst/>
            <a:rect l="l" t="t" r="r" b="b"/>
            <a:pathLst>
              <a:path w="5393734" h="598380">
                <a:moveTo>
                  <a:pt x="33243" y="0"/>
                </a:moveTo>
                <a:lnTo>
                  <a:pt x="5327248" y="0"/>
                </a:lnTo>
                <a:cubicBezTo>
                  <a:pt x="5363967" y="0"/>
                  <a:pt x="5393734" y="29767"/>
                  <a:pt x="5393734" y="66486"/>
                </a:cubicBezTo>
                <a:lnTo>
                  <a:pt x="5393734" y="531894"/>
                </a:lnTo>
                <a:cubicBezTo>
                  <a:pt x="5393734" y="568614"/>
                  <a:pt x="5363967" y="598380"/>
                  <a:pt x="5327248" y="598380"/>
                </a:cubicBezTo>
                <a:lnTo>
                  <a:pt x="33243" y="598380"/>
                </a:lnTo>
                <a:cubicBezTo>
                  <a:pt x="14884" y="598380"/>
                  <a:pt x="0" y="583497"/>
                  <a:pt x="0" y="56513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6318964" y="4604204"/>
            <a:ext cx="33243" cy="598380"/>
          </a:xfrm>
          <a:custGeom>
            <a:avLst/>
            <a:gdLst/>
            <a:ahLst/>
            <a:cxnLst/>
            <a:rect l="l" t="t" r="r" b="b"/>
            <a:pathLst>
              <a:path w="33243" h="598380">
                <a:moveTo>
                  <a:pt x="33243" y="0"/>
                </a:moveTo>
                <a:lnTo>
                  <a:pt x="33243" y="0"/>
                </a:lnTo>
                <a:lnTo>
                  <a:pt x="33243" y="598380"/>
                </a:lnTo>
                <a:lnTo>
                  <a:pt x="33243" y="598380"/>
                </a:lnTo>
                <a:cubicBezTo>
                  <a:pt x="14884" y="598380"/>
                  <a:pt x="0" y="583497"/>
                  <a:pt x="0" y="56513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3" name="Text 20"/>
          <p:cNvSpPr/>
          <p:nvPr/>
        </p:nvSpPr>
        <p:spPr>
          <a:xfrm>
            <a:off x="6435316" y="4703935"/>
            <a:ext cx="5235828" cy="166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</a:t>
            </a:r>
            <a:r>
              <a:rPr lang="en-US" sz="9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强调：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35316" y="4903395"/>
            <a:ext cx="5244139" cy="199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确定性可靠性、显式权限边界、企业级审计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18964" y="5302315"/>
            <a:ext cx="5393734" cy="598380"/>
          </a:xfrm>
          <a:custGeom>
            <a:avLst/>
            <a:gdLst/>
            <a:ahLst/>
            <a:cxnLst/>
            <a:rect l="l" t="t" r="r" b="b"/>
            <a:pathLst>
              <a:path w="5393734" h="598380">
                <a:moveTo>
                  <a:pt x="33243" y="0"/>
                </a:moveTo>
                <a:lnTo>
                  <a:pt x="5327248" y="0"/>
                </a:lnTo>
                <a:cubicBezTo>
                  <a:pt x="5363967" y="0"/>
                  <a:pt x="5393734" y="29767"/>
                  <a:pt x="5393734" y="66486"/>
                </a:cubicBezTo>
                <a:lnTo>
                  <a:pt x="5393734" y="531894"/>
                </a:lnTo>
                <a:cubicBezTo>
                  <a:pt x="5393734" y="568614"/>
                  <a:pt x="5363967" y="598380"/>
                  <a:pt x="5327248" y="598380"/>
                </a:cubicBezTo>
                <a:lnTo>
                  <a:pt x="33243" y="598380"/>
                </a:lnTo>
                <a:cubicBezTo>
                  <a:pt x="14884" y="598380"/>
                  <a:pt x="0" y="583497"/>
                  <a:pt x="0" y="56513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6318964" y="5302315"/>
            <a:ext cx="33243" cy="598380"/>
          </a:xfrm>
          <a:custGeom>
            <a:avLst/>
            <a:gdLst/>
            <a:ahLst/>
            <a:cxnLst/>
            <a:rect l="l" t="t" r="r" b="b"/>
            <a:pathLst>
              <a:path w="33243" h="598380">
                <a:moveTo>
                  <a:pt x="33243" y="0"/>
                </a:moveTo>
                <a:lnTo>
                  <a:pt x="33243" y="0"/>
                </a:lnTo>
                <a:lnTo>
                  <a:pt x="33243" y="598380"/>
                </a:lnTo>
                <a:lnTo>
                  <a:pt x="33243" y="598380"/>
                </a:lnTo>
                <a:cubicBezTo>
                  <a:pt x="14884" y="598380"/>
                  <a:pt x="0" y="583497"/>
                  <a:pt x="0" y="56513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7" name="Text 24"/>
          <p:cNvSpPr/>
          <p:nvPr/>
        </p:nvSpPr>
        <p:spPr>
          <a:xfrm>
            <a:off x="6435316" y="5402045"/>
            <a:ext cx="5235828" cy="166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</a:t>
            </a:r>
            <a:r>
              <a:rPr lang="en-US" sz="9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强调：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35316" y="5601505"/>
            <a:ext cx="5244139" cy="199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开发者速度、工具编排、生产力优先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06498" y="6004581"/>
            <a:ext cx="5402045" cy="373988"/>
          </a:xfrm>
          <a:custGeom>
            <a:avLst/>
            <a:gdLst/>
            <a:ahLst/>
            <a:cxnLst/>
            <a:rect l="l" t="t" r="r" b="b"/>
            <a:pathLst>
              <a:path w="5402045" h="373988">
                <a:moveTo>
                  <a:pt x="66488" y="0"/>
                </a:moveTo>
                <a:lnTo>
                  <a:pt x="5335557" y="0"/>
                </a:lnTo>
                <a:cubicBezTo>
                  <a:pt x="5372278" y="0"/>
                  <a:pt x="5402045" y="29767"/>
                  <a:pt x="5402045" y="66488"/>
                </a:cubicBezTo>
                <a:lnTo>
                  <a:pt x="5402045" y="307500"/>
                </a:lnTo>
                <a:cubicBezTo>
                  <a:pt x="5402045" y="344220"/>
                  <a:pt x="5372278" y="373988"/>
                  <a:pt x="5335557" y="373988"/>
                </a:cubicBezTo>
                <a:lnTo>
                  <a:pt x="66488" y="373988"/>
                </a:lnTo>
                <a:cubicBezTo>
                  <a:pt x="29767" y="373988"/>
                  <a:pt x="0" y="344220"/>
                  <a:pt x="0" y="307500"/>
                </a:cubicBezTo>
                <a:lnTo>
                  <a:pt x="0" y="66488"/>
                </a:lnTo>
                <a:cubicBezTo>
                  <a:pt x="0" y="29767"/>
                  <a:pt x="29767" y="0"/>
                  <a:pt x="6648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27005" y="6133399"/>
            <a:ext cx="116352" cy="116352"/>
          </a:xfrm>
          <a:custGeom>
            <a:avLst/>
            <a:gdLst/>
            <a:ahLst/>
            <a:cxnLst/>
            <a:rect l="l" t="t" r="r" b="b"/>
            <a:pathLst>
              <a:path w="116352" h="116352">
                <a:moveTo>
                  <a:pt x="58176" y="116352"/>
                </a:moveTo>
                <a:cubicBezTo>
                  <a:pt x="90284" y="116352"/>
                  <a:pt x="116352" y="90284"/>
                  <a:pt x="116352" y="58176"/>
                </a:cubicBezTo>
                <a:cubicBezTo>
                  <a:pt x="116352" y="26068"/>
                  <a:pt x="90284" y="0"/>
                  <a:pt x="58176" y="0"/>
                </a:cubicBezTo>
                <a:cubicBezTo>
                  <a:pt x="26068" y="0"/>
                  <a:pt x="0" y="26068"/>
                  <a:pt x="0" y="58176"/>
                </a:cubicBezTo>
                <a:cubicBezTo>
                  <a:pt x="0" y="90284"/>
                  <a:pt x="26068" y="116352"/>
                  <a:pt x="58176" y="116352"/>
                </a:cubicBezTo>
                <a:close/>
                <a:moveTo>
                  <a:pt x="50904" y="36360"/>
                </a:moveTo>
                <a:cubicBezTo>
                  <a:pt x="50904" y="32346"/>
                  <a:pt x="54162" y="29088"/>
                  <a:pt x="58176" y="29088"/>
                </a:cubicBezTo>
                <a:cubicBezTo>
                  <a:pt x="62189" y="29088"/>
                  <a:pt x="65448" y="32346"/>
                  <a:pt x="65448" y="36360"/>
                </a:cubicBezTo>
                <a:cubicBezTo>
                  <a:pt x="65448" y="40373"/>
                  <a:pt x="62189" y="43632"/>
                  <a:pt x="58176" y="43632"/>
                </a:cubicBezTo>
                <a:cubicBezTo>
                  <a:pt x="54162" y="43632"/>
                  <a:pt x="50904" y="40373"/>
                  <a:pt x="50904" y="36360"/>
                </a:cubicBezTo>
                <a:close/>
                <a:moveTo>
                  <a:pt x="49086" y="50904"/>
                </a:moveTo>
                <a:lnTo>
                  <a:pt x="59994" y="50904"/>
                </a:lnTo>
                <a:cubicBezTo>
                  <a:pt x="63016" y="50904"/>
                  <a:pt x="65448" y="53335"/>
                  <a:pt x="65448" y="56358"/>
                </a:cubicBezTo>
                <a:lnTo>
                  <a:pt x="65448" y="76356"/>
                </a:lnTo>
                <a:lnTo>
                  <a:pt x="67266" y="76356"/>
                </a:lnTo>
                <a:cubicBezTo>
                  <a:pt x="70288" y="76356"/>
                  <a:pt x="72720" y="78787"/>
                  <a:pt x="72720" y="81810"/>
                </a:cubicBezTo>
                <a:cubicBezTo>
                  <a:pt x="72720" y="84832"/>
                  <a:pt x="70288" y="87264"/>
                  <a:pt x="67266" y="87264"/>
                </a:cubicBezTo>
                <a:lnTo>
                  <a:pt x="49086" y="87264"/>
                </a:lnTo>
                <a:cubicBezTo>
                  <a:pt x="46063" y="87264"/>
                  <a:pt x="43632" y="84832"/>
                  <a:pt x="43632" y="81810"/>
                </a:cubicBezTo>
                <a:cubicBezTo>
                  <a:pt x="43632" y="78787"/>
                  <a:pt x="46063" y="76356"/>
                  <a:pt x="49086" y="76356"/>
                </a:cubicBezTo>
                <a:lnTo>
                  <a:pt x="54540" y="76356"/>
                </a:lnTo>
                <a:lnTo>
                  <a:pt x="54540" y="61812"/>
                </a:lnTo>
                <a:lnTo>
                  <a:pt x="49086" y="61812"/>
                </a:lnTo>
                <a:cubicBezTo>
                  <a:pt x="46063" y="61812"/>
                  <a:pt x="43632" y="59380"/>
                  <a:pt x="43632" y="56358"/>
                </a:cubicBezTo>
                <a:cubicBezTo>
                  <a:pt x="43632" y="53335"/>
                  <a:pt x="46063" y="50904"/>
                  <a:pt x="49086" y="5090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1" name="Text 28"/>
          <p:cNvSpPr/>
          <p:nvPr/>
        </p:nvSpPr>
        <p:spPr>
          <a:xfrm>
            <a:off x="6603487" y="6108466"/>
            <a:ext cx="5059346" cy="166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差异主要在</a:t>
            </a:r>
            <a:r>
              <a:rPr lang="en-US" sz="91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治理哲学</a:t>
            </a:r>
            <a:r>
              <a:rPr lang="en-US" sz="9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，而非技术架构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54858cd4b871d0baec4e2899202cb91bd13617e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638300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>
                <a:moveTo>
                  <a:pt x="76201" y="0"/>
                </a:moveTo>
                <a:lnTo>
                  <a:pt x="1352549" y="0"/>
                </a:lnTo>
                <a:cubicBezTo>
                  <a:pt x="1394634" y="0"/>
                  <a:pt x="1428750" y="34116"/>
                  <a:pt x="1428750" y="76201"/>
                </a:cubicBezTo>
                <a:lnTo>
                  <a:pt x="1428750" y="352424"/>
                </a:lnTo>
                <a:cubicBezTo>
                  <a:pt x="1428750" y="394509"/>
                  <a:pt x="1394634" y="428625"/>
                  <a:pt x="13525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738313"/>
            <a:ext cx="12019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00288"/>
            <a:ext cx="3771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功能价值与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效能证据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43388"/>
            <a:ext cx="35433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量化收益与认知风险的实证研究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9" name="Text 6"/>
          <p:cNvSpPr/>
          <p:nvPr/>
        </p:nvSpPr>
        <p:spPr>
          <a:xfrm>
            <a:off x="1524000" y="4995863"/>
            <a:ext cx="1838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效率提升 vs 认知卸载风险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873" y="327873"/>
            <a:ext cx="1878183" cy="267155"/>
          </a:xfrm>
          <a:custGeom>
            <a:avLst/>
            <a:gdLst/>
            <a:ahLst/>
            <a:cxnLst/>
            <a:rect l="l" t="t" r="r" b="b"/>
            <a:pathLst>
              <a:path w="1878183" h="267155">
                <a:moveTo>
                  <a:pt x="32382" y="0"/>
                </a:moveTo>
                <a:lnTo>
                  <a:pt x="1845801" y="0"/>
                </a:lnTo>
                <a:cubicBezTo>
                  <a:pt x="1863685" y="0"/>
                  <a:pt x="1878183" y="14498"/>
                  <a:pt x="1878183" y="32382"/>
                </a:cubicBezTo>
                <a:lnTo>
                  <a:pt x="1878183" y="234773"/>
                </a:lnTo>
                <a:cubicBezTo>
                  <a:pt x="1878183" y="252658"/>
                  <a:pt x="1863685" y="267155"/>
                  <a:pt x="1845801" y="267155"/>
                </a:cubicBezTo>
                <a:lnTo>
                  <a:pt x="32382" y="267155"/>
                </a:lnTo>
                <a:cubicBezTo>
                  <a:pt x="14498" y="267155"/>
                  <a:pt x="0" y="252658"/>
                  <a:pt x="0" y="234773"/>
                </a:cubicBezTo>
                <a:lnTo>
                  <a:pt x="0" y="32382"/>
                </a:lnTo>
                <a:cubicBezTo>
                  <a:pt x="0" y="14510"/>
                  <a:pt x="14510" y="0"/>
                  <a:pt x="3238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9068" y="392637"/>
            <a:ext cx="1734802" cy="1497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b="1" kern="0" spc="4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VALUE PROPOSITIONS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3825" y="663841"/>
            <a:ext cx="11690072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三个核心功能维度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873" y="1121243"/>
            <a:ext cx="11536255" cy="1611028"/>
          </a:xfrm>
          <a:custGeom>
            <a:avLst/>
            <a:gdLst/>
            <a:ahLst/>
            <a:cxnLst/>
            <a:rect l="l" t="t" r="r" b="b"/>
            <a:pathLst>
              <a:path w="11536255" h="1611028">
                <a:moveTo>
                  <a:pt x="97145" y="0"/>
                </a:moveTo>
                <a:lnTo>
                  <a:pt x="11439110" y="0"/>
                </a:lnTo>
                <a:cubicBezTo>
                  <a:pt x="11492762" y="0"/>
                  <a:pt x="11536255" y="43493"/>
                  <a:pt x="11536255" y="97145"/>
                </a:cubicBezTo>
                <a:lnTo>
                  <a:pt x="11536255" y="1513883"/>
                </a:lnTo>
                <a:cubicBezTo>
                  <a:pt x="11536255" y="1567535"/>
                  <a:pt x="11492762" y="1611028"/>
                  <a:pt x="11439110" y="1611028"/>
                </a:cubicBezTo>
                <a:lnTo>
                  <a:pt x="97145" y="1611028"/>
                </a:lnTo>
                <a:cubicBezTo>
                  <a:pt x="43493" y="1611028"/>
                  <a:pt x="0" y="1567535"/>
                  <a:pt x="0" y="1513883"/>
                </a:cubicBezTo>
                <a:lnTo>
                  <a:pt x="0" y="97145"/>
                </a:lnTo>
                <a:cubicBezTo>
                  <a:pt x="0" y="43493"/>
                  <a:pt x="43493" y="0"/>
                  <a:pt x="97145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450" y="1254821"/>
            <a:ext cx="453355" cy="453355"/>
          </a:xfrm>
          <a:custGeom>
            <a:avLst/>
            <a:gdLst/>
            <a:ahLst/>
            <a:cxnLst/>
            <a:rect l="l" t="t" r="r" b="b"/>
            <a:pathLst>
              <a:path w="453355" h="453355">
                <a:moveTo>
                  <a:pt x="97149" y="0"/>
                </a:moveTo>
                <a:lnTo>
                  <a:pt x="356205" y="0"/>
                </a:lnTo>
                <a:cubicBezTo>
                  <a:pt x="409859" y="0"/>
                  <a:pt x="453355" y="43495"/>
                  <a:pt x="453355" y="97149"/>
                </a:cubicBezTo>
                <a:lnTo>
                  <a:pt x="453355" y="356205"/>
                </a:lnTo>
                <a:cubicBezTo>
                  <a:pt x="453355" y="409859"/>
                  <a:pt x="409859" y="453355"/>
                  <a:pt x="356205" y="453355"/>
                </a:cubicBezTo>
                <a:lnTo>
                  <a:pt x="97149" y="453355"/>
                </a:lnTo>
                <a:cubicBezTo>
                  <a:pt x="43495" y="453355"/>
                  <a:pt x="0" y="409859"/>
                  <a:pt x="0" y="356205"/>
                </a:cubicBezTo>
                <a:lnTo>
                  <a:pt x="0" y="97149"/>
                </a:lnTo>
                <a:cubicBezTo>
                  <a:pt x="0" y="43495"/>
                  <a:pt x="43495" y="0"/>
                  <a:pt x="97149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90980" y="1384351"/>
            <a:ext cx="194295" cy="194295"/>
          </a:xfrm>
          <a:custGeom>
            <a:avLst/>
            <a:gdLst/>
            <a:ahLst/>
            <a:cxnLst/>
            <a:rect l="l" t="t" r="r" b="b"/>
            <a:pathLst>
              <a:path w="194295" h="194295">
                <a:moveTo>
                  <a:pt x="45538" y="21251"/>
                </a:moveTo>
                <a:cubicBezTo>
                  <a:pt x="45538" y="9525"/>
                  <a:pt x="55063" y="0"/>
                  <a:pt x="66789" y="0"/>
                </a:cubicBezTo>
                <a:lnTo>
                  <a:pt x="75896" y="0"/>
                </a:lnTo>
                <a:cubicBezTo>
                  <a:pt x="82613" y="0"/>
                  <a:pt x="88040" y="5427"/>
                  <a:pt x="88040" y="12143"/>
                </a:cubicBezTo>
                <a:lnTo>
                  <a:pt x="88040" y="182151"/>
                </a:lnTo>
                <a:cubicBezTo>
                  <a:pt x="88040" y="188868"/>
                  <a:pt x="82613" y="194295"/>
                  <a:pt x="75896" y="194295"/>
                </a:cubicBezTo>
                <a:lnTo>
                  <a:pt x="63753" y="194295"/>
                </a:lnTo>
                <a:cubicBezTo>
                  <a:pt x="52444" y="194295"/>
                  <a:pt x="42919" y="186553"/>
                  <a:pt x="40225" y="176080"/>
                </a:cubicBezTo>
                <a:cubicBezTo>
                  <a:pt x="39959" y="176080"/>
                  <a:pt x="39732" y="176080"/>
                  <a:pt x="39466" y="176080"/>
                </a:cubicBezTo>
                <a:cubicBezTo>
                  <a:pt x="22693" y="176080"/>
                  <a:pt x="9108" y="162494"/>
                  <a:pt x="9108" y="145721"/>
                </a:cubicBezTo>
                <a:cubicBezTo>
                  <a:pt x="9108" y="138890"/>
                  <a:pt x="11384" y="132591"/>
                  <a:pt x="15179" y="127506"/>
                </a:cubicBezTo>
                <a:cubicBezTo>
                  <a:pt x="7817" y="121966"/>
                  <a:pt x="3036" y="113162"/>
                  <a:pt x="3036" y="103219"/>
                </a:cubicBezTo>
                <a:cubicBezTo>
                  <a:pt x="3036" y="91493"/>
                  <a:pt x="9715" y="81285"/>
                  <a:pt x="19429" y="76238"/>
                </a:cubicBezTo>
                <a:cubicBezTo>
                  <a:pt x="16735" y="71684"/>
                  <a:pt x="15179" y="66371"/>
                  <a:pt x="15179" y="60717"/>
                </a:cubicBezTo>
                <a:cubicBezTo>
                  <a:pt x="15179" y="43944"/>
                  <a:pt x="28765" y="30359"/>
                  <a:pt x="45538" y="30359"/>
                </a:cubicBezTo>
                <a:lnTo>
                  <a:pt x="45538" y="21251"/>
                </a:lnTo>
                <a:close/>
                <a:moveTo>
                  <a:pt x="148757" y="21251"/>
                </a:moveTo>
                <a:lnTo>
                  <a:pt x="148757" y="30359"/>
                </a:lnTo>
                <a:cubicBezTo>
                  <a:pt x="165530" y="30359"/>
                  <a:pt x="179116" y="43944"/>
                  <a:pt x="179116" y="60717"/>
                </a:cubicBezTo>
                <a:cubicBezTo>
                  <a:pt x="179116" y="66409"/>
                  <a:pt x="177560" y="71722"/>
                  <a:pt x="174865" y="76238"/>
                </a:cubicBezTo>
                <a:cubicBezTo>
                  <a:pt x="184618" y="81285"/>
                  <a:pt x="191259" y="91455"/>
                  <a:pt x="191259" y="103219"/>
                </a:cubicBezTo>
                <a:cubicBezTo>
                  <a:pt x="191259" y="113162"/>
                  <a:pt x="186477" y="121966"/>
                  <a:pt x="179116" y="127506"/>
                </a:cubicBezTo>
                <a:cubicBezTo>
                  <a:pt x="182910" y="132591"/>
                  <a:pt x="185187" y="138890"/>
                  <a:pt x="185187" y="145721"/>
                </a:cubicBezTo>
                <a:cubicBezTo>
                  <a:pt x="185187" y="162494"/>
                  <a:pt x="171602" y="176080"/>
                  <a:pt x="154829" y="176080"/>
                </a:cubicBezTo>
                <a:cubicBezTo>
                  <a:pt x="154563" y="176080"/>
                  <a:pt x="154335" y="176080"/>
                  <a:pt x="154070" y="176080"/>
                </a:cubicBezTo>
                <a:cubicBezTo>
                  <a:pt x="151375" y="186553"/>
                  <a:pt x="141850" y="194295"/>
                  <a:pt x="130542" y="194295"/>
                </a:cubicBezTo>
                <a:lnTo>
                  <a:pt x="118398" y="194295"/>
                </a:lnTo>
                <a:cubicBezTo>
                  <a:pt x="111682" y="194295"/>
                  <a:pt x="106255" y="188868"/>
                  <a:pt x="106255" y="182151"/>
                </a:cubicBezTo>
                <a:lnTo>
                  <a:pt x="106255" y="12143"/>
                </a:lnTo>
                <a:cubicBezTo>
                  <a:pt x="106255" y="5427"/>
                  <a:pt x="111682" y="0"/>
                  <a:pt x="118398" y="0"/>
                </a:cubicBezTo>
                <a:lnTo>
                  <a:pt x="127506" y="0"/>
                </a:lnTo>
                <a:cubicBezTo>
                  <a:pt x="139232" y="0"/>
                  <a:pt x="148757" y="9525"/>
                  <a:pt x="148757" y="2125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6"/>
          <p:cNvSpPr/>
          <p:nvPr/>
        </p:nvSpPr>
        <p:spPr>
          <a:xfrm>
            <a:off x="1044335" y="1254821"/>
            <a:ext cx="10767171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领域知识注入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4335" y="1546263"/>
            <a:ext cx="10750980" cy="210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将组织特有的专业知识（技术栈规范、安全清单、架构决策记录等）</a:t>
            </a:r>
            <a:r>
              <a:rPr lang="en-US" sz="10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系统性地注入Agent</a:t>
            </a:r>
            <a:r>
              <a:rPr lang="en-US" sz="102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0526" y="1853896"/>
            <a:ext cx="3481116" cy="744797"/>
          </a:xfrm>
          <a:custGeom>
            <a:avLst/>
            <a:gdLst/>
            <a:ahLst/>
            <a:cxnLst/>
            <a:rect l="l" t="t" r="r" b="b"/>
            <a:pathLst>
              <a:path w="3481116" h="744797">
                <a:moveTo>
                  <a:pt x="32382" y="0"/>
                </a:moveTo>
                <a:lnTo>
                  <a:pt x="3416348" y="0"/>
                </a:lnTo>
                <a:cubicBezTo>
                  <a:pt x="3452118" y="0"/>
                  <a:pt x="3481116" y="28997"/>
                  <a:pt x="3481116" y="64768"/>
                </a:cubicBezTo>
                <a:lnTo>
                  <a:pt x="3481116" y="680029"/>
                </a:lnTo>
                <a:cubicBezTo>
                  <a:pt x="3481116" y="715799"/>
                  <a:pt x="3452118" y="744797"/>
                  <a:pt x="3416348" y="744797"/>
                </a:cubicBezTo>
                <a:lnTo>
                  <a:pt x="32382" y="744797"/>
                </a:lnTo>
                <a:cubicBezTo>
                  <a:pt x="14498" y="744797"/>
                  <a:pt x="0" y="730299"/>
                  <a:pt x="0" y="712414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1060526" y="1853896"/>
            <a:ext cx="32382" cy="744797"/>
          </a:xfrm>
          <a:custGeom>
            <a:avLst/>
            <a:gdLst/>
            <a:ahLst/>
            <a:cxnLst/>
            <a:rect l="l" t="t" r="r" b="b"/>
            <a:pathLst>
              <a:path w="32382" h="744797">
                <a:moveTo>
                  <a:pt x="32382" y="0"/>
                </a:moveTo>
                <a:lnTo>
                  <a:pt x="32382" y="0"/>
                </a:lnTo>
                <a:lnTo>
                  <a:pt x="32382" y="744797"/>
                </a:lnTo>
                <a:lnTo>
                  <a:pt x="32382" y="744797"/>
                </a:lnTo>
                <a:cubicBezTo>
                  <a:pt x="14498" y="744797"/>
                  <a:pt x="0" y="730299"/>
                  <a:pt x="0" y="712414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Text 10"/>
          <p:cNvSpPr/>
          <p:nvPr/>
        </p:nvSpPr>
        <p:spPr>
          <a:xfrm>
            <a:off x="1173865" y="1951044"/>
            <a:ext cx="3327299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微调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3865" y="2145339"/>
            <a:ext cx="3335394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无需修改模型参数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3865" y="2339633"/>
            <a:ext cx="3327299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更新成本低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54348" y="1853896"/>
            <a:ext cx="3481116" cy="744797"/>
          </a:xfrm>
          <a:custGeom>
            <a:avLst/>
            <a:gdLst/>
            <a:ahLst/>
            <a:cxnLst/>
            <a:rect l="l" t="t" r="r" b="b"/>
            <a:pathLst>
              <a:path w="3481116" h="744797">
                <a:moveTo>
                  <a:pt x="32382" y="0"/>
                </a:moveTo>
                <a:lnTo>
                  <a:pt x="3416348" y="0"/>
                </a:lnTo>
                <a:cubicBezTo>
                  <a:pt x="3452118" y="0"/>
                  <a:pt x="3481116" y="28997"/>
                  <a:pt x="3481116" y="64768"/>
                </a:cubicBezTo>
                <a:lnTo>
                  <a:pt x="3481116" y="680029"/>
                </a:lnTo>
                <a:cubicBezTo>
                  <a:pt x="3481116" y="715799"/>
                  <a:pt x="3452118" y="744797"/>
                  <a:pt x="3416348" y="744797"/>
                </a:cubicBezTo>
                <a:lnTo>
                  <a:pt x="32382" y="744797"/>
                </a:lnTo>
                <a:cubicBezTo>
                  <a:pt x="14498" y="744797"/>
                  <a:pt x="0" y="730299"/>
                  <a:pt x="0" y="712414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654348" y="1853896"/>
            <a:ext cx="32382" cy="744797"/>
          </a:xfrm>
          <a:custGeom>
            <a:avLst/>
            <a:gdLst/>
            <a:ahLst/>
            <a:cxnLst/>
            <a:rect l="l" t="t" r="r" b="b"/>
            <a:pathLst>
              <a:path w="32382" h="744797">
                <a:moveTo>
                  <a:pt x="32382" y="0"/>
                </a:moveTo>
                <a:lnTo>
                  <a:pt x="32382" y="0"/>
                </a:lnTo>
                <a:lnTo>
                  <a:pt x="32382" y="744797"/>
                </a:lnTo>
                <a:lnTo>
                  <a:pt x="32382" y="744797"/>
                </a:lnTo>
                <a:cubicBezTo>
                  <a:pt x="14498" y="744797"/>
                  <a:pt x="0" y="730299"/>
                  <a:pt x="0" y="712414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7" name="Text 15"/>
          <p:cNvSpPr/>
          <p:nvPr/>
        </p:nvSpPr>
        <p:spPr>
          <a:xfrm>
            <a:off x="4767686" y="1951044"/>
            <a:ext cx="3327299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RAG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67686" y="2145339"/>
            <a:ext cx="3335394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结构化操作指南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67686" y="2339633"/>
            <a:ext cx="3327299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与执行逻辑耦合紧密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48169" y="1853896"/>
            <a:ext cx="3481116" cy="744797"/>
          </a:xfrm>
          <a:custGeom>
            <a:avLst/>
            <a:gdLst/>
            <a:ahLst/>
            <a:cxnLst/>
            <a:rect l="l" t="t" r="r" b="b"/>
            <a:pathLst>
              <a:path w="3481116" h="744797">
                <a:moveTo>
                  <a:pt x="32382" y="0"/>
                </a:moveTo>
                <a:lnTo>
                  <a:pt x="3416348" y="0"/>
                </a:lnTo>
                <a:cubicBezTo>
                  <a:pt x="3452118" y="0"/>
                  <a:pt x="3481116" y="28997"/>
                  <a:pt x="3481116" y="64768"/>
                </a:cubicBezTo>
                <a:lnTo>
                  <a:pt x="3481116" y="680029"/>
                </a:lnTo>
                <a:cubicBezTo>
                  <a:pt x="3481116" y="715799"/>
                  <a:pt x="3452118" y="744797"/>
                  <a:pt x="3416348" y="744797"/>
                </a:cubicBezTo>
                <a:lnTo>
                  <a:pt x="32382" y="744797"/>
                </a:lnTo>
                <a:cubicBezTo>
                  <a:pt x="14498" y="744797"/>
                  <a:pt x="0" y="730299"/>
                  <a:pt x="0" y="712414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8248169" y="1853896"/>
            <a:ext cx="32382" cy="744797"/>
          </a:xfrm>
          <a:custGeom>
            <a:avLst/>
            <a:gdLst/>
            <a:ahLst/>
            <a:cxnLst/>
            <a:rect l="l" t="t" r="r" b="b"/>
            <a:pathLst>
              <a:path w="32382" h="744797">
                <a:moveTo>
                  <a:pt x="32382" y="0"/>
                </a:moveTo>
                <a:lnTo>
                  <a:pt x="32382" y="0"/>
                </a:lnTo>
                <a:lnTo>
                  <a:pt x="32382" y="744797"/>
                </a:lnTo>
                <a:lnTo>
                  <a:pt x="32382" y="744797"/>
                </a:lnTo>
                <a:cubicBezTo>
                  <a:pt x="14498" y="744797"/>
                  <a:pt x="0" y="730299"/>
                  <a:pt x="0" y="712414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2" name="Text 20"/>
          <p:cNvSpPr/>
          <p:nvPr/>
        </p:nvSpPr>
        <p:spPr>
          <a:xfrm>
            <a:off x="8361508" y="1951044"/>
            <a:ext cx="3327299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1508" y="2145339"/>
            <a:ext cx="3335394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专业知识显性化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61508" y="2339633"/>
            <a:ext cx="3327299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可复用、可版本控制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7873" y="2837514"/>
            <a:ext cx="11536255" cy="1934853"/>
          </a:xfrm>
          <a:custGeom>
            <a:avLst/>
            <a:gdLst/>
            <a:ahLst/>
            <a:cxnLst/>
            <a:rect l="l" t="t" r="r" b="b"/>
            <a:pathLst>
              <a:path w="11536255" h="1934853">
                <a:moveTo>
                  <a:pt x="97149" y="0"/>
                </a:moveTo>
                <a:lnTo>
                  <a:pt x="11439106" y="0"/>
                </a:lnTo>
                <a:cubicBezTo>
                  <a:pt x="11492760" y="0"/>
                  <a:pt x="11536255" y="43495"/>
                  <a:pt x="11536255" y="97149"/>
                </a:cubicBezTo>
                <a:lnTo>
                  <a:pt x="11536255" y="1837704"/>
                </a:lnTo>
                <a:cubicBezTo>
                  <a:pt x="11536255" y="1891358"/>
                  <a:pt x="11492760" y="1934853"/>
                  <a:pt x="11439106" y="1934853"/>
                </a:cubicBezTo>
                <a:lnTo>
                  <a:pt x="97149" y="1934853"/>
                </a:lnTo>
                <a:cubicBezTo>
                  <a:pt x="43495" y="1934853"/>
                  <a:pt x="0" y="1891358"/>
                  <a:pt x="0" y="1837704"/>
                </a:cubicBezTo>
                <a:lnTo>
                  <a:pt x="0" y="97149"/>
                </a:lnTo>
                <a:cubicBezTo>
                  <a:pt x="0" y="43531"/>
                  <a:pt x="43531" y="0"/>
                  <a:pt x="971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450" y="2971092"/>
            <a:ext cx="453355" cy="453355"/>
          </a:xfrm>
          <a:custGeom>
            <a:avLst/>
            <a:gdLst/>
            <a:ahLst/>
            <a:cxnLst/>
            <a:rect l="l" t="t" r="r" b="b"/>
            <a:pathLst>
              <a:path w="453355" h="453355">
                <a:moveTo>
                  <a:pt x="97149" y="0"/>
                </a:moveTo>
                <a:lnTo>
                  <a:pt x="356205" y="0"/>
                </a:lnTo>
                <a:cubicBezTo>
                  <a:pt x="409859" y="0"/>
                  <a:pt x="453355" y="43495"/>
                  <a:pt x="453355" y="97149"/>
                </a:cubicBezTo>
                <a:lnTo>
                  <a:pt x="453355" y="356205"/>
                </a:lnTo>
                <a:cubicBezTo>
                  <a:pt x="453355" y="409859"/>
                  <a:pt x="409859" y="453355"/>
                  <a:pt x="356205" y="453355"/>
                </a:cubicBezTo>
                <a:lnTo>
                  <a:pt x="97149" y="453355"/>
                </a:lnTo>
                <a:cubicBezTo>
                  <a:pt x="43495" y="453355"/>
                  <a:pt x="0" y="409859"/>
                  <a:pt x="0" y="356205"/>
                </a:cubicBezTo>
                <a:lnTo>
                  <a:pt x="0" y="97149"/>
                </a:lnTo>
                <a:cubicBezTo>
                  <a:pt x="0" y="43495"/>
                  <a:pt x="43495" y="0"/>
                  <a:pt x="9714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590980" y="3100622"/>
            <a:ext cx="194295" cy="194295"/>
          </a:xfrm>
          <a:custGeom>
            <a:avLst/>
            <a:gdLst/>
            <a:ahLst/>
            <a:cxnLst/>
            <a:rect l="l" t="t" r="r" b="b"/>
            <a:pathLst>
              <a:path w="194295" h="194295">
                <a:moveTo>
                  <a:pt x="0" y="30359"/>
                </a:moveTo>
                <a:cubicBezTo>
                  <a:pt x="0" y="20302"/>
                  <a:pt x="8159" y="12143"/>
                  <a:pt x="18215" y="12143"/>
                </a:cubicBezTo>
                <a:lnTo>
                  <a:pt x="54645" y="12143"/>
                </a:lnTo>
                <a:cubicBezTo>
                  <a:pt x="64702" y="12143"/>
                  <a:pt x="72861" y="20302"/>
                  <a:pt x="72861" y="30359"/>
                </a:cubicBezTo>
                <a:lnTo>
                  <a:pt x="72861" y="36430"/>
                </a:lnTo>
                <a:lnTo>
                  <a:pt x="121434" y="36430"/>
                </a:lnTo>
                <a:lnTo>
                  <a:pt x="121434" y="30359"/>
                </a:lnTo>
                <a:cubicBezTo>
                  <a:pt x="121434" y="20302"/>
                  <a:pt x="129593" y="12143"/>
                  <a:pt x="139649" y="12143"/>
                </a:cubicBezTo>
                <a:lnTo>
                  <a:pt x="176080" y="12143"/>
                </a:lnTo>
                <a:cubicBezTo>
                  <a:pt x="186136" y="12143"/>
                  <a:pt x="194295" y="20302"/>
                  <a:pt x="194295" y="30359"/>
                </a:cubicBezTo>
                <a:lnTo>
                  <a:pt x="194295" y="66789"/>
                </a:lnTo>
                <a:cubicBezTo>
                  <a:pt x="194295" y="76845"/>
                  <a:pt x="186136" y="85004"/>
                  <a:pt x="176080" y="85004"/>
                </a:cubicBezTo>
                <a:lnTo>
                  <a:pt x="139649" y="85004"/>
                </a:lnTo>
                <a:cubicBezTo>
                  <a:pt x="129593" y="85004"/>
                  <a:pt x="121434" y="76845"/>
                  <a:pt x="121434" y="66789"/>
                </a:cubicBezTo>
                <a:lnTo>
                  <a:pt x="121434" y="60717"/>
                </a:lnTo>
                <a:lnTo>
                  <a:pt x="72861" y="60717"/>
                </a:lnTo>
                <a:lnTo>
                  <a:pt x="72861" y="66789"/>
                </a:lnTo>
                <a:cubicBezTo>
                  <a:pt x="72861" y="69559"/>
                  <a:pt x="72215" y="72215"/>
                  <a:pt x="71115" y="74568"/>
                </a:cubicBezTo>
                <a:lnTo>
                  <a:pt x="97147" y="109291"/>
                </a:lnTo>
                <a:lnTo>
                  <a:pt x="127506" y="109291"/>
                </a:lnTo>
                <a:cubicBezTo>
                  <a:pt x="137562" y="109291"/>
                  <a:pt x="145721" y="117450"/>
                  <a:pt x="145721" y="127506"/>
                </a:cubicBezTo>
                <a:lnTo>
                  <a:pt x="145721" y="163936"/>
                </a:lnTo>
                <a:cubicBezTo>
                  <a:pt x="145721" y="173993"/>
                  <a:pt x="137562" y="182151"/>
                  <a:pt x="127506" y="182151"/>
                </a:cubicBezTo>
                <a:lnTo>
                  <a:pt x="91076" y="182151"/>
                </a:lnTo>
                <a:cubicBezTo>
                  <a:pt x="81019" y="182151"/>
                  <a:pt x="72861" y="173993"/>
                  <a:pt x="72861" y="163936"/>
                </a:cubicBezTo>
                <a:lnTo>
                  <a:pt x="72861" y="127506"/>
                </a:lnTo>
                <a:cubicBezTo>
                  <a:pt x="72861" y="124736"/>
                  <a:pt x="73506" y="122079"/>
                  <a:pt x="74606" y="119727"/>
                </a:cubicBezTo>
                <a:lnTo>
                  <a:pt x="48574" y="85004"/>
                </a:lnTo>
                <a:lnTo>
                  <a:pt x="18215" y="85004"/>
                </a:lnTo>
                <a:cubicBezTo>
                  <a:pt x="8159" y="85004"/>
                  <a:pt x="0" y="76845"/>
                  <a:pt x="0" y="66789"/>
                </a:cubicBezTo>
                <a:lnTo>
                  <a:pt x="0" y="30359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8" name="Text 26"/>
          <p:cNvSpPr/>
          <p:nvPr/>
        </p:nvSpPr>
        <p:spPr>
          <a:xfrm>
            <a:off x="1044335" y="2971092"/>
            <a:ext cx="10767171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复杂工作流编排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4335" y="3262534"/>
            <a:ext cx="10750980" cy="210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以人类可理解、AI可执行的方式编码</a:t>
            </a:r>
            <a:r>
              <a:rPr lang="en-US" sz="10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多步骤跨系统工作流</a:t>
            </a:r>
            <a:r>
              <a:rPr lang="en-US" sz="102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44335" y="3683506"/>
            <a:ext cx="5278343" cy="841944"/>
          </a:xfrm>
          <a:custGeom>
            <a:avLst/>
            <a:gdLst/>
            <a:ahLst/>
            <a:cxnLst/>
            <a:rect l="l" t="t" r="r" b="b"/>
            <a:pathLst>
              <a:path w="5278343" h="841944">
                <a:moveTo>
                  <a:pt x="64762" y="0"/>
                </a:moveTo>
                <a:lnTo>
                  <a:pt x="5213580" y="0"/>
                </a:lnTo>
                <a:cubicBezTo>
                  <a:pt x="5249348" y="0"/>
                  <a:pt x="5278343" y="28995"/>
                  <a:pt x="5278343" y="64762"/>
                </a:cubicBezTo>
                <a:lnTo>
                  <a:pt x="5278343" y="777182"/>
                </a:lnTo>
                <a:cubicBezTo>
                  <a:pt x="5278343" y="812949"/>
                  <a:pt x="5249348" y="841944"/>
                  <a:pt x="5213580" y="841944"/>
                </a:cubicBezTo>
                <a:lnTo>
                  <a:pt x="64762" y="841944"/>
                </a:lnTo>
                <a:cubicBezTo>
                  <a:pt x="28995" y="841944"/>
                  <a:pt x="0" y="812949"/>
                  <a:pt x="0" y="777182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1141482" y="3780653"/>
            <a:ext cx="5140717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关键机制：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1482" y="4007331"/>
            <a:ext cx="5148813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状态传递 </a:t>
            </a:r>
            <a:r>
              <a:rPr lang="en-US" sz="102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 </a:t>
            </a:r>
            <a:r>
              <a:rPr lang="en-US" sz="1020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context继承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1482" y="4266390"/>
            <a:ext cx="5140717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前序Skill输出自动成为后续Skill输入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1258" y="3570167"/>
            <a:ext cx="5278343" cy="1068622"/>
          </a:xfrm>
          <a:custGeom>
            <a:avLst/>
            <a:gdLst/>
            <a:ahLst/>
            <a:cxnLst/>
            <a:rect l="l" t="t" r="r" b="b"/>
            <a:pathLst>
              <a:path w="5278343" h="1068622">
                <a:moveTo>
                  <a:pt x="64769" y="0"/>
                </a:moveTo>
                <a:lnTo>
                  <a:pt x="5213573" y="0"/>
                </a:lnTo>
                <a:cubicBezTo>
                  <a:pt x="5249344" y="0"/>
                  <a:pt x="5278343" y="28998"/>
                  <a:pt x="5278343" y="64769"/>
                </a:cubicBezTo>
                <a:lnTo>
                  <a:pt x="5278343" y="1003852"/>
                </a:lnTo>
                <a:cubicBezTo>
                  <a:pt x="5278343" y="1039623"/>
                  <a:pt x="5249344" y="1068622"/>
                  <a:pt x="5213573" y="1068622"/>
                </a:cubicBezTo>
                <a:lnTo>
                  <a:pt x="64769" y="1068622"/>
                </a:lnTo>
                <a:cubicBezTo>
                  <a:pt x="28998" y="1068622"/>
                  <a:pt x="0" y="1039623"/>
                  <a:pt x="0" y="1003852"/>
                </a:cubicBezTo>
                <a:lnTo>
                  <a:pt x="0" y="64769"/>
                </a:lnTo>
                <a:cubicBezTo>
                  <a:pt x="0" y="28998"/>
                  <a:pt x="28998" y="0"/>
                  <a:pt x="647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548406" y="3667315"/>
            <a:ext cx="5140717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应用场景：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48406" y="3893992"/>
            <a:ext cx="5148813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财务数据处理流水线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48406" y="4120669"/>
            <a:ext cx="5148813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代码审查与部署流程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48406" y="4347347"/>
            <a:ext cx="5148813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多系统数据同步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7873" y="4877610"/>
            <a:ext cx="11536255" cy="1651506"/>
          </a:xfrm>
          <a:custGeom>
            <a:avLst/>
            <a:gdLst/>
            <a:ahLst/>
            <a:cxnLst/>
            <a:rect l="l" t="t" r="r" b="b"/>
            <a:pathLst>
              <a:path w="11536255" h="1651506">
                <a:moveTo>
                  <a:pt x="97142" y="0"/>
                </a:moveTo>
                <a:lnTo>
                  <a:pt x="11439113" y="0"/>
                </a:lnTo>
                <a:cubicBezTo>
                  <a:pt x="11492763" y="0"/>
                  <a:pt x="11536255" y="43492"/>
                  <a:pt x="11536255" y="97142"/>
                </a:cubicBezTo>
                <a:lnTo>
                  <a:pt x="11536255" y="1554364"/>
                </a:lnTo>
                <a:cubicBezTo>
                  <a:pt x="11536255" y="1608014"/>
                  <a:pt x="11492763" y="1651506"/>
                  <a:pt x="11439113" y="1651506"/>
                </a:cubicBezTo>
                <a:lnTo>
                  <a:pt x="97142" y="1651506"/>
                </a:lnTo>
                <a:cubicBezTo>
                  <a:pt x="43528" y="1651506"/>
                  <a:pt x="0" y="1607978"/>
                  <a:pt x="0" y="1554364"/>
                </a:cubicBezTo>
                <a:lnTo>
                  <a:pt x="0" y="97142"/>
                </a:lnTo>
                <a:cubicBezTo>
                  <a:pt x="0" y="43528"/>
                  <a:pt x="43528" y="0"/>
                  <a:pt x="97142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450" y="5011187"/>
            <a:ext cx="453355" cy="453355"/>
          </a:xfrm>
          <a:custGeom>
            <a:avLst/>
            <a:gdLst/>
            <a:ahLst/>
            <a:cxnLst/>
            <a:rect l="l" t="t" r="r" b="b"/>
            <a:pathLst>
              <a:path w="453355" h="453355">
                <a:moveTo>
                  <a:pt x="97149" y="0"/>
                </a:moveTo>
                <a:lnTo>
                  <a:pt x="356205" y="0"/>
                </a:lnTo>
                <a:cubicBezTo>
                  <a:pt x="409859" y="0"/>
                  <a:pt x="453355" y="43495"/>
                  <a:pt x="453355" y="97149"/>
                </a:cubicBezTo>
                <a:lnTo>
                  <a:pt x="453355" y="356205"/>
                </a:lnTo>
                <a:cubicBezTo>
                  <a:pt x="453355" y="409859"/>
                  <a:pt x="409859" y="453355"/>
                  <a:pt x="356205" y="453355"/>
                </a:cubicBezTo>
                <a:lnTo>
                  <a:pt x="97149" y="453355"/>
                </a:lnTo>
                <a:cubicBezTo>
                  <a:pt x="43495" y="453355"/>
                  <a:pt x="0" y="409859"/>
                  <a:pt x="0" y="356205"/>
                </a:cubicBezTo>
                <a:lnTo>
                  <a:pt x="0" y="97149"/>
                </a:lnTo>
                <a:cubicBezTo>
                  <a:pt x="0" y="43495"/>
                  <a:pt x="43495" y="0"/>
                  <a:pt x="97149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590980" y="5140717"/>
            <a:ext cx="194295" cy="194295"/>
          </a:xfrm>
          <a:custGeom>
            <a:avLst/>
            <a:gdLst/>
            <a:ahLst/>
            <a:cxnLst/>
            <a:rect l="l" t="t" r="r" b="b"/>
            <a:pathLst>
              <a:path w="194295" h="194295">
                <a:moveTo>
                  <a:pt x="97147" y="0"/>
                </a:moveTo>
                <a:cubicBezTo>
                  <a:pt x="98893" y="0"/>
                  <a:pt x="100639" y="379"/>
                  <a:pt x="102232" y="1100"/>
                </a:cubicBezTo>
                <a:lnTo>
                  <a:pt x="173727" y="31421"/>
                </a:lnTo>
                <a:cubicBezTo>
                  <a:pt x="182075" y="34950"/>
                  <a:pt x="188299" y="43185"/>
                  <a:pt x="188261" y="53127"/>
                </a:cubicBezTo>
                <a:cubicBezTo>
                  <a:pt x="188071" y="90772"/>
                  <a:pt x="172588" y="159648"/>
                  <a:pt x="107204" y="190955"/>
                </a:cubicBezTo>
                <a:cubicBezTo>
                  <a:pt x="100866" y="193991"/>
                  <a:pt x="93504" y="193991"/>
                  <a:pt x="87167" y="190955"/>
                </a:cubicBezTo>
                <a:cubicBezTo>
                  <a:pt x="21744" y="159648"/>
                  <a:pt x="6299" y="90772"/>
                  <a:pt x="6110" y="53127"/>
                </a:cubicBezTo>
                <a:cubicBezTo>
                  <a:pt x="6072" y="43185"/>
                  <a:pt x="12295" y="34950"/>
                  <a:pt x="20644" y="31421"/>
                </a:cubicBezTo>
                <a:lnTo>
                  <a:pt x="92100" y="1100"/>
                </a:lnTo>
                <a:cubicBezTo>
                  <a:pt x="93694" y="379"/>
                  <a:pt x="95402" y="0"/>
                  <a:pt x="97147" y="0"/>
                </a:cubicBezTo>
                <a:close/>
                <a:moveTo>
                  <a:pt x="97147" y="25349"/>
                </a:moveTo>
                <a:lnTo>
                  <a:pt x="97147" y="168832"/>
                </a:lnTo>
                <a:cubicBezTo>
                  <a:pt x="149516" y="143482"/>
                  <a:pt x="163595" y="87319"/>
                  <a:pt x="163936" y="53697"/>
                </a:cubicBezTo>
                <a:lnTo>
                  <a:pt x="97147" y="25387"/>
                </a:lnTo>
                <a:lnTo>
                  <a:pt x="97147" y="25387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2" name="Text 40"/>
          <p:cNvSpPr/>
          <p:nvPr/>
        </p:nvSpPr>
        <p:spPr>
          <a:xfrm>
            <a:off x="1044335" y="5011187"/>
            <a:ext cx="10767171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行为确定性增强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44335" y="5302629"/>
            <a:ext cx="10750980" cy="210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</a:t>
            </a:r>
            <a:r>
              <a:rPr lang="en-US" sz="10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概率性输出</a:t>
            </a:r>
            <a:r>
              <a:rPr lang="en-US" sz="102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在关键环节转化为</a:t>
            </a:r>
            <a:r>
              <a:rPr lang="en-US" sz="10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确定性执行</a:t>
            </a:r>
            <a:r>
              <a:rPr lang="en-US" sz="102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44335" y="5610263"/>
            <a:ext cx="3497307" cy="785275"/>
          </a:xfrm>
          <a:custGeom>
            <a:avLst/>
            <a:gdLst/>
            <a:ahLst/>
            <a:cxnLst/>
            <a:rect l="l" t="t" r="r" b="b"/>
            <a:pathLst>
              <a:path w="3497307" h="785275">
                <a:moveTo>
                  <a:pt x="64762" y="0"/>
                </a:moveTo>
                <a:lnTo>
                  <a:pt x="3432545" y="0"/>
                </a:lnTo>
                <a:cubicBezTo>
                  <a:pt x="3468312" y="0"/>
                  <a:pt x="3497307" y="28995"/>
                  <a:pt x="3497307" y="64762"/>
                </a:cubicBezTo>
                <a:lnTo>
                  <a:pt x="3497307" y="720513"/>
                </a:lnTo>
                <a:cubicBezTo>
                  <a:pt x="3497307" y="756280"/>
                  <a:pt x="3468312" y="785275"/>
                  <a:pt x="3432545" y="785275"/>
                </a:cubicBezTo>
                <a:lnTo>
                  <a:pt x="64762" y="785275"/>
                </a:lnTo>
                <a:cubicBezTo>
                  <a:pt x="28995" y="785275"/>
                  <a:pt x="0" y="756280"/>
                  <a:pt x="0" y="720513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2731955" y="5715506"/>
            <a:ext cx="121434" cy="161912"/>
          </a:xfrm>
          <a:custGeom>
            <a:avLst/>
            <a:gdLst/>
            <a:ahLst/>
            <a:cxnLst/>
            <a:rect l="l" t="t" r="r" b="b"/>
            <a:pathLst>
              <a:path w="121434" h="161912">
                <a:moveTo>
                  <a:pt x="0" y="20239"/>
                </a:moveTo>
                <a:cubicBezTo>
                  <a:pt x="0" y="9076"/>
                  <a:pt x="9076" y="0"/>
                  <a:pt x="20239" y="0"/>
                </a:cubicBezTo>
                <a:lnTo>
                  <a:pt x="67516" y="0"/>
                </a:lnTo>
                <a:cubicBezTo>
                  <a:pt x="72892" y="0"/>
                  <a:pt x="78047" y="2119"/>
                  <a:pt x="81842" y="5914"/>
                </a:cubicBezTo>
                <a:lnTo>
                  <a:pt x="115521" y="39624"/>
                </a:lnTo>
                <a:cubicBezTo>
                  <a:pt x="119315" y="43419"/>
                  <a:pt x="121434" y="48574"/>
                  <a:pt x="121434" y="53950"/>
                </a:cubicBezTo>
                <a:lnTo>
                  <a:pt x="121434" y="141673"/>
                </a:lnTo>
                <a:cubicBezTo>
                  <a:pt x="121434" y="152836"/>
                  <a:pt x="112358" y="161912"/>
                  <a:pt x="101195" y="161912"/>
                </a:cubicBezTo>
                <a:lnTo>
                  <a:pt x="20239" y="161912"/>
                </a:lnTo>
                <a:cubicBezTo>
                  <a:pt x="9076" y="161912"/>
                  <a:pt x="0" y="152836"/>
                  <a:pt x="0" y="141673"/>
                </a:cubicBezTo>
                <a:lnTo>
                  <a:pt x="0" y="20239"/>
                </a:lnTo>
                <a:close/>
                <a:moveTo>
                  <a:pt x="65777" y="18500"/>
                </a:moveTo>
                <a:lnTo>
                  <a:pt x="65777" y="48068"/>
                </a:lnTo>
                <a:cubicBezTo>
                  <a:pt x="65777" y="52274"/>
                  <a:pt x="69161" y="55657"/>
                  <a:pt x="73367" y="55657"/>
                </a:cubicBezTo>
                <a:lnTo>
                  <a:pt x="102935" y="55657"/>
                </a:lnTo>
                <a:lnTo>
                  <a:pt x="65777" y="18500"/>
                </a:lnTo>
                <a:close/>
                <a:moveTo>
                  <a:pt x="48763" y="93479"/>
                </a:moveTo>
                <a:cubicBezTo>
                  <a:pt x="51483" y="90285"/>
                  <a:pt x="51135" y="85510"/>
                  <a:pt x="47941" y="82790"/>
                </a:cubicBezTo>
                <a:cubicBezTo>
                  <a:pt x="44747" y="80071"/>
                  <a:pt x="39972" y="80419"/>
                  <a:pt x="37252" y="83613"/>
                </a:cubicBezTo>
                <a:lnTo>
                  <a:pt x="22073" y="101322"/>
                </a:lnTo>
                <a:cubicBezTo>
                  <a:pt x="19638" y="104168"/>
                  <a:pt x="19638" y="108342"/>
                  <a:pt x="22073" y="111188"/>
                </a:cubicBezTo>
                <a:lnTo>
                  <a:pt x="37252" y="128897"/>
                </a:lnTo>
                <a:cubicBezTo>
                  <a:pt x="39972" y="132091"/>
                  <a:pt x="44779" y="132439"/>
                  <a:pt x="47941" y="129720"/>
                </a:cubicBezTo>
                <a:cubicBezTo>
                  <a:pt x="51104" y="127000"/>
                  <a:pt x="51483" y="122193"/>
                  <a:pt x="48763" y="119031"/>
                </a:cubicBezTo>
                <a:lnTo>
                  <a:pt x="37822" y="106255"/>
                </a:lnTo>
                <a:lnTo>
                  <a:pt x="48763" y="93479"/>
                </a:lnTo>
                <a:close/>
                <a:moveTo>
                  <a:pt x="84182" y="83613"/>
                </a:moveTo>
                <a:cubicBezTo>
                  <a:pt x="81462" y="80419"/>
                  <a:pt x="76655" y="80071"/>
                  <a:pt x="73493" y="82790"/>
                </a:cubicBezTo>
                <a:cubicBezTo>
                  <a:pt x="70331" y="85510"/>
                  <a:pt x="69951" y="90317"/>
                  <a:pt x="72671" y="93479"/>
                </a:cubicBezTo>
                <a:lnTo>
                  <a:pt x="83613" y="106255"/>
                </a:lnTo>
                <a:lnTo>
                  <a:pt x="72671" y="119031"/>
                </a:lnTo>
                <a:cubicBezTo>
                  <a:pt x="69951" y="122225"/>
                  <a:pt x="70299" y="127000"/>
                  <a:pt x="73493" y="129720"/>
                </a:cubicBezTo>
                <a:cubicBezTo>
                  <a:pt x="76687" y="132439"/>
                  <a:pt x="81462" y="132091"/>
                  <a:pt x="84182" y="128897"/>
                </a:cubicBezTo>
                <a:lnTo>
                  <a:pt x="99361" y="111188"/>
                </a:lnTo>
                <a:cubicBezTo>
                  <a:pt x="101796" y="108342"/>
                  <a:pt x="101796" y="104168"/>
                  <a:pt x="99361" y="101322"/>
                </a:cubicBezTo>
                <a:lnTo>
                  <a:pt x="84182" y="83613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6" name="Text 44"/>
          <p:cNvSpPr/>
          <p:nvPr/>
        </p:nvSpPr>
        <p:spPr>
          <a:xfrm>
            <a:off x="1109100" y="5942183"/>
            <a:ext cx="3367777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脚本化执行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3147" y="6136478"/>
            <a:ext cx="3359681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替代纯生成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638156" y="5610263"/>
            <a:ext cx="3497307" cy="785275"/>
          </a:xfrm>
          <a:custGeom>
            <a:avLst/>
            <a:gdLst/>
            <a:ahLst/>
            <a:cxnLst/>
            <a:rect l="l" t="t" r="r" b="b"/>
            <a:pathLst>
              <a:path w="3497307" h="785275">
                <a:moveTo>
                  <a:pt x="64762" y="0"/>
                </a:moveTo>
                <a:lnTo>
                  <a:pt x="3432545" y="0"/>
                </a:lnTo>
                <a:cubicBezTo>
                  <a:pt x="3468312" y="0"/>
                  <a:pt x="3497307" y="28995"/>
                  <a:pt x="3497307" y="64762"/>
                </a:cubicBezTo>
                <a:lnTo>
                  <a:pt x="3497307" y="720513"/>
                </a:lnTo>
                <a:cubicBezTo>
                  <a:pt x="3497307" y="756280"/>
                  <a:pt x="3468312" y="785275"/>
                  <a:pt x="3432545" y="785275"/>
                </a:cubicBezTo>
                <a:lnTo>
                  <a:pt x="64762" y="785275"/>
                </a:lnTo>
                <a:cubicBezTo>
                  <a:pt x="28995" y="785275"/>
                  <a:pt x="0" y="756280"/>
                  <a:pt x="0" y="720513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6305537" y="5715506"/>
            <a:ext cx="161912" cy="161912"/>
          </a:xfrm>
          <a:custGeom>
            <a:avLst/>
            <a:gdLst/>
            <a:ahLst/>
            <a:cxnLst/>
            <a:rect l="l" t="t" r="r" b="b"/>
            <a:pathLst>
              <a:path w="161912" h="161912">
                <a:moveTo>
                  <a:pt x="161912" y="30359"/>
                </a:moveTo>
                <a:cubicBezTo>
                  <a:pt x="161912" y="46234"/>
                  <a:pt x="143223" y="69920"/>
                  <a:pt x="135159" y="79375"/>
                </a:cubicBezTo>
                <a:cubicBezTo>
                  <a:pt x="133957" y="80766"/>
                  <a:pt x="132186" y="81304"/>
                  <a:pt x="130573" y="80956"/>
                </a:cubicBezTo>
                <a:lnTo>
                  <a:pt x="101195" y="80956"/>
                </a:lnTo>
                <a:cubicBezTo>
                  <a:pt x="95598" y="80956"/>
                  <a:pt x="91076" y="85478"/>
                  <a:pt x="91076" y="91076"/>
                </a:cubicBezTo>
                <a:cubicBezTo>
                  <a:pt x="91076" y="96673"/>
                  <a:pt x="95598" y="101195"/>
                  <a:pt x="101195" y="101195"/>
                </a:cubicBezTo>
                <a:lnTo>
                  <a:pt x="131554" y="101195"/>
                </a:lnTo>
                <a:cubicBezTo>
                  <a:pt x="148314" y="101195"/>
                  <a:pt x="161912" y="114793"/>
                  <a:pt x="161912" y="131554"/>
                </a:cubicBezTo>
                <a:cubicBezTo>
                  <a:pt x="161912" y="148314"/>
                  <a:pt x="148314" y="161912"/>
                  <a:pt x="131554" y="161912"/>
                </a:cubicBezTo>
                <a:lnTo>
                  <a:pt x="44146" y="161912"/>
                </a:lnTo>
                <a:cubicBezTo>
                  <a:pt x="46898" y="158782"/>
                  <a:pt x="50250" y="154765"/>
                  <a:pt x="53633" y="150275"/>
                </a:cubicBezTo>
                <a:cubicBezTo>
                  <a:pt x="55626" y="147619"/>
                  <a:pt x="57681" y="144709"/>
                  <a:pt x="59642" y="141673"/>
                </a:cubicBezTo>
                <a:lnTo>
                  <a:pt x="131554" y="141673"/>
                </a:lnTo>
                <a:cubicBezTo>
                  <a:pt x="137151" y="141673"/>
                  <a:pt x="141673" y="137151"/>
                  <a:pt x="141673" y="131554"/>
                </a:cubicBezTo>
                <a:cubicBezTo>
                  <a:pt x="141673" y="125956"/>
                  <a:pt x="137151" y="121434"/>
                  <a:pt x="131554" y="121434"/>
                </a:cubicBezTo>
                <a:lnTo>
                  <a:pt x="101195" y="121434"/>
                </a:lnTo>
                <a:cubicBezTo>
                  <a:pt x="84435" y="121434"/>
                  <a:pt x="70837" y="107836"/>
                  <a:pt x="70837" y="91076"/>
                </a:cubicBezTo>
                <a:cubicBezTo>
                  <a:pt x="70837" y="74315"/>
                  <a:pt x="84435" y="60717"/>
                  <a:pt x="101195" y="60717"/>
                </a:cubicBezTo>
                <a:lnTo>
                  <a:pt x="113781" y="60717"/>
                </a:lnTo>
                <a:cubicBezTo>
                  <a:pt x="107140" y="50756"/>
                  <a:pt x="101195" y="39308"/>
                  <a:pt x="101195" y="30359"/>
                </a:cubicBezTo>
                <a:cubicBezTo>
                  <a:pt x="101195" y="13598"/>
                  <a:pt x="114793" y="0"/>
                  <a:pt x="131554" y="0"/>
                </a:cubicBezTo>
                <a:cubicBezTo>
                  <a:pt x="148314" y="0"/>
                  <a:pt x="161912" y="13598"/>
                  <a:pt x="161912" y="30359"/>
                </a:cubicBezTo>
                <a:close/>
                <a:moveTo>
                  <a:pt x="37031" y="154671"/>
                </a:moveTo>
                <a:cubicBezTo>
                  <a:pt x="35829" y="156030"/>
                  <a:pt x="34754" y="157232"/>
                  <a:pt x="33837" y="158244"/>
                </a:cubicBezTo>
                <a:lnTo>
                  <a:pt x="33268" y="158876"/>
                </a:lnTo>
                <a:lnTo>
                  <a:pt x="33205" y="158813"/>
                </a:lnTo>
                <a:cubicBezTo>
                  <a:pt x="31307" y="160268"/>
                  <a:pt x="28588" y="160078"/>
                  <a:pt x="26880" y="158244"/>
                </a:cubicBezTo>
                <a:cubicBezTo>
                  <a:pt x="18911" y="149579"/>
                  <a:pt x="0" y="127285"/>
                  <a:pt x="0" y="111315"/>
                </a:cubicBezTo>
                <a:cubicBezTo>
                  <a:pt x="0" y="94554"/>
                  <a:pt x="13598" y="80956"/>
                  <a:pt x="30359" y="80956"/>
                </a:cubicBezTo>
                <a:cubicBezTo>
                  <a:pt x="47119" y="80956"/>
                  <a:pt x="60717" y="94554"/>
                  <a:pt x="60717" y="111315"/>
                </a:cubicBezTo>
                <a:cubicBezTo>
                  <a:pt x="60717" y="120802"/>
                  <a:pt x="54045" y="132502"/>
                  <a:pt x="46961" y="142274"/>
                </a:cubicBezTo>
                <a:cubicBezTo>
                  <a:pt x="43577" y="146923"/>
                  <a:pt x="40099" y="151129"/>
                  <a:pt x="37221" y="154449"/>
                </a:cubicBezTo>
                <a:lnTo>
                  <a:pt x="37031" y="154671"/>
                </a:lnTo>
                <a:close/>
                <a:moveTo>
                  <a:pt x="40478" y="111315"/>
                </a:moveTo>
                <a:cubicBezTo>
                  <a:pt x="40478" y="105730"/>
                  <a:pt x="35944" y="101195"/>
                  <a:pt x="30359" y="101195"/>
                </a:cubicBezTo>
                <a:cubicBezTo>
                  <a:pt x="24773" y="101195"/>
                  <a:pt x="20239" y="105730"/>
                  <a:pt x="20239" y="111315"/>
                </a:cubicBezTo>
                <a:cubicBezTo>
                  <a:pt x="20239" y="116900"/>
                  <a:pt x="24773" y="121434"/>
                  <a:pt x="30359" y="121434"/>
                </a:cubicBezTo>
                <a:cubicBezTo>
                  <a:pt x="35944" y="121434"/>
                  <a:pt x="40478" y="116900"/>
                  <a:pt x="40478" y="111315"/>
                </a:cubicBezTo>
                <a:close/>
                <a:moveTo>
                  <a:pt x="131554" y="40478"/>
                </a:moveTo>
                <a:cubicBezTo>
                  <a:pt x="137139" y="40478"/>
                  <a:pt x="141673" y="35944"/>
                  <a:pt x="141673" y="30359"/>
                </a:cubicBezTo>
                <a:cubicBezTo>
                  <a:pt x="141673" y="24773"/>
                  <a:pt x="137139" y="20239"/>
                  <a:pt x="131554" y="20239"/>
                </a:cubicBezTo>
                <a:cubicBezTo>
                  <a:pt x="125969" y="20239"/>
                  <a:pt x="121434" y="24773"/>
                  <a:pt x="121434" y="30359"/>
                </a:cubicBezTo>
                <a:cubicBezTo>
                  <a:pt x="121434" y="35944"/>
                  <a:pt x="125969" y="40478"/>
                  <a:pt x="131554" y="40478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0" name="Text 48"/>
          <p:cNvSpPr/>
          <p:nvPr/>
        </p:nvSpPr>
        <p:spPr>
          <a:xfrm>
            <a:off x="4702921" y="5942183"/>
            <a:ext cx="3367777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预设路径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706969" y="6136478"/>
            <a:ext cx="3359681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减少决策分支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31978" y="5610263"/>
            <a:ext cx="3497307" cy="785275"/>
          </a:xfrm>
          <a:custGeom>
            <a:avLst/>
            <a:gdLst/>
            <a:ahLst/>
            <a:cxnLst/>
            <a:rect l="l" t="t" r="r" b="b"/>
            <a:pathLst>
              <a:path w="3497307" h="785275">
                <a:moveTo>
                  <a:pt x="64762" y="0"/>
                </a:moveTo>
                <a:lnTo>
                  <a:pt x="3432545" y="0"/>
                </a:lnTo>
                <a:cubicBezTo>
                  <a:pt x="3468312" y="0"/>
                  <a:pt x="3497307" y="28995"/>
                  <a:pt x="3497307" y="64762"/>
                </a:cubicBezTo>
                <a:lnTo>
                  <a:pt x="3497307" y="720513"/>
                </a:lnTo>
                <a:cubicBezTo>
                  <a:pt x="3497307" y="756280"/>
                  <a:pt x="3468312" y="785275"/>
                  <a:pt x="3432545" y="785275"/>
                </a:cubicBezTo>
                <a:lnTo>
                  <a:pt x="64762" y="785275"/>
                </a:lnTo>
                <a:cubicBezTo>
                  <a:pt x="28995" y="785275"/>
                  <a:pt x="0" y="756280"/>
                  <a:pt x="0" y="720513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9889240" y="5715506"/>
            <a:ext cx="182151" cy="161912"/>
          </a:xfrm>
          <a:custGeom>
            <a:avLst/>
            <a:gdLst/>
            <a:ahLst/>
            <a:cxnLst/>
            <a:rect l="l" t="t" r="r" b="b"/>
            <a:pathLst>
              <a:path w="182151" h="161912">
                <a:moveTo>
                  <a:pt x="91076" y="20239"/>
                </a:moveTo>
                <a:cubicBezTo>
                  <a:pt x="124597" y="20239"/>
                  <a:pt x="151793" y="47435"/>
                  <a:pt x="151793" y="80956"/>
                </a:cubicBezTo>
                <a:cubicBezTo>
                  <a:pt x="151793" y="114477"/>
                  <a:pt x="124597" y="141673"/>
                  <a:pt x="91076" y="141673"/>
                </a:cubicBezTo>
                <a:cubicBezTo>
                  <a:pt x="70457" y="141673"/>
                  <a:pt x="52210" y="131396"/>
                  <a:pt x="41237" y="115647"/>
                </a:cubicBezTo>
                <a:cubicBezTo>
                  <a:pt x="38043" y="111062"/>
                  <a:pt x="31718" y="109955"/>
                  <a:pt x="27133" y="113149"/>
                </a:cubicBezTo>
                <a:cubicBezTo>
                  <a:pt x="22548" y="116343"/>
                  <a:pt x="21441" y="122668"/>
                  <a:pt x="24635" y="127253"/>
                </a:cubicBezTo>
                <a:cubicBezTo>
                  <a:pt x="39245" y="148188"/>
                  <a:pt x="63563" y="161912"/>
                  <a:pt x="91076" y="161912"/>
                </a:cubicBezTo>
                <a:cubicBezTo>
                  <a:pt x="135791" y="161912"/>
                  <a:pt x="172032" y="125672"/>
                  <a:pt x="172032" y="80956"/>
                </a:cubicBezTo>
                <a:cubicBezTo>
                  <a:pt x="172032" y="36241"/>
                  <a:pt x="135791" y="0"/>
                  <a:pt x="91076" y="0"/>
                </a:cubicBezTo>
                <a:cubicBezTo>
                  <a:pt x="63974" y="0"/>
                  <a:pt x="40004" y="13313"/>
                  <a:pt x="25299" y="33742"/>
                </a:cubicBezTo>
                <a:lnTo>
                  <a:pt x="25299" y="25299"/>
                </a:lnTo>
                <a:cubicBezTo>
                  <a:pt x="25299" y="19701"/>
                  <a:pt x="20777" y="15179"/>
                  <a:pt x="15179" y="15179"/>
                </a:cubicBezTo>
                <a:cubicBezTo>
                  <a:pt x="9582" y="15179"/>
                  <a:pt x="5060" y="19701"/>
                  <a:pt x="5060" y="25299"/>
                </a:cubicBezTo>
                <a:lnTo>
                  <a:pt x="5060" y="60717"/>
                </a:lnTo>
                <a:cubicBezTo>
                  <a:pt x="5060" y="66314"/>
                  <a:pt x="9582" y="70837"/>
                  <a:pt x="15179" y="70837"/>
                </a:cubicBezTo>
                <a:lnTo>
                  <a:pt x="22959" y="70837"/>
                </a:lnTo>
                <a:cubicBezTo>
                  <a:pt x="23117" y="70837"/>
                  <a:pt x="23275" y="70837"/>
                  <a:pt x="23433" y="70837"/>
                </a:cubicBezTo>
                <a:lnTo>
                  <a:pt x="50629" y="70837"/>
                </a:lnTo>
                <a:cubicBezTo>
                  <a:pt x="56227" y="70837"/>
                  <a:pt x="60749" y="66314"/>
                  <a:pt x="60749" y="60717"/>
                </a:cubicBezTo>
                <a:cubicBezTo>
                  <a:pt x="60749" y="55120"/>
                  <a:pt x="56227" y="50598"/>
                  <a:pt x="50629" y="50598"/>
                </a:cubicBezTo>
                <a:lnTo>
                  <a:pt x="38517" y="50598"/>
                </a:lnTo>
                <a:cubicBezTo>
                  <a:pt x="48985" y="32446"/>
                  <a:pt x="68623" y="20239"/>
                  <a:pt x="91076" y="20239"/>
                </a:cubicBezTo>
                <a:close/>
                <a:moveTo>
                  <a:pt x="98665" y="48068"/>
                </a:moveTo>
                <a:cubicBezTo>
                  <a:pt x="98665" y="43862"/>
                  <a:pt x="95282" y="40478"/>
                  <a:pt x="91076" y="40478"/>
                </a:cubicBezTo>
                <a:cubicBezTo>
                  <a:pt x="86870" y="40478"/>
                  <a:pt x="83486" y="43862"/>
                  <a:pt x="83486" y="48068"/>
                </a:cubicBezTo>
                <a:lnTo>
                  <a:pt x="83486" y="80956"/>
                </a:lnTo>
                <a:cubicBezTo>
                  <a:pt x="83486" y="82980"/>
                  <a:pt x="84277" y="84909"/>
                  <a:pt x="85700" y="86332"/>
                </a:cubicBezTo>
                <a:lnTo>
                  <a:pt x="108469" y="109101"/>
                </a:lnTo>
                <a:cubicBezTo>
                  <a:pt x="111441" y="112074"/>
                  <a:pt x="116248" y="112074"/>
                  <a:pt x="119189" y="109101"/>
                </a:cubicBezTo>
                <a:cubicBezTo>
                  <a:pt x="122130" y="106128"/>
                  <a:pt x="122162" y="101322"/>
                  <a:pt x="119189" y="98381"/>
                </a:cubicBezTo>
                <a:lnTo>
                  <a:pt x="98634" y="77825"/>
                </a:lnTo>
                <a:lnTo>
                  <a:pt x="98634" y="48068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54" name="Text 52"/>
          <p:cNvSpPr/>
          <p:nvPr/>
        </p:nvSpPr>
        <p:spPr>
          <a:xfrm>
            <a:off x="8296743" y="5942183"/>
            <a:ext cx="3367777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可审计轨迹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00791" y="6136478"/>
            <a:ext cx="3359681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操作可追溯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407" y="333407"/>
            <a:ext cx="1728778" cy="271665"/>
          </a:xfrm>
          <a:custGeom>
            <a:avLst/>
            <a:gdLst/>
            <a:ahLst/>
            <a:cxnLst/>
            <a:rect l="l" t="t" r="r" b="b"/>
            <a:pathLst>
              <a:path w="1728778" h="271665">
                <a:moveTo>
                  <a:pt x="32929" y="0"/>
                </a:moveTo>
                <a:lnTo>
                  <a:pt x="1695849" y="0"/>
                </a:lnTo>
                <a:cubicBezTo>
                  <a:pt x="1714035" y="0"/>
                  <a:pt x="1728778" y="14743"/>
                  <a:pt x="1728778" y="32929"/>
                </a:cubicBezTo>
                <a:lnTo>
                  <a:pt x="1728778" y="238737"/>
                </a:lnTo>
                <a:cubicBezTo>
                  <a:pt x="1728778" y="256922"/>
                  <a:pt x="1714035" y="271665"/>
                  <a:pt x="1695849" y="271665"/>
                </a:cubicBezTo>
                <a:lnTo>
                  <a:pt x="32929" y="271665"/>
                </a:lnTo>
                <a:cubicBezTo>
                  <a:pt x="14743" y="271665"/>
                  <a:pt x="0" y="256922"/>
                  <a:pt x="0" y="238737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6311" y="399265"/>
            <a:ext cx="1581497" cy="1522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b="1" kern="0" spc="4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QUANTITATIVE EVIDENCE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291" y="675047"/>
            <a:ext cx="11681599" cy="3292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量化效能证据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9291" y="1070196"/>
            <a:ext cx="11607508" cy="230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多来源效能数据汇总与分析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407" y="1436532"/>
            <a:ext cx="11525186" cy="2897761"/>
          </a:xfrm>
          <a:custGeom>
            <a:avLst/>
            <a:gdLst/>
            <a:ahLst/>
            <a:cxnLst/>
            <a:rect l="l" t="t" r="r" b="b"/>
            <a:pathLst>
              <a:path w="11525186" h="2897761">
                <a:moveTo>
                  <a:pt x="98785" y="0"/>
                </a:moveTo>
                <a:lnTo>
                  <a:pt x="11426401" y="0"/>
                </a:lnTo>
                <a:cubicBezTo>
                  <a:pt x="11480958" y="0"/>
                  <a:pt x="11525186" y="44227"/>
                  <a:pt x="11525186" y="98785"/>
                </a:cubicBezTo>
                <a:lnTo>
                  <a:pt x="11525186" y="2798976"/>
                </a:lnTo>
                <a:cubicBezTo>
                  <a:pt x="11525186" y="2853534"/>
                  <a:pt x="11480958" y="2897761"/>
                  <a:pt x="11426401" y="2897761"/>
                </a:cubicBezTo>
                <a:lnTo>
                  <a:pt x="98785" y="2897761"/>
                </a:lnTo>
                <a:cubicBezTo>
                  <a:pt x="44227" y="2897761"/>
                  <a:pt x="0" y="2853534"/>
                  <a:pt x="0" y="2798976"/>
                </a:cubicBezTo>
                <a:lnTo>
                  <a:pt x="0" y="98785"/>
                </a:lnTo>
                <a:cubicBezTo>
                  <a:pt x="0" y="44227"/>
                  <a:pt x="44227" y="0"/>
                  <a:pt x="9878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69240" y="1572365"/>
          <a:ext cx="11253521" cy="2626096"/>
        </p:xfrm>
        <a:graphic>
          <a:graphicData uri="http://schemas.openxmlformats.org/drawingml/2006/table">
            <a:tbl>
              <a:tblPr/>
              <a:tblGrid>
                <a:gridCol w="3441091"/>
                <a:gridCol w="2436754"/>
                <a:gridCol w="3004781"/>
                <a:gridCol w="2370895"/>
              </a:tblGrid>
              <a:tr h="525219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来源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证据质量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521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Rakuten案例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财务多表格处理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8×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生产力提升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(1天→1小时)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高结构化任务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521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GitHub Copilot研究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通用编码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55%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速度提升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~50% 合并时间缩短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广义AI辅助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521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Anthropic内部研究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新技能学习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2.7×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学习速度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厂商自有研究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2521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渐进式披露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Context效率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85%+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Token节省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理论+社区报告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98787" marR="98787" marT="98787" marB="9878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33407" y="4441313"/>
            <a:ext cx="5688502" cy="2082766"/>
          </a:xfrm>
          <a:custGeom>
            <a:avLst/>
            <a:gdLst/>
            <a:ahLst/>
            <a:cxnLst/>
            <a:rect l="l" t="t" r="r" b="b"/>
            <a:pathLst>
              <a:path w="5688502" h="2082766">
                <a:moveTo>
                  <a:pt x="98786" y="0"/>
                </a:moveTo>
                <a:lnTo>
                  <a:pt x="5589717" y="0"/>
                </a:lnTo>
                <a:cubicBezTo>
                  <a:pt x="5644275" y="0"/>
                  <a:pt x="5688502" y="44228"/>
                  <a:pt x="5688502" y="98786"/>
                </a:cubicBezTo>
                <a:lnTo>
                  <a:pt x="5688502" y="1983980"/>
                </a:lnTo>
                <a:cubicBezTo>
                  <a:pt x="5688502" y="2038538"/>
                  <a:pt x="5644275" y="2082766"/>
                  <a:pt x="5589717" y="2082766"/>
                </a:cubicBezTo>
                <a:lnTo>
                  <a:pt x="98786" y="2082766"/>
                </a:lnTo>
                <a:cubicBezTo>
                  <a:pt x="44228" y="2082766"/>
                  <a:pt x="0" y="2038538"/>
                  <a:pt x="0" y="1983980"/>
                </a:cubicBezTo>
                <a:lnTo>
                  <a:pt x="0" y="98786"/>
                </a:lnTo>
                <a:cubicBezTo>
                  <a:pt x="0" y="44228"/>
                  <a:pt x="44228" y="0"/>
                  <a:pt x="98786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820" y="4618307"/>
            <a:ext cx="148181" cy="148181"/>
          </a:xfrm>
          <a:custGeom>
            <a:avLst/>
            <a:gdLst/>
            <a:ahLst/>
            <a:cxnLst/>
            <a:rect l="l" t="t" r="r" b="b"/>
            <a:pathLst>
              <a:path w="148181" h="148181">
                <a:moveTo>
                  <a:pt x="9261" y="9261"/>
                </a:moveTo>
                <a:cubicBezTo>
                  <a:pt x="14384" y="9261"/>
                  <a:pt x="18523" y="13400"/>
                  <a:pt x="18523" y="18523"/>
                </a:cubicBezTo>
                <a:lnTo>
                  <a:pt x="18523" y="115766"/>
                </a:lnTo>
                <a:cubicBezTo>
                  <a:pt x="18523" y="118313"/>
                  <a:pt x="20606" y="120397"/>
                  <a:pt x="23153" y="120397"/>
                </a:cubicBezTo>
                <a:lnTo>
                  <a:pt x="138920" y="120397"/>
                </a:lnTo>
                <a:cubicBezTo>
                  <a:pt x="144042" y="120397"/>
                  <a:pt x="148181" y="124536"/>
                  <a:pt x="148181" y="129658"/>
                </a:cubicBezTo>
                <a:cubicBezTo>
                  <a:pt x="148181" y="134781"/>
                  <a:pt x="144042" y="138920"/>
                  <a:pt x="138920" y="138920"/>
                </a:cubicBezTo>
                <a:lnTo>
                  <a:pt x="23153" y="138920"/>
                </a:lnTo>
                <a:cubicBezTo>
                  <a:pt x="10361" y="138920"/>
                  <a:pt x="0" y="128559"/>
                  <a:pt x="0" y="115766"/>
                </a:cubicBezTo>
                <a:lnTo>
                  <a:pt x="0" y="18523"/>
                </a:lnTo>
                <a:cubicBezTo>
                  <a:pt x="0" y="13400"/>
                  <a:pt x="4139" y="9261"/>
                  <a:pt x="9261" y="9261"/>
                </a:cubicBezTo>
                <a:close/>
                <a:moveTo>
                  <a:pt x="37045" y="27784"/>
                </a:moveTo>
                <a:cubicBezTo>
                  <a:pt x="37045" y="22661"/>
                  <a:pt x="41184" y="18523"/>
                  <a:pt x="46307" y="18523"/>
                </a:cubicBezTo>
                <a:lnTo>
                  <a:pt x="101874" y="18523"/>
                </a:lnTo>
                <a:cubicBezTo>
                  <a:pt x="106997" y="18523"/>
                  <a:pt x="111136" y="22661"/>
                  <a:pt x="111136" y="27784"/>
                </a:cubicBezTo>
                <a:cubicBezTo>
                  <a:pt x="111136" y="32907"/>
                  <a:pt x="106997" y="37045"/>
                  <a:pt x="101874" y="37045"/>
                </a:cubicBezTo>
                <a:lnTo>
                  <a:pt x="46307" y="37045"/>
                </a:lnTo>
                <a:cubicBezTo>
                  <a:pt x="41184" y="37045"/>
                  <a:pt x="37045" y="32907"/>
                  <a:pt x="37045" y="27784"/>
                </a:cubicBezTo>
                <a:close/>
                <a:moveTo>
                  <a:pt x="46307" y="50937"/>
                </a:moveTo>
                <a:lnTo>
                  <a:pt x="83352" y="50937"/>
                </a:lnTo>
                <a:cubicBezTo>
                  <a:pt x="88474" y="50937"/>
                  <a:pt x="92613" y="55076"/>
                  <a:pt x="92613" y="60199"/>
                </a:cubicBezTo>
                <a:cubicBezTo>
                  <a:pt x="92613" y="65321"/>
                  <a:pt x="88474" y="69460"/>
                  <a:pt x="83352" y="69460"/>
                </a:cubicBezTo>
                <a:lnTo>
                  <a:pt x="46307" y="69460"/>
                </a:lnTo>
                <a:cubicBezTo>
                  <a:pt x="41184" y="69460"/>
                  <a:pt x="37045" y="65321"/>
                  <a:pt x="37045" y="60199"/>
                </a:cubicBezTo>
                <a:cubicBezTo>
                  <a:pt x="37045" y="55076"/>
                  <a:pt x="41184" y="50937"/>
                  <a:pt x="46307" y="50937"/>
                </a:cubicBezTo>
                <a:close/>
                <a:moveTo>
                  <a:pt x="46307" y="83352"/>
                </a:moveTo>
                <a:lnTo>
                  <a:pt x="120397" y="83352"/>
                </a:lnTo>
                <a:cubicBezTo>
                  <a:pt x="125520" y="83352"/>
                  <a:pt x="129658" y="87490"/>
                  <a:pt x="129658" y="92613"/>
                </a:cubicBezTo>
                <a:cubicBezTo>
                  <a:pt x="129658" y="97736"/>
                  <a:pt x="125520" y="101874"/>
                  <a:pt x="120397" y="101874"/>
                </a:cubicBezTo>
                <a:lnTo>
                  <a:pt x="46307" y="101874"/>
                </a:lnTo>
                <a:cubicBezTo>
                  <a:pt x="41184" y="101874"/>
                  <a:pt x="37045" y="97736"/>
                  <a:pt x="37045" y="92613"/>
                </a:cubicBezTo>
                <a:cubicBezTo>
                  <a:pt x="37045" y="87490"/>
                  <a:pt x="41184" y="83352"/>
                  <a:pt x="46307" y="8335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0" name="Text 7"/>
          <p:cNvSpPr/>
          <p:nvPr/>
        </p:nvSpPr>
        <p:spPr>
          <a:xfrm>
            <a:off x="658582" y="4577145"/>
            <a:ext cx="5301585" cy="230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效能提升可视化</a:t>
            </a:r>
            <a:endParaRPr lang="en-US" sz="1600" dirty="0"/>
          </a:p>
        </p:txBody>
      </p:sp>
      <p:pic>
        <p:nvPicPr>
          <p:cNvPr id="11" name="Image 0" descr="https://kimi-img.moonshot.cn/pub/slides/26-02-11-13:00:46-d660pvm4bbjo4fup5pi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9240" y="4906436"/>
            <a:ext cx="4593610" cy="1481810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8"/>
          <p:cNvSpPr/>
          <p:nvPr/>
        </p:nvSpPr>
        <p:spPr>
          <a:xfrm>
            <a:off x="6165460" y="4441313"/>
            <a:ext cx="5688502" cy="2082766"/>
          </a:xfrm>
          <a:custGeom>
            <a:avLst/>
            <a:gdLst/>
            <a:ahLst/>
            <a:cxnLst/>
            <a:rect l="l" t="t" r="r" b="b"/>
            <a:pathLst>
              <a:path w="5688502" h="2082766">
                <a:moveTo>
                  <a:pt x="98786" y="0"/>
                </a:moveTo>
                <a:lnTo>
                  <a:pt x="5589717" y="0"/>
                </a:lnTo>
                <a:cubicBezTo>
                  <a:pt x="5644275" y="0"/>
                  <a:pt x="5688502" y="44228"/>
                  <a:pt x="5688502" y="98786"/>
                </a:cubicBezTo>
                <a:lnTo>
                  <a:pt x="5688502" y="1983980"/>
                </a:lnTo>
                <a:cubicBezTo>
                  <a:pt x="5688502" y="2038538"/>
                  <a:pt x="5644275" y="2082766"/>
                  <a:pt x="5589717" y="2082766"/>
                </a:cubicBezTo>
                <a:lnTo>
                  <a:pt x="98786" y="2082766"/>
                </a:lnTo>
                <a:cubicBezTo>
                  <a:pt x="44228" y="2082766"/>
                  <a:pt x="0" y="2038538"/>
                  <a:pt x="0" y="1983980"/>
                </a:cubicBezTo>
                <a:lnTo>
                  <a:pt x="0" y="98786"/>
                </a:lnTo>
                <a:cubicBezTo>
                  <a:pt x="0" y="44228"/>
                  <a:pt x="44228" y="0"/>
                  <a:pt x="98786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15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21873" y="4610074"/>
            <a:ext cx="164646" cy="164646"/>
          </a:xfrm>
          <a:custGeom>
            <a:avLst/>
            <a:gdLst/>
            <a:ahLst/>
            <a:cxnLst/>
            <a:rect l="l" t="t" r="r" b="b"/>
            <a:pathLst>
              <a:path w="164646" h="164646">
                <a:moveTo>
                  <a:pt x="82323" y="0"/>
                </a:moveTo>
                <a:cubicBezTo>
                  <a:pt x="87050" y="0"/>
                  <a:pt x="91391" y="2605"/>
                  <a:pt x="93642" y="6753"/>
                </a:cubicBezTo>
                <a:lnTo>
                  <a:pt x="163102" y="135382"/>
                </a:lnTo>
                <a:cubicBezTo>
                  <a:pt x="165256" y="139370"/>
                  <a:pt x="165160" y="144193"/>
                  <a:pt x="162845" y="148084"/>
                </a:cubicBezTo>
                <a:cubicBezTo>
                  <a:pt x="160529" y="151976"/>
                  <a:pt x="156317" y="154355"/>
                  <a:pt x="151783" y="154355"/>
                </a:cubicBezTo>
                <a:lnTo>
                  <a:pt x="12863" y="154355"/>
                </a:lnTo>
                <a:cubicBezTo>
                  <a:pt x="8329" y="154355"/>
                  <a:pt x="4148" y="151976"/>
                  <a:pt x="1801" y="148084"/>
                </a:cubicBezTo>
                <a:cubicBezTo>
                  <a:pt x="-547" y="144193"/>
                  <a:pt x="-611" y="139370"/>
                  <a:pt x="1544" y="135382"/>
                </a:cubicBezTo>
                <a:lnTo>
                  <a:pt x="71003" y="6753"/>
                </a:lnTo>
                <a:cubicBezTo>
                  <a:pt x="73254" y="2605"/>
                  <a:pt x="77596" y="0"/>
                  <a:pt x="82323" y="0"/>
                </a:cubicBezTo>
                <a:close/>
                <a:moveTo>
                  <a:pt x="82323" y="54024"/>
                </a:moveTo>
                <a:cubicBezTo>
                  <a:pt x="78046" y="54024"/>
                  <a:pt x="74605" y="57465"/>
                  <a:pt x="74605" y="61742"/>
                </a:cubicBezTo>
                <a:lnTo>
                  <a:pt x="74605" y="97758"/>
                </a:lnTo>
                <a:cubicBezTo>
                  <a:pt x="74605" y="102035"/>
                  <a:pt x="78046" y="105476"/>
                  <a:pt x="82323" y="105476"/>
                </a:cubicBezTo>
                <a:cubicBezTo>
                  <a:pt x="86600" y="105476"/>
                  <a:pt x="90041" y="102035"/>
                  <a:pt x="90041" y="97758"/>
                </a:cubicBezTo>
                <a:lnTo>
                  <a:pt x="90041" y="61742"/>
                </a:lnTo>
                <a:cubicBezTo>
                  <a:pt x="90041" y="57465"/>
                  <a:pt x="86600" y="54024"/>
                  <a:pt x="82323" y="54024"/>
                </a:cubicBezTo>
                <a:close/>
                <a:moveTo>
                  <a:pt x="90909" y="123484"/>
                </a:moveTo>
                <a:cubicBezTo>
                  <a:pt x="91104" y="120297"/>
                  <a:pt x="89515" y="117265"/>
                  <a:pt x="86783" y="115612"/>
                </a:cubicBezTo>
                <a:cubicBezTo>
                  <a:pt x="84051" y="113960"/>
                  <a:pt x="80627" y="113960"/>
                  <a:pt x="77895" y="115612"/>
                </a:cubicBezTo>
                <a:cubicBezTo>
                  <a:pt x="75163" y="117265"/>
                  <a:pt x="73574" y="120297"/>
                  <a:pt x="73769" y="123484"/>
                </a:cubicBezTo>
                <a:cubicBezTo>
                  <a:pt x="73574" y="126671"/>
                  <a:pt x="75163" y="129703"/>
                  <a:pt x="77895" y="131356"/>
                </a:cubicBezTo>
                <a:cubicBezTo>
                  <a:pt x="80627" y="133008"/>
                  <a:pt x="84051" y="133008"/>
                  <a:pt x="86783" y="131356"/>
                </a:cubicBezTo>
                <a:cubicBezTo>
                  <a:pt x="89515" y="129703"/>
                  <a:pt x="91104" y="126671"/>
                  <a:pt x="90909" y="123484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4" name="Text 10"/>
          <p:cNvSpPr/>
          <p:nvPr/>
        </p:nvSpPr>
        <p:spPr>
          <a:xfrm>
            <a:off x="6605887" y="4577145"/>
            <a:ext cx="963176" cy="230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证据质量说明</a:t>
            </a:r>
            <a:endParaRPr lang="en-US" sz="1600" dirty="0"/>
          </a:p>
        </p:txBody>
      </p:sp>
      <p:sp>
        <p:nvSpPr>
          <p:cNvPr id="7" name="Text 11"/>
          <p:cNvSpPr/>
          <p:nvPr/>
        </p:nvSpPr>
        <p:spPr>
          <a:xfrm>
            <a:off x="6301292" y="4906436"/>
            <a:ext cx="5482695" cy="4280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需要注意的是</a:t>
            </a: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，上述数据多来自厂商发布和行业报告，</a:t>
            </a:r>
            <a:r>
              <a:rPr lang="en-US" sz="1035" dirty="0">
                <a:solidFill>
                  <a:srgbClr val="E0E0E0"/>
                </a:solidFill>
                <a:highlight>
                  <a:srgbClr val="8D99A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peer-reviewed的学术验证仍然稀缺 </a:t>
            </a: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317757" y="5466231"/>
            <a:ext cx="131716" cy="131716"/>
          </a:xfrm>
          <a:custGeom>
            <a:avLst/>
            <a:gdLst/>
            <a:ahLst/>
            <a:cxnLst/>
            <a:rect l="l" t="t" r="r" b="b"/>
            <a:pathLst>
              <a:path w="131716" h="131716">
                <a:moveTo>
                  <a:pt x="65858" y="131716"/>
                </a:moveTo>
                <a:cubicBezTo>
                  <a:pt x="102206" y="131716"/>
                  <a:pt x="131716" y="102206"/>
                  <a:pt x="131716" y="65858"/>
                </a:cubicBezTo>
                <a:cubicBezTo>
                  <a:pt x="131716" y="29510"/>
                  <a:pt x="102206" y="0"/>
                  <a:pt x="65858" y="0"/>
                </a:cubicBezTo>
                <a:cubicBezTo>
                  <a:pt x="29510" y="0"/>
                  <a:pt x="0" y="29510"/>
                  <a:pt x="0" y="65858"/>
                </a:cubicBezTo>
                <a:cubicBezTo>
                  <a:pt x="0" y="102206"/>
                  <a:pt x="29510" y="131716"/>
                  <a:pt x="65858" y="131716"/>
                </a:cubicBezTo>
                <a:close/>
                <a:moveTo>
                  <a:pt x="87571" y="54719"/>
                </a:moveTo>
                <a:lnTo>
                  <a:pt x="66990" y="87648"/>
                </a:lnTo>
                <a:cubicBezTo>
                  <a:pt x="65910" y="89372"/>
                  <a:pt x="64057" y="90452"/>
                  <a:pt x="62025" y="90555"/>
                </a:cubicBezTo>
                <a:cubicBezTo>
                  <a:pt x="59993" y="90658"/>
                  <a:pt x="58038" y="89732"/>
                  <a:pt x="56828" y="88085"/>
                </a:cubicBezTo>
                <a:lnTo>
                  <a:pt x="44480" y="71621"/>
                </a:lnTo>
                <a:cubicBezTo>
                  <a:pt x="42422" y="68894"/>
                  <a:pt x="42988" y="65035"/>
                  <a:pt x="45715" y="62977"/>
                </a:cubicBezTo>
                <a:cubicBezTo>
                  <a:pt x="48442" y="60919"/>
                  <a:pt x="52301" y="61485"/>
                  <a:pt x="54359" y="64212"/>
                </a:cubicBezTo>
                <a:lnTo>
                  <a:pt x="61305" y="73473"/>
                </a:lnTo>
                <a:lnTo>
                  <a:pt x="77100" y="48185"/>
                </a:lnTo>
                <a:cubicBezTo>
                  <a:pt x="78901" y="45303"/>
                  <a:pt x="82709" y="44403"/>
                  <a:pt x="85616" y="46229"/>
                </a:cubicBezTo>
                <a:cubicBezTo>
                  <a:pt x="88523" y="48056"/>
                  <a:pt x="89397" y="51838"/>
                  <a:pt x="87571" y="5474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3"/>
          <p:cNvSpPr/>
          <p:nvPr/>
        </p:nvSpPr>
        <p:spPr>
          <a:xfrm>
            <a:off x="6531796" y="5433302"/>
            <a:ext cx="2667257" cy="197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高可信度：</a:t>
            </a: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Rakuten企业案例（结构化任务）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317757" y="5729664"/>
            <a:ext cx="131716" cy="131716"/>
          </a:xfrm>
          <a:custGeom>
            <a:avLst/>
            <a:gdLst/>
            <a:ahLst/>
            <a:cxnLst/>
            <a:rect l="l" t="t" r="r" b="b"/>
            <a:pathLst>
              <a:path w="131716" h="131716">
                <a:moveTo>
                  <a:pt x="65858" y="131716"/>
                </a:moveTo>
                <a:cubicBezTo>
                  <a:pt x="102206" y="131716"/>
                  <a:pt x="131716" y="102206"/>
                  <a:pt x="131716" y="65858"/>
                </a:cubicBezTo>
                <a:cubicBezTo>
                  <a:pt x="131716" y="29510"/>
                  <a:pt x="102206" y="0"/>
                  <a:pt x="65858" y="0"/>
                </a:cubicBezTo>
                <a:cubicBezTo>
                  <a:pt x="29510" y="0"/>
                  <a:pt x="0" y="29510"/>
                  <a:pt x="0" y="65858"/>
                </a:cubicBezTo>
                <a:cubicBezTo>
                  <a:pt x="0" y="102206"/>
                  <a:pt x="29510" y="131716"/>
                  <a:pt x="65858" y="131716"/>
                </a:cubicBezTo>
                <a:close/>
                <a:moveTo>
                  <a:pt x="87571" y="54719"/>
                </a:moveTo>
                <a:lnTo>
                  <a:pt x="66990" y="87648"/>
                </a:lnTo>
                <a:cubicBezTo>
                  <a:pt x="65910" y="89372"/>
                  <a:pt x="64057" y="90452"/>
                  <a:pt x="62025" y="90555"/>
                </a:cubicBezTo>
                <a:cubicBezTo>
                  <a:pt x="59993" y="90658"/>
                  <a:pt x="58038" y="89732"/>
                  <a:pt x="56828" y="88085"/>
                </a:cubicBezTo>
                <a:lnTo>
                  <a:pt x="44480" y="71621"/>
                </a:lnTo>
                <a:cubicBezTo>
                  <a:pt x="42422" y="68894"/>
                  <a:pt x="42988" y="65035"/>
                  <a:pt x="45715" y="62977"/>
                </a:cubicBezTo>
                <a:cubicBezTo>
                  <a:pt x="48442" y="60919"/>
                  <a:pt x="52301" y="61485"/>
                  <a:pt x="54359" y="64212"/>
                </a:cubicBezTo>
                <a:lnTo>
                  <a:pt x="61305" y="73473"/>
                </a:lnTo>
                <a:lnTo>
                  <a:pt x="77100" y="48185"/>
                </a:lnTo>
                <a:cubicBezTo>
                  <a:pt x="78901" y="45303"/>
                  <a:pt x="82709" y="44403"/>
                  <a:pt x="85616" y="46229"/>
                </a:cubicBezTo>
                <a:cubicBezTo>
                  <a:pt x="88523" y="48056"/>
                  <a:pt x="89397" y="51838"/>
                  <a:pt x="87571" y="5474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9" name="Text 15"/>
          <p:cNvSpPr/>
          <p:nvPr/>
        </p:nvSpPr>
        <p:spPr>
          <a:xfrm>
            <a:off x="6531796" y="5696735"/>
            <a:ext cx="2922458" cy="197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中等可信度：</a:t>
            </a: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Copilot研究（广义AI辅助）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317757" y="5993097"/>
            <a:ext cx="131716" cy="131716"/>
          </a:xfrm>
          <a:custGeom>
            <a:avLst/>
            <a:gdLst/>
            <a:ahLst/>
            <a:cxnLst/>
            <a:rect l="l" t="t" r="r" b="b"/>
            <a:pathLst>
              <a:path w="131716" h="131716">
                <a:moveTo>
                  <a:pt x="65858" y="131716"/>
                </a:moveTo>
                <a:cubicBezTo>
                  <a:pt x="102206" y="131716"/>
                  <a:pt x="131716" y="102206"/>
                  <a:pt x="131716" y="65858"/>
                </a:cubicBezTo>
                <a:cubicBezTo>
                  <a:pt x="131716" y="29510"/>
                  <a:pt x="102206" y="0"/>
                  <a:pt x="65858" y="0"/>
                </a:cubicBezTo>
                <a:cubicBezTo>
                  <a:pt x="29510" y="0"/>
                  <a:pt x="0" y="29510"/>
                  <a:pt x="0" y="65858"/>
                </a:cubicBezTo>
                <a:cubicBezTo>
                  <a:pt x="0" y="102206"/>
                  <a:pt x="29510" y="131716"/>
                  <a:pt x="65858" y="131716"/>
                </a:cubicBezTo>
                <a:close/>
                <a:moveTo>
                  <a:pt x="65858" y="45278"/>
                </a:moveTo>
                <a:cubicBezTo>
                  <a:pt x="61305" y="45278"/>
                  <a:pt x="57626" y="48956"/>
                  <a:pt x="57626" y="53510"/>
                </a:cubicBezTo>
                <a:cubicBezTo>
                  <a:pt x="57626" y="56931"/>
                  <a:pt x="54873" y="59684"/>
                  <a:pt x="51452" y="59684"/>
                </a:cubicBezTo>
                <a:cubicBezTo>
                  <a:pt x="48030" y="59684"/>
                  <a:pt x="45278" y="56931"/>
                  <a:pt x="45278" y="53510"/>
                </a:cubicBezTo>
                <a:cubicBezTo>
                  <a:pt x="45278" y="42139"/>
                  <a:pt x="54487" y="32929"/>
                  <a:pt x="65858" y="32929"/>
                </a:cubicBezTo>
                <a:cubicBezTo>
                  <a:pt x="77229" y="32929"/>
                  <a:pt x="86439" y="42139"/>
                  <a:pt x="86439" y="53510"/>
                </a:cubicBezTo>
                <a:cubicBezTo>
                  <a:pt x="86439" y="65652"/>
                  <a:pt x="77178" y="70798"/>
                  <a:pt x="72032" y="72676"/>
                </a:cubicBezTo>
                <a:lnTo>
                  <a:pt x="72032" y="73653"/>
                </a:lnTo>
                <a:cubicBezTo>
                  <a:pt x="72032" y="77075"/>
                  <a:pt x="69280" y="79827"/>
                  <a:pt x="65858" y="79827"/>
                </a:cubicBezTo>
                <a:cubicBezTo>
                  <a:pt x="62437" y="79827"/>
                  <a:pt x="59684" y="77075"/>
                  <a:pt x="59684" y="73653"/>
                </a:cubicBezTo>
                <a:lnTo>
                  <a:pt x="59684" y="71569"/>
                </a:lnTo>
                <a:cubicBezTo>
                  <a:pt x="59684" y="66296"/>
                  <a:pt x="63491" y="62514"/>
                  <a:pt x="67427" y="61228"/>
                </a:cubicBezTo>
                <a:cubicBezTo>
                  <a:pt x="69074" y="60687"/>
                  <a:pt x="70823" y="59813"/>
                  <a:pt x="72110" y="58578"/>
                </a:cubicBezTo>
                <a:cubicBezTo>
                  <a:pt x="73216" y="57497"/>
                  <a:pt x="74090" y="56005"/>
                  <a:pt x="74090" y="53536"/>
                </a:cubicBezTo>
                <a:cubicBezTo>
                  <a:pt x="74090" y="48982"/>
                  <a:pt x="70412" y="45303"/>
                  <a:pt x="65858" y="45303"/>
                </a:cubicBezTo>
                <a:close/>
                <a:moveTo>
                  <a:pt x="57626" y="94671"/>
                </a:moveTo>
                <a:cubicBezTo>
                  <a:pt x="57626" y="90128"/>
                  <a:pt x="61315" y="86439"/>
                  <a:pt x="65858" y="86439"/>
                </a:cubicBezTo>
                <a:cubicBezTo>
                  <a:pt x="70402" y="86439"/>
                  <a:pt x="74090" y="90128"/>
                  <a:pt x="74090" y="94671"/>
                </a:cubicBezTo>
                <a:cubicBezTo>
                  <a:pt x="74090" y="99215"/>
                  <a:pt x="70402" y="102903"/>
                  <a:pt x="65858" y="102903"/>
                </a:cubicBezTo>
                <a:cubicBezTo>
                  <a:pt x="61315" y="102903"/>
                  <a:pt x="57626" y="99215"/>
                  <a:pt x="57626" y="94671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Text 17"/>
          <p:cNvSpPr/>
          <p:nvPr/>
        </p:nvSpPr>
        <p:spPr>
          <a:xfrm>
            <a:off x="6531796" y="5960167"/>
            <a:ext cx="2436754" cy="197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待验证：</a:t>
            </a: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厂商内部研究（可能存在偏差）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033" y="357033"/>
            <a:ext cx="2142195" cy="290915"/>
          </a:xfrm>
          <a:custGeom>
            <a:avLst/>
            <a:gdLst/>
            <a:ahLst/>
            <a:cxnLst/>
            <a:rect l="l" t="t" r="r" b="b"/>
            <a:pathLst>
              <a:path w="2142195" h="290915">
                <a:moveTo>
                  <a:pt x="35262" y="0"/>
                </a:moveTo>
                <a:lnTo>
                  <a:pt x="2106933" y="0"/>
                </a:lnTo>
                <a:cubicBezTo>
                  <a:pt x="2126408" y="0"/>
                  <a:pt x="2142195" y="15787"/>
                  <a:pt x="2142195" y="35262"/>
                </a:cubicBezTo>
                <a:lnTo>
                  <a:pt x="2142195" y="255654"/>
                </a:lnTo>
                <a:cubicBezTo>
                  <a:pt x="2142195" y="275128"/>
                  <a:pt x="2126408" y="290915"/>
                  <a:pt x="2106933" y="290915"/>
                </a:cubicBezTo>
                <a:lnTo>
                  <a:pt x="35262" y="290915"/>
                </a:lnTo>
                <a:cubicBezTo>
                  <a:pt x="15787" y="290915"/>
                  <a:pt x="0" y="275128"/>
                  <a:pt x="0" y="255654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7228" y="427557"/>
            <a:ext cx="1982274" cy="1630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kern="0" spc="49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COGNITIVE OFFLOADING RISK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625" y="722881"/>
            <a:ext cx="11645432" cy="352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认知卸载风险：Anthropic对照实验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2625" y="1146030"/>
            <a:ext cx="11566091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效率提升可能以理解深度为代价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33" y="1538325"/>
            <a:ext cx="5668443" cy="1948252"/>
          </a:xfrm>
          <a:custGeom>
            <a:avLst/>
            <a:gdLst/>
            <a:ahLst/>
            <a:cxnLst/>
            <a:rect l="l" t="t" r="r" b="b"/>
            <a:pathLst>
              <a:path w="5668443" h="1948252">
                <a:moveTo>
                  <a:pt x="105790" y="0"/>
                </a:moveTo>
                <a:lnTo>
                  <a:pt x="5562652" y="0"/>
                </a:lnTo>
                <a:cubicBezTo>
                  <a:pt x="5621079" y="0"/>
                  <a:pt x="5668443" y="47364"/>
                  <a:pt x="5668443" y="105790"/>
                </a:cubicBezTo>
                <a:lnTo>
                  <a:pt x="5668443" y="1842462"/>
                </a:lnTo>
                <a:cubicBezTo>
                  <a:pt x="5668443" y="1900888"/>
                  <a:pt x="5621079" y="1948252"/>
                  <a:pt x="5562652" y="1948252"/>
                </a:cubicBezTo>
                <a:lnTo>
                  <a:pt x="105790" y="1948252"/>
                </a:lnTo>
                <a:cubicBezTo>
                  <a:pt x="47364" y="1948252"/>
                  <a:pt x="0" y="1900888"/>
                  <a:pt x="0" y="1842462"/>
                </a:cubicBezTo>
                <a:lnTo>
                  <a:pt x="0" y="105790"/>
                </a:lnTo>
                <a:cubicBezTo>
                  <a:pt x="0" y="47403"/>
                  <a:pt x="47403" y="0"/>
                  <a:pt x="10579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447" y="1727861"/>
            <a:ext cx="138846" cy="158681"/>
          </a:xfrm>
          <a:custGeom>
            <a:avLst/>
            <a:gdLst/>
            <a:ahLst/>
            <a:cxnLst/>
            <a:rect l="l" t="t" r="r" b="b"/>
            <a:pathLst>
              <a:path w="138846" h="158681">
                <a:moveTo>
                  <a:pt x="89258" y="0"/>
                </a:moveTo>
                <a:lnTo>
                  <a:pt x="39670" y="0"/>
                </a:lnTo>
                <a:cubicBezTo>
                  <a:pt x="34185" y="0"/>
                  <a:pt x="29753" y="4432"/>
                  <a:pt x="29753" y="9918"/>
                </a:cubicBezTo>
                <a:cubicBezTo>
                  <a:pt x="29753" y="15403"/>
                  <a:pt x="34185" y="19835"/>
                  <a:pt x="39670" y="19835"/>
                </a:cubicBezTo>
                <a:lnTo>
                  <a:pt x="39670" y="66789"/>
                </a:lnTo>
                <a:lnTo>
                  <a:pt x="2324" y="132121"/>
                </a:lnTo>
                <a:cubicBezTo>
                  <a:pt x="806" y="134817"/>
                  <a:pt x="0" y="137823"/>
                  <a:pt x="0" y="140922"/>
                </a:cubicBezTo>
                <a:cubicBezTo>
                  <a:pt x="0" y="150747"/>
                  <a:pt x="7934" y="158681"/>
                  <a:pt x="17759" y="158681"/>
                </a:cubicBezTo>
                <a:lnTo>
                  <a:pt x="121087" y="158681"/>
                </a:lnTo>
                <a:cubicBezTo>
                  <a:pt x="130881" y="158681"/>
                  <a:pt x="138846" y="150747"/>
                  <a:pt x="138846" y="140922"/>
                </a:cubicBezTo>
                <a:cubicBezTo>
                  <a:pt x="138846" y="137823"/>
                  <a:pt x="138040" y="134786"/>
                  <a:pt x="136522" y="132121"/>
                </a:cubicBezTo>
                <a:lnTo>
                  <a:pt x="99176" y="66789"/>
                </a:lnTo>
                <a:lnTo>
                  <a:pt x="99176" y="19835"/>
                </a:lnTo>
                <a:cubicBezTo>
                  <a:pt x="104661" y="19835"/>
                  <a:pt x="109093" y="15403"/>
                  <a:pt x="109093" y="9918"/>
                </a:cubicBezTo>
                <a:cubicBezTo>
                  <a:pt x="109093" y="4432"/>
                  <a:pt x="104661" y="0"/>
                  <a:pt x="99176" y="0"/>
                </a:cubicBezTo>
                <a:lnTo>
                  <a:pt x="89258" y="0"/>
                </a:lnTo>
                <a:close/>
                <a:moveTo>
                  <a:pt x="59505" y="66789"/>
                </a:moveTo>
                <a:lnTo>
                  <a:pt x="59505" y="19835"/>
                </a:lnTo>
                <a:lnTo>
                  <a:pt x="79341" y="19835"/>
                </a:lnTo>
                <a:lnTo>
                  <a:pt x="79341" y="66789"/>
                </a:lnTo>
                <a:cubicBezTo>
                  <a:pt x="79341" y="70229"/>
                  <a:pt x="80239" y="73638"/>
                  <a:pt x="81944" y="76644"/>
                </a:cubicBezTo>
                <a:lnTo>
                  <a:pt x="94837" y="99176"/>
                </a:lnTo>
                <a:lnTo>
                  <a:pt x="44009" y="99176"/>
                </a:lnTo>
                <a:lnTo>
                  <a:pt x="56902" y="76644"/>
                </a:lnTo>
                <a:cubicBezTo>
                  <a:pt x="58607" y="73638"/>
                  <a:pt x="59505" y="70260"/>
                  <a:pt x="59505" y="66789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8" name="Text 6"/>
          <p:cNvSpPr/>
          <p:nvPr/>
        </p:nvSpPr>
        <p:spPr>
          <a:xfrm>
            <a:off x="705249" y="1683783"/>
            <a:ext cx="5254108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实验设计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490" y="2054039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35262" y="0"/>
                </a:moveTo>
                <a:lnTo>
                  <a:pt x="246837" y="0"/>
                </a:lnTo>
                <a:cubicBezTo>
                  <a:pt x="266312" y="0"/>
                  <a:pt x="282100" y="15788"/>
                  <a:pt x="282100" y="35262"/>
                </a:cubicBezTo>
                <a:lnTo>
                  <a:pt x="282100" y="246837"/>
                </a:lnTo>
                <a:cubicBezTo>
                  <a:pt x="282100" y="266312"/>
                  <a:pt x="266312" y="282100"/>
                  <a:pt x="246837" y="282100"/>
                </a:cubicBezTo>
                <a:lnTo>
                  <a:pt x="35262" y="282100"/>
                </a:lnTo>
                <a:cubicBezTo>
                  <a:pt x="15788" y="282100"/>
                  <a:pt x="0" y="266312"/>
                  <a:pt x="0" y="2468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68607" y="2133380"/>
            <a:ext cx="154273" cy="123419"/>
          </a:xfrm>
          <a:custGeom>
            <a:avLst/>
            <a:gdLst/>
            <a:ahLst/>
            <a:cxnLst/>
            <a:rect l="l" t="t" r="r" b="b"/>
            <a:pathLst>
              <a:path w="154273" h="123419">
                <a:moveTo>
                  <a:pt x="77137" y="3857"/>
                </a:moveTo>
                <a:cubicBezTo>
                  <a:pt x="90973" y="3857"/>
                  <a:pt x="102206" y="15090"/>
                  <a:pt x="102206" y="28926"/>
                </a:cubicBezTo>
                <a:cubicBezTo>
                  <a:pt x="102206" y="42762"/>
                  <a:pt x="90973" y="53996"/>
                  <a:pt x="77137" y="53996"/>
                </a:cubicBezTo>
                <a:cubicBezTo>
                  <a:pt x="63300" y="53996"/>
                  <a:pt x="52067" y="42762"/>
                  <a:pt x="52067" y="28926"/>
                </a:cubicBezTo>
                <a:cubicBezTo>
                  <a:pt x="52067" y="15090"/>
                  <a:pt x="63300" y="3857"/>
                  <a:pt x="77137" y="3857"/>
                </a:cubicBezTo>
                <a:close/>
                <a:moveTo>
                  <a:pt x="23141" y="21213"/>
                </a:moveTo>
                <a:cubicBezTo>
                  <a:pt x="32720" y="21213"/>
                  <a:pt x="40497" y="28989"/>
                  <a:pt x="40497" y="38568"/>
                </a:cubicBezTo>
                <a:cubicBezTo>
                  <a:pt x="40497" y="48147"/>
                  <a:pt x="32720" y="55924"/>
                  <a:pt x="23141" y="55924"/>
                </a:cubicBezTo>
                <a:cubicBezTo>
                  <a:pt x="13562" y="55924"/>
                  <a:pt x="5785" y="48147"/>
                  <a:pt x="5785" y="38568"/>
                </a:cubicBezTo>
                <a:cubicBezTo>
                  <a:pt x="5785" y="28989"/>
                  <a:pt x="13562" y="21213"/>
                  <a:pt x="23141" y="21213"/>
                </a:cubicBezTo>
                <a:close/>
                <a:moveTo>
                  <a:pt x="0" y="100278"/>
                </a:moveTo>
                <a:cubicBezTo>
                  <a:pt x="0" y="83235"/>
                  <a:pt x="13812" y="69423"/>
                  <a:pt x="30855" y="69423"/>
                </a:cubicBezTo>
                <a:cubicBezTo>
                  <a:pt x="33940" y="69423"/>
                  <a:pt x="36929" y="69881"/>
                  <a:pt x="39749" y="70725"/>
                </a:cubicBezTo>
                <a:cubicBezTo>
                  <a:pt x="31819" y="79595"/>
                  <a:pt x="26998" y="91311"/>
                  <a:pt x="26998" y="104134"/>
                </a:cubicBezTo>
                <a:lnTo>
                  <a:pt x="26998" y="107991"/>
                </a:lnTo>
                <a:cubicBezTo>
                  <a:pt x="26998" y="110739"/>
                  <a:pt x="27576" y="113343"/>
                  <a:pt x="28613" y="115705"/>
                </a:cubicBezTo>
                <a:lnTo>
                  <a:pt x="7714" y="115705"/>
                </a:lnTo>
                <a:cubicBezTo>
                  <a:pt x="3447" y="115705"/>
                  <a:pt x="0" y="112258"/>
                  <a:pt x="0" y="107991"/>
                </a:cubicBezTo>
                <a:lnTo>
                  <a:pt x="0" y="100278"/>
                </a:lnTo>
                <a:close/>
                <a:moveTo>
                  <a:pt x="125660" y="115705"/>
                </a:moveTo>
                <a:cubicBezTo>
                  <a:pt x="126697" y="113343"/>
                  <a:pt x="127275" y="110739"/>
                  <a:pt x="127275" y="107991"/>
                </a:cubicBezTo>
                <a:lnTo>
                  <a:pt x="127275" y="104134"/>
                </a:lnTo>
                <a:cubicBezTo>
                  <a:pt x="127275" y="91311"/>
                  <a:pt x="122454" y="79595"/>
                  <a:pt x="114524" y="70725"/>
                </a:cubicBezTo>
                <a:cubicBezTo>
                  <a:pt x="117344" y="69881"/>
                  <a:pt x="120333" y="69423"/>
                  <a:pt x="123419" y="69423"/>
                </a:cubicBezTo>
                <a:cubicBezTo>
                  <a:pt x="140461" y="69423"/>
                  <a:pt x="154273" y="83235"/>
                  <a:pt x="154273" y="100278"/>
                </a:cubicBezTo>
                <a:lnTo>
                  <a:pt x="154273" y="107991"/>
                </a:lnTo>
                <a:cubicBezTo>
                  <a:pt x="154273" y="112258"/>
                  <a:pt x="150826" y="115705"/>
                  <a:pt x="146560" y="115705"/>
                </a:cubicBezTo>
                <a:lnTo>
                  <a:pt x="125660" y="115705"/>
                </a:lnTo>
                <a:close/>
                <a:moveTo>
                  <a:pt x="113777" y="38568"/>
                </a:moveTo>
                <a:cubicBezTo>
                  <a:pt x="113777" y="28989"/>
                  <a:pt x="121553" y="21213"/>
                  <a:pt x="131132" y="21213"/>
                </a:cubicBezTo>
                <a:cubicBezTo>
                  <a:pt x="140711" y="21213"/>
                  <a:pt x="148488" y="28989"/>
                  <a:pt x="148488" y="38568"/>
                </a:cubicBezTo>
                <a:cubicBezTo>
                  <a:pt x="148488" y="48147"/>
                  <a:pt x="140711" y="55924"/>
                  <a:pt x="131132" y="55924"/>
                </a:cubicBezTo>
                <a:cubicBezTo>
                  <a:pt x="121553" y="55924"/>
                  <a:pt x="113777" y="48147"/>
                  <a:pt x="113777" y="38568"/>
                </a:cubicBezTo>
                <a:close/>
                <a:moveTo>
                  <a:pt x="38568" y="104134"/>
                </a:moveTo>
                <a:cubicBezTo>
                  <a:pt x="38568" y="82825"/>
                  <a:pt x="55828" y="65566"/>
                  <a:pt x="77137" y="65566"/>
                </a:cubicBezTo>
                <a:cubicBezTo>
                  <a:pt x="98446" y="65566"/>
                  <a:pt x="115705" y="82825"/>
                  <a:pt x="115705" y="104134"/>
                </a:cubicBezTo>
                <a:lnTo>
                  <a:pt x="115705" y="107991"/>
                </a:lnTo>
                <a:cubicBezTo>
                  <a:pt x="115705" y="112258"/>
                  <a:pt x="112258" y="115705"/>
                  <a:pt x="107991" y="115705"/>
                </a:cubicBezTo>
                <a:lnTo>
                  <a:pt x="46282" y="115705"/>
                </a:lnTo>
                <a:cubicBezTo>
                  <a:pt x="42015" y="115705"/>
                  <a:pt x="38568" y="112258"/>
                  <a:pt x="38568" y="107991"/>
                </a:cubicBezTo>
                <a:lnTo>
                  <a:pt x="38568" y="10413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9"/>
          <p:cNvSpPr/>
          <p:nvPr/>
        </p:nvSpPr>
        <p:spPr>
          <a:xfrm>
            <a:off x="890377" y="2036408"/>
            <a:ext cx="1322343" cy="211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0377" y="2247983"/>
            <a:ext cx="1313527" cy="176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52名开发者，随机分组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490" y="2512451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35262" y="0"/>
                </a:moveTo>
                <a:lnTo>
                  <a:pt x="246837" y="0"/>
                </a:lnTo>
                <a:cubicBezTo>
                  <a:pt x="266312" y="0"/>
                  <a:pt x="282100" y="15788"/>
                  <a:pt x="282100" y="35262"/>
                </a:cubicBezTo>
                <a:lnTo>
                  <a:pt x="282100" y="246837"/>
                </a:lnTo>
                <a:cubicBezTo>
                  <a:pt x="282100" y="266312"/>
                  <a:pt x="266312" y="282100"/>
                  <a:pt x="246837" y="282100"/>
                </a:cubicBezTo>
                <a:lnTo>
                  <a:pt x="35262" y="282100"/>
                </a:lnTo>
                <a:cubicBezTo>
                  <a:pt x="15788" y="282100"/>
                  <a:pt x="0" y="266312"/>
                  <a:pt x="0" y="2468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84035" y="2591792"/>
            <a:ext cx="123419" cy="123419"/>
          </a:xfrm>
          <a:custGeom>
            <a:avLst/>
            <a:gdLst/>
            <a:ahLst/>
            <a:cxnLst/>
            <a:rect l="l" t="t" r="r" b="b"/>
            <a:pathLst>
              <a:path w="123419" h="123419">
                <a:moveTo>
                  <a:pt x="32253" y="8750"/>
                </a:moveTo>
                <a:cubicBezTo>
                  <a:pt x="34880" y="10582"/>
                  <a:pt x="35507" y="14198"/>
                  <a:pt x="33675" y="16801"/>
                </a:cubicBezTo>
                <a:lnTo>
                  <a:pt x="20176" y="36085"/>
                </a:lnTo>
                <a:cubicBezTo>
                  <a:pt x="19188" y="37484"/>
                  <a:pt x="17645" y="38375"/>
                  <a:pt x="15934" y="38520"/>
                </a:cubicBezTo>
                <a:cubicBezTo>
                  <a:pt x="14222" y="38665"/>
                  <a:pt x="12535" y="38086"/>
                  <a:pt x="11329" y="36881"/>
                </a:cubicBezTo>
                <a:lnTo>
                  <a:pt x="1687" y="27239"/>
                </a:lnTo>
                <a:cubicBezTo>
                  <a:pt x="-554" y="24973"/>
                  <a:pt x="-554" y="21309"/>
                  <a:pt x="1687" y="19043"/>
                </a:cubicBezTo>
                <a:cubicBezTo>
                  <a:pt x="3929" y="16777"/>
                  <a:pt x="7617" y="16801"/>
                  <a:pt x="9883" y="19043"/>
                </a:cubicBezTo>
                <a:lnTo>
                  <a:pt x="14656" y="23816"/>
                </a:lnTo>
                <a:lnTo>
                  <a:pt x="24202" y="10172"/>
                </a:lnTo>
                <a:cubicBezTo>
                  <a:pt x="26034" y="7545"/>
                  <a:pt x="29649" y="6918"/>
                  <a:pt x="32253" y="8750"/>
                </a:cubicBezTo>
                <a:close/>
                <a:moveTo>
                  <a:pt x="32253" y="47319"/>
                </a:moveTo>
                <a:cubicBezTo>
                  <a:pt x="34880" y="49151"/>
                  <a:pt x="35507" y="52766"/>
                  <a:pt x="33675" y="55370"/>
                </a:cubicBezTo>
                <a:lnTo>
                  <a:pt x="20176" y="74654"/>
                </a:lnTo>
                <a:cubicBezTo>
                  <a:pt x="19188" y="76052"/>
                  <a:pt x="17645" y="76944"/>
                  <a:pt x="15934" y="77088"/>
                </a:cubicBezTo>
                <a:cubicBezTo>
                  <a:pt x="14222" y="77233"/>
                  <a:pt x="12535" y="76655"/>
                  <a:pt x="11329" y="75449"/>
                </a:cubicBezTo>
                <a:lnTo>
                  <a:pt x="1687" y="65807"/>
                </a:lnTo>
                <a:cubicBezTo>
                  <a:pt x="-579" y="63541"/>
                  <a:pt x="-579" y="59877"/>
                  <a:pt x="1687" y="57636"/>
                </a:cubicBezTo>
                <a:cubicBezTo>
                  <a:pt x="3953" y="55394"/>
                  <a:pt x="7617" y="55370"/>
                  <a:pt x="9859" y="57636"/>
                </a:cubicBezTo>
                <a:lnTo>
                  <a:pt x="14632" y="62408"/>
                </a:lnTo>
                <a:lnTo>
                  <a:pt x="24178" y="48765"/>
                </a:lnTo>
                <a:cubicBezTo>
                  <a:pt x="26010" y="46137"/>
                  <a:pt x="29625" y="45511"/>
                  <a:pt x="32229" y="47343"/>
                </a:cubicBezTo>
                <a:close/>
                <a:moveTo>
                  <a:pt x="53996" y="23141"/>
                </a:moveTo>
                <a:cubicBezTo>
                  <a:pt x="53996" y="18874"/>
                  <a:pt x="57443" y="15427"/>
                  <a:pt x="61709" y="15427"/>
                </a:cubicBezTo>
                <a:lnTo>
                  <a:pt x="115705" y="15427"/>
                </a:lnTo>
                <a:cubicBezTo>
                  <a:pt x="119972" y="15427"/>
                  <a:pt x="123419" y="18874"/>
                  <a:pt x="123419" y="23141"/>
                </a:cubicBezTo>
                <a:cubicBezTo>
                  <a:pt x="123419" y="27408"/>
                  <a:pt x="119972" y="30855"/>
                  <a:pt x="115705" y="30855"/>
                </a:cubicBezTo>
                <a:lnTo>
                  <a:pt x="61709" y="30855"/>
                </a:lnTo>
                <a:cubicBezTo>
                  <a:pt x="57443" y="30855"/>
                  <a:pt x="53996" y="27408"/>
                  <a:pt x="53996" y="23141"/>
                </a:cubicBezTo>
                <a:close/>
                <a:moveTo>
                  <a:pt x="53996" y="61709"/>
                </a:moveTo>
                <a:cubicBezTo>
                  <a:pt x="53996" y="57443"/>
                  <a:pt x="57443" y="53996"/>
                  <a:pt x="61709" y="53996"/>
                </a:cubicBezTo>
                <a:lnTo>
                  <a:pt x="115705" y="53996"/>
                </a:lnTo>
                <a:cubicBezTo>
                  <a:pt x="119972" y="53996"/>
                  <a:pt x="123419" y="57443"/>
                  <a:pt x="123419" y="61709"/>
                </a:cubicBezTo>
                <a:cubicBezTo>
                  <a:pt x="123419" y="65976"/>
                  <a:pt x="119972" y="69423"/>
                  <a:pt x="115705" y="69423"/>
                </a:cubicBezTo>
                <a:lnTo>
                  <a:pt x="61709" y="69423"/>
                </a:lnTo>
                <a:cubicBezTo>
                  <a:pt x="57443" y="69423"/>
                  <a:pt x="53996" y="65976"/>
                  <a:pt x="53996" y="61709"/>
                </a:cubicBezTo>
                <a:close/>
                <a:moveTo>
                  <a:pt x="38568" y="100278"/>
                </a:moveTo>
                <a:cubicBezTo>
                  <a:pt x="38568" y="96011"/>
                  <a:pt x="42015" y="92564"/>
                  <a:pt x="46282" y="92564"/>
                </a:cubicBezTo>
                <a:lnTo>
                  <a:pt x="115705" y="92564"/>
                </a:lnTo>
                <a:cubicBezTo>
                  <a:pt x="119972" y="92564"/>
                  <a:pt x="123419" y="96011"/>
                  <a:pt x="123419" y="100278"/>
                </a:cubicBezTo>
                <a:cubicBezTo>
                  <a:pt x="123419" y="104544"/>
                  <a:pt x="119972" y="107991"/>
                  <a:pt x="115705" y="107991"/>
                </a:cubicBezTo>
                <a:lnTo>
                  <a:pt x="46282" y="107991"/>
                </a:lnTo>
                <a:cubicBezTo>
                  <a:pt x="42015" y="107991"/>
                  <a:pt x="38568" y="104544"/>
                  <a:pt x="38568" y="100278"/>
                </a:cubicBezTo>
                <a:close/>
                <a:moveTo>
                  <a:pt x="15427" y="90636"/>
                </a:moveTo>
                <a:cubicBezTo>
                  <a:pt x="20749" y="90636"/>
                  <a:pt x="25069" y="94956"/>
                  <a:pt x="25069" y="100278"/>
                </a:cubicBezTo>
                <a:cubicBezTo>
                  <a:pt x="25069" y="105599"/>
                  <a:pt x="20749" y="109920"/>
                  <a:pt x="15427" y="109920"/>
                </a:cubicBezTo>
                <a:cubicBezTo>
                  <a:pt x="10106" y="109920"/>
                  <a:pt x="5785" y="105599"/>
                  <a:pt x="5785" y="100278"/>
                </a:cubicBezTo>
                <a:cubicBezTo>
                  <a:pt x="5785" y="94956"/>
                  <a:pt x="10106" y="90636"/>
                  <a:pt x="15427" y="9063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5" name="Text 13"/>
          <p:cNvSpPr/>
          <p:nvPr/>
        </p:nvSpPr>
        <p:spPr>
          <a:xfrm>
            <a:off x="890377" y="2494820"/>
            <a:ext cx="2415479" cy="211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0377" y="2706395"/>
            <a:ext cx="2406664" cy="176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学习陌生Python库（Trio）并完成编程功能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490" y="2970863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35262" y="0"/>
                </a:moveTo>
                <a:lnTo>
                  <a:pt x="246837" y="0"/>
                </a:lnTo>
                <a:cubicBezTo>
                  <a:pt x="266312" y="0"/>
                  <a:pt x="282100" y="15788"/>
                  <a:pt x="282100" y="35262"/>
                </a:cubicBezTo>
                <a:lnTo>
                  <a:pt x="282100" y="246837"/>
                </a:lnTo>
                <a:cubicBezTo>
                  <a:pt x="282100" y="266312"/>
                  <a:pt x="266312" y="282100"/>
                  <a:pt x="246837" y="282100"/>
                </a:cubicBezTo>
                <a:lnTo>
                  <a:pt x="35262" y="282100"/>
                </a:lnTo>
                <a:cubicBezTo>
                  <a:pt x="15788" y="282100"/>
                  <a:pt x="0" y="266312"/>
                  <a:pt x="0" y="2468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91748" y="3050204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30855" y="0"/>
                </a:moveTo>
                <a:cubicBezTo>
                  <a:pt x="26588" y="0"/>
                  <a:pt x="23141" y="3447"/>
                  <a:pt x="23141" y="7714"/>
                </a:cubicBezTo>
                <a:lnTo>
                  <a:pt x="23141" y="15427"/>
                </a:lnTo>
                <a:lnTo>
                  <a:pt x="15427" y="15427"/>
                </a:lnTo>
                <a:cubicBezTo>
                  <a:pt x="6918" y="15427"/>
                  <a:pt x="0" y="22346"/>
                  <a:pt x="0" y="30855"/>
                </a:cubicBezTo>
                <a:lnTo>
                  <a:pt x="0" y="42425"/>
                </a:lnTo>
                <a:lnTo>
                  <a:pt x="107991" y="42425"/>
                </a:lnTo>
                <a:lnTo>
                  <a:pt x="107991" y="30855"/>
                </a:lnTo>
                <a:cubicBezTo>
                  <a:pt x="107991" y="22346"/>
                  <a:pt x="101073" y="15427"/>
                  <a:pt x="92564" y="15427"/>
                </a:cubicBezTo>
                <a:lnTo>
                  <a:pt x="84850" y="15427"/>
                </a:lnTo>
                <a:lnTo>
                  <a:pt x="84850" y="7714"/>
                </a:lnTo>
                <a:cubicBezTo>
                  <a:pt x="84850" y="3447"/>
                  <a:pt x="81403" y="0"/>
                  <a:pt x="77137" y="0"/>
                </a:cubicBezTo>
                <a:cubicBezTo>
                  <a:pt x="72870" y="0"/>
                  <a:pt x="69423" y="3447"/>
                  <a:pt x="69423" y="7714"/>
                </a:cubicBezTo>
                <a:lnTo>
                  <a:pt x="69423" y="15427"/>
                </a:lnTo>
                <a:lnTo>
                  <a:pt x="38568" y="15427"/>
                </a:lnTo>
                <a:lnTo>
                  <a:pt x="38568" y="7714"/>
                </a:lnTo>
                <a:cubicBezTo>
                  <a:pt x="38568" y="3447"/>
                  <a:pt x="35121" y="0"/>
                  <a:pt x="30855" y="0"/>
                </a:cubicBezTo>
                <a:close/>
                <a:moveTo>
                  <a:pt x="0" y="53996"/>
                </a:moveTo>
                <a:lnTo>
                  <a:pt x="0" y="100278"/>
                </a:lnTo>
                <a:cubicBezTo>
                  <a:pt x="0" y="108787"/>
                  <a:pt x="6918" y="115705"/>
                  <a:pt x="15427" y="115705"/>
                </a:cubicBezTo>
                <a:lnTo>
                  <a:pt x="92564" y="115705"/>
                </a:lnTo>
                <a:cubicBezTo>
                  <a:pt x="101073" y="115705"/>
                  <a:pt x="107991" y="108787"/>
                  <a:pt x="107991" y="100278"/>
                </a:cubicBezTo>
                <a:lnTo>
                  <a:pt x="107991" y="53996"/>
                </a:lnTo>
                <a:lnTo>
                  <a:pt x="0" y="5399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9" name="Text 17"/>
          <p:cNvSpPr/>
          <p:nvPr/>
        </p:nvSpPr>
        <p:spPr>
          <a:xfrm>
            <a:off x="890377" y="2953232"/>
            <a:ext cx="899193" cy="211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0377" y="3164807"/>
            <a:ext cx="890377" cy="176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2026年1月发表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7033" y="3601180"/>
            <a:ext cx="5668443" cy="2900338"/>
          </a:xfrm>
          <a:custGeom>
            <a:avLst/>
            <a:gdLst/>
            <a:ahLst/>
            <a:cxnLst/>
            <a:rect l="l" t="t" r="r" b="b"/>
            <a:pathLst>
              <a:path w="5668443" h="2900338">
                <a:moveTo>
                  <a:pt x="105775" y="0"/>
                </a:moveTo>
                <a:lnTo>
                  <a:pt x="5562667" y="0"/>
                </a:lnTo>
                <a:cubicBezTo>
                  <a:pt x="5621085" y="0"/>
                  <a:pt x="5668443" y="47357"/>
                  <a:pt x="5668443" y="105775"/>
                </a:cubicBezTo>
                <a:lnTo>
                  <a:pt x="5668443" y="2794563"/>
                </a:lnTo>
                <a:cubicBezTo>
                  <a:pt x="5668443" y="2852981"/>
                  <a:pt x="5621085" y="2900338"/>
                  <a:pt x="5562667" y="2900338"/>
                </a:cubicBezTo>
                <a:lnTo>
                  <a:pt x="105775" y="2900338"/>
                </a:lnTo>
                <a:cubicBezTo>
                  <a:pt x="47357" y="2900338"/>
                  <a:pt x="0" y="2852981"/>
                  <a:pt x="0" y="2794563"/>
                </a:cubicBezTo>
                <a:lnTo>
                  <a:pt x="0" y="105775"/>
                </a:lnTo>
                <a:cubicBezTo>
                  <a:pt x="0" y="47396"/>
                  <a:pt x="47396" y="0"/>
                  <a:pt x="105775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4529" y="3790716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79341" y="158681"/>
                </a:moveTo>
                <a:cubicBezTo>
                  <a:pt x="123130" y="158681"/>
                  <a:pt x="158681" y="123130"/>
                  <a:pt x="158681" y="79341"/>
                </a:cubicBezTo>
                <a:cubicBezTo>
                  <a:pt x="158681" y="35551"/>
                  <a:pt x="123130" y="0"/>
                  <a:pt x="79341" y="0"/>
                </a:cubicBezTo>
                <a:cubicBezTo>
                  <a:pt x="35551" y="0"/>
                  <a:pt x="0" y="35551"/>
                  <a:pt x="0" y="79341"/>
                </a:cubicBezTo>
                <a:cubicBezTo>
                  <a:pt x="0" y="123130"/>
                  <a:pt x="35551" y="158681"/>
                  <a:pt x="79341" y="158681"/>
                </a:cubicBezTo>
                <a:close/>
                <a:moveTo>
                  <a:pt x="79341" y="42150"/>
                </a:moveTo>
                <a:cubicBezTo>
                  <a:pt x="83463" y="42150"/>
                  <a:pt x="86779" y="45466"/>
                  <a:pt x="86779" y="49588"/>
                </a:cubicBezTo>
                <a:lnTo>
                  <a:pt x="86779" y="84299"/>
                </a:lnTo>
                <a:cubicBezTo>
                  <a:pt x="86779" y="88421"/>
                  <a:pt x="83463" y="91738"/>
                  <a:pt x="79341" y="91738"/>
                </a:cubicBezTo>
                <a:cubicBezTo>
                  <a:pt x="75219" y="91738"/>
                  <a:pt x="71902" y="88421"/>
                  <a:pt x="71902" y="84299"/>
                </a:cubicBezTo>
                <a:lnTo>
                  <a:pt x="71902" y="49588"/>
                </a:lnTo>
                <a:cubicBezTo>
                  <a:pt x="71902" y="45466"/>
                  <a:pt x="75219" y="42150"/>
                  <a:pt x="79341" y="42150"/>
                </a:cubicBezTo>
                <a:close/>
                <a:moveTo>
                  <a:pt x="71066" y="109093"/>
                </a:moveTo>
                <a:cubicBezTo>
                  <a:pt x="70877" y="106022"/>
                  <a:pt x="72409" y="103099"/>
                  <a:pt x="75042" y="101507"/>
                </a:cubicBezTo>
                <a:cubicBezTo>
                  <a:pt x="77675" y="99914"/>
                  <a:pt x="80975" y="99914"/>
                  <a:pt x="83608" y="101507"/>
                </a:cubicBezTo>
                <a:cubicBezTo>
                  <a:pt x="86241" y="103099"/>
                  <a:pt x="87773" y="106022"/>
                  <a:pt x="87585" y="109093"/>
                </a:cubicBezTo>
                <a:cubicBezTo>
                  <a:pt x="87773" y="112165"/>
                  <a:pt x="86241" y="115087"/>
                  <a:pt x="83608" y="116680"/>
                </a:cubicBezTo>
                <a:cubicBezTo>
                  <a:pt x="80975" y="118273"/>
                  <a:pt x="77675" y="118273"/>
                  <a:pt x="75042" y="116680"/>
                </a:cubicBezTo>
                <a:cubicBezTo>
                  <a:pt x="72409" y="115087"/>
                  <a:pt x="70877" y="112165"/>
                  <a:pt x="71066" y="10909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3" name="Text 21"/>
          <p:cNvSpPr/>
          <p:nvPr/>
        </p:nvSpPr>
        <p:spPr>
          <a:xfrm>
            <a:off x="705249" y="3746638"/>
            <a:ext cx="5254108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0121" y="4099262"/>
            <a:ext cx="5359896" cy="634725"/>
          </a:xfrm>
          <a:custGeom>
            <a:avLst/>
            <a:gdLst/>
            <a:ahLst/>
            <a:cxnLst/>
            <a:rect l="l" t="t" r="r" b="b"/>
            <a:pathLst>
              <a:path w="5359896" h="634725">
                <a:moveTo>
                  <a:pt x="35262" y="0"/>
                </a:moveTo>
                <a:lnTo>
                  <a:pt x="5289372" y="0"/>
                </a:lnTo>
                <a:cubicBezTo>
                  <a:pt x="5328321" y="0"/>
                  <a:pt x="5359896" y="31575"/>
                  <a:pt x="5359896" y="70524"/>
                </a:cubicBezTo>
                <a:lnTo>
                  <a:pt x="5359896" y="564200"/>
                </a:lnTo>
                <a:cubicBezTo>
                  <a:pt x="5359896" y="603150"/>
                  <a:pt x="5328321" y="634725"/>
                  <a:pt x="5289372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20121" y="4099262"/>
            <a:ext cx="35262" cy="634725"/>
          </a:xfrm>
          <a:custGeom>
            <a:avLst/>
            <a:gdLst/>
            <a:ahLst/>
            <a:cxnLst/>
            <a:rect l="l" t="t" r="r" b="b"/>
            <a:pathLst>
              <a:path w="35262" h="634725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6" name="Text 24"/>
          <p:cNvSpPr/>
          <p:nvPr/>
        </p:nvSpPr>
        <p:spPr>
          <a:xfrm>
            <a:off x="643540" y="4205050"/>
            <a:ext cx="5192399" cy="176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任务完成速度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540" y="4416625"/>
            <a:ext cx="5201215" cy="211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AI辅助组</a:t>
            </a:r>
            <a:r>
              <a:rPr lang="en-US" sz="111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略快</a:t>
            </a: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0121" y="4804512"/>
            <a:ext cx="5359896" cy="846299"/>
          </a:xfrm>
          <a:custGeom>
            <a:avLst/>
            <a:gdLst/>
            <a:ahLst/>
            <a:cxnLst/>
            <a:rect l="l" t="t" r="r" b="b"/>
            <a:pathLst>
              <a:path w="5359896" h="846299">
                <a:moveTo>
                  <a:pt x="35262" y="0"/>
                </a:moveTo>
                <a:lnTo>
                  <a:pt x="5289374" y="0"/>
                </a:lnTo>
                <a:cubicBezTo>
                  <a:pt x="5328322" y="0"/>
                  <a:pt x="5359896" y="31574"/>
                  <a:pt x="5359896" y="70522"/>
                </a:cubicBezTo>
                <a:lnTo>
                  <a:pt x="5359896" y="775777"/>
                </a:lnTo>
                <a:cubicBezTo>
                  <a:pt x="5359896" y="814726"/>
                  <a:pt x="5328322" y="846299"/>
                  <a:pt x="5289374" y="846299"/>
                </a:cubicBez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20121" y="4804512"/>
            <a:ext cx="35262" cy="846299"/>
          </a:xfrm>
          <a:custGeom>
            <a:avLst/>
            <a:gdLst/>
            <a:ahLst/>
            <a:cxnLst/>
            <a:rect l="l" t="t" r="r" b="b"/>
            <a:pathLst>
              <a:path w="35262" h="846299">
                <a:moveTo>
                  <a:pt x="35262" y="0"/>
                </a:moveTo>
                <a:lnTo>
                  <a:pt x="35262" y="0"/>
                </a:lnTo>
                <a:lnTo>
                  <a:pt x="35262" y="846299"/>
                </a:ln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0" name="Text 28"/>
          <p:cNvSpPr/>
          <p:nvPr/>
        </p:nvSpPr>
        <p:spPr>
          <a:xfrm>
            <a:off x="643540" y="4910299"/>
            <a:ext cx="5192399" cy="176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概念理解测验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3540" y="5121874"/>
            <a:ext cx="5201215" cy="211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AI辅助组仅</a:t>
            </a:r>
            <a:r>
              <a:rPr lang="en-US" sz="111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</a:t>
            </a: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，独立组</a:t>
            </a:r>
            <a:r>
              <a:rPr lang="en-US" sz="111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67%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3540" y="5368711"/>
            <a:ext cx="5192399" cy="176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差距近两个字母等级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0121" y="5721336"/>
            <a:ext cx="5359896" cy="634725"/>
          </a:xfrm>
          <a:custGeom>
            <a:avLst/>
            <a:gdLst/>
            <a:ahLst/>
            <a:cxnLst/>
            <a:rect l="l" t="t" r="r" b="b"/>
            <a:pathLst>
              <a:path w="5359896" h="634725">
                <a:moveTo>
                  <a:pt x="35262" y="0"/>
                </a:moveTo>
                <a:lnTo>
                  <a:pt x="5289372" y="0"/>
                </a:lnTo>
                <a:cubicBezTo>
                  <a:pt x="5328321" y="0"/>
                  <a:pt x="5359896" y="31575"/>
                  <a:pt x="5359896" y="70524"/>
                </a:cubicBezTo>
                <a:lnTo>
                  <a:pt x="5359896" y="564200"/>
                </a:lnTo>
                <a:cubicBezTo>
                  <a:pt x="5359896" y="603150"/>
                  <a:pt x="5328321" y="634725"/>
                  <a:pt x="5289372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20121" y="5721336"/>
            <a:ext cx="35262" cy="634725"/>
          </a:xfrm>
          <a:custGeom>
            <a:avLst/>
            <a:gdLst/>
            <a:ahLst/>
            <a:cxnLst/>
            <a:rect l="l" t="t" r="r" b="b"/>
            <a:pathLst>
              <a:path w="35262" h="634725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5" name="Text 33"/>
          <p:cNvSpPr/>
          <p:nvPr/>
        </p:nvSpPr>
        <p:spPr>
          <a:xfrm>
            <a:off x="643540" y="5827124"/>
            <a:ext cx="5192399" cy="176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调试与错误识别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3540" y="6038698"/>
            <a:ext cx="5201215" cy="211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AI辅助组</a:t>
            </a:r>
            <a:r>
              <a:rPr lang="en-US" sz="111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显著弱于</a:t>
            </a: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独立组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1415" y="1538325"/>
            <a:ext cx="5668443" cy="2406664"/>
          </a:xfrm>
          <a:custGeom>
            <a:avLst/>
            <a:gdLst/>
            <a:ahLst/>
            <a:cxnLst/>
            <a:rect l="l" t="t" r="r" b="b"/>
            <a:pathLst>
              <a:path w="5668443" h="2406664">
                <a:moveTo>
                  <a:pt x="105797" y="0"/>
                </a:moveTo>
                <a:lnTo>
                  <a:pt x="5562646" y="0"/>
                </a:lnTo>
                <a:cubicBezTo>
                  <a:pt x="5621076" y="0"/>
                  <a:pt x="5668443" y="47367"/>
                  <a:pt x="5668443" y="105797"/>
                </a:cubicBezTo>
                <a:lnTo>
                  <a:pt x="5668443" y="2300867"/>
                </a:lnTo>
                <a:cubicBezTo>
                  <a:pt x="5668443" y="2359297"/>
                  <a:pt x="5621076" y="2406664"/>
                  <a:pt x="5562646" y="2406664"/>
                </a:cubicBezTo>
                <a:lnTo>
                  <a:pt x="105797" y="2406664"/>
                </a:lnTo>
                <a:cubicBezTo>
                  <a:pt x="47367" y="2406664"/>
                  <a:pt x="0" y="2359297"/>
                  <a:pt x="0" y="2300867"/>
                </a:cubicBezTo>
                <a:lnTo>
                  <a:pt x="0" y="105797"/>
                </a:lnTo>
                <a:cubicBezTo>
                  <a:pt x="0" y="47367"/>
                  <a:pt x="47367" y="0"/>
                  <a:pt x="1057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6873" y="1683783"/>
            <a:ext cx="5456868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使用方式：关键调节变量</a:t>
            </a:r>
            <a:endParaRPr lang="en-US" sz="1600" dirty="0"/>
          </a:p>
        </p:txBody>
      </p:sp>
      <p:pic>
        <p:nvPicPr>
          <p:cNvPr id="39" name="Image 0" descr="https://kimi-img.moonshot.cn/pub/slides/26-02-11-13:00:47-d660pvsnvj4tb7fltld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16873" y="2036408"/>
            <a:ext cx="4919115" cy="1763124"/>
          </a:xfrm>
          <a:prstGeom prst="roundRect">
            <a:avLst>
              <a:gd name="adj" fmla="val 0"/>
            </a:avLst>
          </a:prstGeom>
        </p:spPr>
      </p:pic>
      <p:sp>
        <p:nvSpPr>
          <p:cNvPr id="40" name="Shape 37"/>
          <p:cNvSpPr/>
          <p:nvPr/>
        </p:nvSpPr>
        <p:spPr>
          <a:xfrm>
            <a:off x="6171415" y="4059592"/>
            <a:ext cx="5668443" cy="1666152"/>
          </a:xfrm>
          <a:custGeom>
            <a:avLst/>
            <a:gdLst/>
            <a:ahLst/>
            <a:cxnLst/>
            <a:rect l="l" t="t" r="r" b="b"/>
            <a:pathLst>
              <a:path w="5668443" h="1666152">
                <a:moveTo>
                  <a:pt x="105784" y="0"/>
                </a:moveTo>
                <a:lnTo>
                  <a:pt x="5562659" y="0"/>
                </a:lnTo>
                <a:cubicBezTo>
                  <a:pt x="5621081" y="0"/>
                  <a:pt x="5668443" y="47361"/>
                  <a:pt x="5668443" y="105784"/>
                </a:cubicBezTo>
                <a:lnTo>
                  <a:pt x="5668443" y="1560368"/>
                </a:lnTo>
                <a:cubicBezTo>
                  <a:pt x="5668443" y="1618791"/>
                  <a:pt x="5621081" y="1666152"/>
                  <a:pt x="5562659" y="1666152"/>
                </a:cubicBezTo>
                <a:lnTo>
                  <a:pt x="105784" y="1666152"/>
                </a:lnTo>
                <a:cubicBezTo>
                  <a:pt x="47361" y="1666152"/>
                  <a:pt x="0" y="1618791"/>
                  <a:pt x="0" y="1560368"/>
                </a:cubicBezTo>
                <a:lnTo>
                  <a:pt x="0" y="105784"/>
                </a:lnTo>
                <a:cubicBezTo>
                  <a:pt x="0" y="47400"/>
                  <a:pt x="47400" y="0"/>
                  <a:pt x="105784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15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60951" y="4240312"/>
            <a:ext cx="132234" cy="176312"/>
          </a:xfrm>
          <a:custGeom>
            <a:avLst/>
            <a:gdLst/>
            <a:ahLst/>
            <a:cxnLst/>
            <a:rect l="l" t="t" r="r" b="b"/>
            <a:pathLst>
              <a:path w="132234" h="176312">
                <a:moveTo>
                  <a:pt x="100863" y="132234"/>
                </a:moveTo>
                <a:cubicBezTo>
                  <a:pt x="103377" y="124555"/>
                  <a:pt x="108405" y="117599"/>
                  <a:pt x="114086" y="111607"/>
                </a:cubicBezTo>
                <a:cubicBezTo>
                  <a:pt x="125347" y="99761"/>
                  <a:pt x="132234" y="83748"/>
                  <a:pt x="132234" y="66117"/>
                </a:cubicBezTo>
                <a:cubicBezTo>
                  <a:pt x="132234" y="29615"/>
                  <a:pt x="102619" y="0"/>
                  <a:pt x="66117" y="0"/>
                </a:cubicBezTo>
                <a:cubicBezTo>
                  <a:pt x="29615" y="0"/>
                  <a:pt x="0" y="29615"/>
                  <a:pt x="0" y="66117"/>
                </a:cubicBezTo>
                <a:cubicBezTo>
                  <a:pt x="0" y="83748"/>
                  <a:pt x="6887" y="99761"/>
                  <a:pt x="18148" y="111607"/>
                </a:cubicBezTo>
                <a:cubicBezTo>
                  <a:pt x="23830" y="117599"/>
                  <a:pt x="28892" y="124555"/>
                  <a:pt x="31371" y="132234"/>
                </a:cubicBezTo>
                <a:lnTo>
                  <a:pt x="100829" y="132234"/>
                </a:lnTo>
                <a:close/>
                <a:moveTo>
                  <a:pt x="99176" y="148764"/>
                </a:moveTo>
                <a:lnTo>
                  <a:pt x="33059" y="148764"/>
                </a:lnTo>
                <a:lnTo>
                  <a:pt x="33059" y="154273"/>
                </a:lnTo>
                <a:cubicBezTo>
                  <a:pt x="33059" y="169494"/>
                  <a:pt x="45387" y="181822"/>
                  <a:pt x="60607" y="181822"/>
                </a:cubicBezTo>
                <a:lnTo>
                  <a:pt x="71627" y="181822"/>
                </a:lnTo>
                <a:cubicBezTo>
                  <a:pt x="86848" y="181822"/>
                  <a:pt x="99176" y="169494"/>
                  <a:pt x="99176" y="154273"/>
                </a:cubicBezTo>
                <a:lnTo>
                  <a:pt x="99176" y="148764"/>
                </a:lnTo>
                <a:close/>
                <a:moveTo>
                  <a:pt x="63362" y="38568"/>
                </a:moveTo>
                <a:cubicBezTo>
                  <a:pt x="49657" y="38568"/>
                  <a:pt x="38568" y="49657"/>
                  <a:pt x="38568" y="63362"/>
                </a:cubicBezTo>
                <a:cubicBezTo>
                  <a:pt x="38568" y="67942"/>
                  <a:pt x="34884" y="71627"/>
                  <a:pt x="30304" y="71627"/>
                </a:cubicBezTo>
                <a:cubicBezTo>
                  <a:pt x="25724" y="71627"/>
                  <a:pt x="22039" y="67942"/>
                  <a:pt x="22039" y="63362"/>
                </a:cubicBezTo>
                <a:cubicBezTo>
                  <a:pt x="22039" y="40531"/>
                  <a:pt x="40531" y="22039"/>
                  <a:pt x="63362" y="22039"/>
                </a:cubicBezTo>
                <a:cubicBezTo>
                  <a:pt x="67942" y="22039"/>
                  <a:pt x="71627" y="25724"/>
                  <a:pt x="71627" y="30304"/>
                </a:cubicBezTo>
                <a:cubicBezTo>
                  <a:pt x="71627" y="34884"/>
                  <a:pt x="67942" y="38568"/>
                  <a:pt x="63362" y="38568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2" name="Text 39"/>
          <p:cNvSpPr/>
          <p:nvPr/>
        </p:nvSpPr>
        <p:spPr>
          <a:xfrm>
            <a:off x="6643050" y="4205050"/>
            <a:ext cx="1392868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对Skills设计的启示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316873" y="4557675"/>
            <a:ext cx="5448052" cy="2292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揭示了所谓的</a:t>
            </a:r>
            <a:r>
              <a:rPr lang="en-US" sz="111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"认知卸载"风险</a:t>
            </a:r>
            <a:r>
              <a:rPr lang="en-US" sz="11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——效率提升可能以理解深度为代价。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21280" y="4897076"/>
            <a:ext cx="5368711" cy="678803"/>
          </a:xfrm>
          <a:custGeom>
            <a:avLst/>
            <a:gdLst/>
            <a:ahLst/>
            <a:cxnLst/>
            <a:rect l="l" t="t" r="r" b="b"/>
            <a:pathLst>
              <a:path w="5368711" h="678803">
                <a:moveTo>
                  <a:pt x="70528" y="0"/>
                </a:moveTo>
                <a:lnTo>
                  <a:pt x="5298184" y="0"/>
                </a:lnTo>
                <a:cubicBezTo>
                  <a:pt x="5337135" y="0"/>
                  <a:pt x="5368711" y="31576"/>
                  <a:pt x="5368711" y="70528"/>
                </a:cubicBezTo>
                <a:lnTo>
                  <a:pt x="5368711" y="608275"/>
                </a:lnTo>
                <a:cubicBezTo>
                  <a:pt x="5368711" y="647226"/>
                  <a:pt x="5337135" y="678803"/>
                  <a:pt x="5298184" y="678803"/>
                </a:cubicBezTo>
                <a:lnTo>
                  <a:pt x="70528" y="678803"/>
                </a:lnTo>
                <a:cubicBezTo>
                  <a:pt x="31576" y="678803"/>
                  <a:pt x="0" y="647226"/>
                  <a:pt x="0" y="608275"/>
                </a:cubicBezTo>
                <a:lnTo>
                  <a:pt x="0" y="70528"/>
                </a:lnTo>
                <a:cubicBezTo>
                  <a:pt x="0" y="31602"/>
                  <a:pt x="31602" y="0"/>
                  <a:pt x="7052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49107" y="5055757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>
                <a:moveTo>
                  <a:pt x="138460" y="76751"/>
                </a:moveTo>
                <a:cubicBezTo>
                  <a:pt x="141904" y="73307"/>
                  <a:pt x="141904" y="67715"/>
                  <a:pt x="138460" y="64271"/>
                </a:cubicBezTo>
                <a:lnTo>
                  <a:pt x="94382" y="20193"/>
                </a:lnTo>
                <a:cubicBezTo>
                  <a:pt x="90939" y="16750"/>
                  <a:pt x="85346" y="16750"/>
                  <a:pt x="81903" y="20193"/>
                </a:cubicBezTo>
                <a:cubicBezTo>
                  <a:pt x="78459" y="23637"/>
                  <a:pt x="78459" y="29229"/>
                  <a:pt x="81903" y="32673"/>
                </a:cubicBezTo>
                <a:lnTo>
                  <a:pt x="110939" y="61709"/>
                </a:lnTo>
                <a:lnTo>
                  <a:pt x="8816" y="61709"/>
                </a:lnTo>
                <a:cubicBezTo>
                  <a:pt x="3939" y="61709"/>
                  <a:pt x="0" y="65649"/>
                  <a:pt x="0" y="70525"/>
                </a:cubicBezTo>
                <a:cubicBezTo>
                  <a:pt x="0" y="75401"/>
                  <a:pt x="3939" y="79341"/>
                  <a:pt x="8816" y="79341"/>
                </a:cubicBezTo>
                <a:lnTo>
                  <a:pt x="110939" y="79341"/>
                </a:lnTo>
                <a:lnTo>
                  <a:pt x="81903" y="108377"/>
                </a:lnTo>
                <a:cubicBezTo>
                  <a:pt x="78459" y="111821"/>
                  <a:pt x="78459" y="117413"/>
                  <a:pt x="81903" y="120857"/>
                </a:cubicBezTo>
                <a:cubicBezTo>
                  <a:pt x="85346" y="124300"/>
                  <a:pt x="90939" y="124300"/>
                  <a:pt x="94382" y="120857"/>
                </a:cubicBezTo>
                <a:lnTo>
                  <a:pt x="138460" y="76779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6" name="Text 43"/>
          <p:cNvSpPr/>
          <p:nvPr/>
        </p:nvSpPr>
        <p:spPr>
          <a:xfrm>
            <a:off x="6656742" y="5007271"/>
            <a:ext cx="4993579" cy="4584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Skill不应将过多决策封装为</a:t>
            </a:r>
            <a:r>
              <a:rPr lang="en-US" sz="111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黑箱</a:t>
            </a: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，而应考虑嵌入</a:t>
            </a:r>
            <a:r>
              <a:rPr lang="en-US" sz="1110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解释性步骤 </a:t>
            </a: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110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概念验证机制 </a:t>
            </a:r>
            <a:r>
              <a:rPr lang="en-US" sz="111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97319ed366a52926a13213b0848651c7a94c69c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7444" r="744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638300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>
                <a:moveTo>
                  <a:pt x="76201" y="0"/>
                </a:moveTo>
                <a:lnTo>
                  <a:pt x="1352549" y="0"/>
                </a:lnTo>
                <a:cubicBezTo>
                  <a:pt x="1394634" y="0"/>
                  <a:pt x="1428750" y="34116"/>
                  <a:pt x="1428750" y="76201"/>
                </a:cubicBezTo>
                <a:lnTo>
                  <a:pt x="1428750" y="352424"/>
                </a:lnTo>
                <a:cubicBezTo>
                  <a:pt x="1428750" y="394509"/>
                  <a:pt x="1394634" y="428625"/>
                  <a:pt x="13525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738313"/>
            <a:ext cx="12015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00288"/>
            <a:ext cx="3771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研究空白与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未来方向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43388"/>
            <a:ext cx="35433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技术演进路径与待解关键问题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9" name="Text 6"/>
          <p:cNvSpPr/>
          <p:nvPr/>
        </p:nvSpPr>
        <p:spPr>
          <a:xfrm>
            <a:off x="1524000" y="4995863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工程驱动，学术滞后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266" y="346266"/>
            <a:ext cx="1761257" cy="282143"/>
          </a:xfrm>
          <a:custGeom>
            <a:avLst/>
            <a:gdLst/>
            <a:ahLst/>
            <a:cxnLst/>
            <a:rect l="l" t="t" r="r" b="b"/>
            <a:pathLst>
              <a:path w="1761257" h="282143">
                <a:moveTo>
                  <a:pt x="34199" y="0"/>
                </a:moveTo>
                <a:lnTo>
                  <a:pt x="1727058" y="0"/>
                </a:lnTo>
                <a:cubicBezTo>
                  <a:pt x="1745945" y="0"/>
                  <a:pt x="1761257" y="15311"/>
                  <a:pt x="1761257" y="34199"/>
                </a:cubicBezTo>
                <a:lnTo>
                  <a:pt x="1761257" y="247944"/>
                </a:lnTo>
                <a:cubicBezTo>
                  <a:pt x="1761257" y="266832"/>
                  <a:pt x="1745945" y="282143"/>
                  <a:pt x="1727058" y="282143"/>
                </a:cubicBezTo>
                <a:lnTo>
                  <a:pt x="34199" y="282143"/>
                </a:lnTo>
                <a:cubicBezTo>
                  <a:pt x="15311" y="282143"/>
                  <a:pt x="0" y="266832"/>
                  <a:pt x="0" y="247944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3139" y="414665"/>
            <a:ext cx="1609364" cy="1581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b="1" kern="0" spc="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1992" y="701083"/>
            <a:ext cx="11661913" cy="34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技术发展方向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266" y="1184146"/>
            <a:ext cx="11499467" cy="1564612"/>
          </a:xfrm>
          <a:custGeom>
            <a:avLst/>
            <a:gdLst/>
            <a:ahLst/>
            <a:cxnLst/>
            <a:rect l="l" t="t" r="r" b="b"/>
            <a:pathLst>
              <a:path w="11499467" h="1564612">
                <a:moveTo>
                  <a:pt x="102592" y="0"/>
                </a:moveTo>
                <a:lnTo>
                  <a:pt x="11396875" y="0"/>
                </a:lnTo>
                <a:cubicBezTo>
                  <a:pt x="11453535" y="0"/>
                  <a:pt x="11499467" y="45932"/>
                  <a:pt x="11499467" y="102592"/>
                </a:cubicBezTo>
                <a:lnTo>
                  <a:pt x="11499467" y="1462020"/>
                </a:lnTo>
                <a:cubicBezTo>
                  <a:pt x="11499467" y="1518680"/>
                  <a:pt x="11453535" y="1564612"/>
                  <a:pt x="11396875" y="1564612"/>
                </a:cubicBezTo>
                <a:lnTo>
                  <a:pt x="102592" y="1564612"/>
                </a:lnTo>
                <a:cubicBezTo>
                  <a:pt x="45932" y="1564612"/>
                  <a:pt x="0" y="1518680"/>
                  <a:pt x="0" y="1462020"/>
                </a:cubicBezTo>
                <a:lnTo>
                  <a:pt x="0" y="102592"/>
                </a:lnTo>
                <a:cubicBezTo>
                  <a:pt x="0" y="45970"/>
                  <a:pt x="45970" y="0"/>
                  <a:pt x="10259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338" y="1325217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102600" y="0"/>
                </a:moveTo>
                <a:lnTo>
                  <a:pt x="376189" y="0"/>
                </a:lnTo>
                <a:cubicBezTo>
                  <a:pt x="432853" y="0"/>
                  <a:pt x="478788" y="45935"/>
                  <a:pt x="478788" y="102600"/>
                </a:cubicBezTo>
                <a:lnTo>
                  <a:pt x="478788" y="376189"/>
                </a:lnTo>
                <a:cubicBezTo>
                  <a:pt x="478788" y="432853"/>
                  <a:pt x="432853" y="478788"/>
                  <a:pt x="376189" y="478788"/>
                </a:cubicBezTo>
                <a:lnTo>
                  <a:pt x="102600" y="478788"/>
                </a:lnTo>
                <a:cubicBezTo>
                  <a:pt x="45935" y="478788"/>
                  <a:pt x="0" y="432853"/>
                  <a:pt x="0" y="376189"/>
                </a:cubicBezTo>
                <a:lnTo>
                  <a:pt x="0" y="102600"/>
                </a:lnTo>
                <a:cubicBezTo>
                  <a:pt x="0" y="45973"/>
                  <a:pt x="45973" y="0"/>
                  <a:pt x="1026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24135" y="1462014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59707" y="4889"/>
                </a:moveTo>
                <a:lnTo>
                  <a:pt x="124359" y="40237"/>
                </a:lnTo>
                <a:lnTo>
                  <a:pt x="164958" y="80836"/>
                </a:lnTo>
                <a:lnTo>
                  <a:pt x="200306" y="45488"/>
                </a:lnTo>
                <a:cubicBezTo>
                  <a:pt x="203432" y="42321"/>
                  <a:pt x="205195" y="38073"/>
                  <a:pt x="205195" y="33665"/>
                </a:cubicBezTo>
                <a:cubicBezTo>
                  <a:pt x="205195" y="29256"/>
                  <a:pt x="203432" y="25008"/>
                  <a:pt x="200306" y="21842"/>
                </a:cubicBezTo>
                <a:lnTo>
                  <a:pt x="183353" y="4889"/>
                </a:lnTo>
                <a:cubicBezTo>
                  <a:pt x="180187" y="1763"/>
                  <a:pt x="175939" y="0"/>
                  <a:pt x="171530" y="0"/>
                </a:cubicBezTo>
                <a:cubicBezTo>
                  <a:pt x="167122" y="0"/>
                  <a:pt x="162873" y="1763"/>
                  <a:pt x="159707" y="4889"/>
                </a:cubicBezTo>
                <a:close/>
                <a:moveTo>
                  <a:pt x="110773" y="53824"/>
                </a:moveTo>
                <a:lnTo>
                  <a:pt x="4889" y="159707"/>
                </a:lnTo>
                <a:cubicBezTo>
                  <a:pt x="1763" y="162873"/>
                  <a:pt x="0" y="167122"/>
                  <a:pt x="0" y="171530"/>
                </a:cubicBezTo>
                <a:cubicBezTo>
                  <a:pt x="0" y="175939"/>
                  <a:pt x="1763" y="180187"/>
                  <a:pt x="4889" y="183353"/>
                </a:cubicBezTo>
                <a:lnTo>
                  <a:pt x="21842" y="200306"/>
                </a:lnTo>
                <a:cubicBezTo>
                  <a:pt x="25008" y="203432"/>
                  <a:pt x="29256" y="205195"/>
                  <a:pt x="33665" y="205195"/>
                </a:cubicBezTo>
                <a:cubicBezTo>
                  <a:pt x="38073" y="205195"/>
                  <a:pt x="42321" y="203432"/>
                  <a:pt x="45488" y="200306"/>
                </a:cubicBezTo>
                <a:lnTo>
                  <a:pt x="151371" y="94422"/>
                </a:lnTo>
                <a:lnTo>
                  <a:pt x="110773" y="5382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6"/>
          <p:cNvSpPr/>
          <p:nvPr/>
        </p:nvSpPr>
        <p:spPr>
          <a:xfrm>
            <a:off x="1102923" y="1325217"/>
            <a:ext cx="10687237" cy="239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动态Skill生成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2923" y="1633010"/>
            <a:ext cx="10670137" cy="222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当前Skills均为</a:t>
            </a: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人工预定义的静态制品</a:t>
            </a:r>
            <a:r>
              <a:rPr lang="en-US" sz="10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。未来方向包括：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20022" y="1957902"/>
            <a:ext cx="3445565" cy="649784"/>
          </a:xfrm>
          <a:custGeom>
            <a:avLst/>
            <a:gdLst/>
            <a:ahLst/>
            <a:cxnLst/>
            <a:rect l="l" t="t" r="r" b="b"/>
            <a:pathLst>
              <a:path w="3445565" h="649784">
                <a:moveTo>
                  <a:pt x="34199" y="0"/>
                </a:moveTo>
                <a:lnTo>
                  <a:pt x="3377169" y="0"/>
                </a:lnTo>
                <a:cubicBezTo>
                  <a:pt x="3414943" y="0"/>
                  <a:pt x="3445565" y="30622"/>
                  <a:pt x="3445565" y="68396"/>
                </a:cubicBezTo>
                <a:lnTo>
                  <a:pt x="3445565" y="581388"/>
                </a:lnTo>
                <a:cubicBezTo>
                  <a:pt x="3445565" y="619162"/>
                  <a:pt x="3414943" y="649784"/>
                  <a:pt x="3377169" y="649784"/>
                </a:cubicBezTo>
                <a:lnTo>
                  <a:pt x="34199" y="649784"/>
                </a:lnTo>
                <a:cubicBezTo>
                  <a:pt x="15311" y="649784"/>
                  <a:pt x="0" y="634473"/>
                  <a:pt x="0" y="615585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1120022" y="1957902"/>
            <a:ext cx="34199" cy="649784"/>
          </a:xfrm>
          <a:custGeom>
            <a:avLst/>
            <a:gdLst/>
            <a:ahLst/>
            <a:cxnLst/>
            <a:rect l="l" t="t" r="r" b="b"/>
            <a:pathLst>
              <a:path w="34199" h="649784">
                <a:moveTo>
                  <a:pt x="34199" y="0"/>
                </a:moveTo>
                <a:lnTo>
                  <a:pt x="34199" y="0"/>
                </a:lnTo>
                <a:lnTo>
                  <a:pt x="34199" y="649784"/>
                </a:lnTo>
                <a:lnTo>
                  <a:pt x="34199" y="649784"/>
                </a:lnTo>
                <a:cubicBezTo>
                  <a:pt x="15311" y="649784"/>
                  <a:pt x="0" y="634473"/>
                  <a:pt x="0" y="615585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Shape 10"/>
          <p:cNvSpPr/>
          <p:nvPr/>
        </p:nvSpPr>
        <p:spPr>
          <a:xfrm>
            <a:off x="1239719" y="2094698"/>
            <a:ext cx="170996" cy="136797"/>
          </a:xfrm>
          <a:custGeom>
            <a:avLst/>
            <a:gdLst/>
            <a:ahLst/>
            <a:cxnLst/>
            <a:rect l="l" t="t" r="r" b="b"/>
            <a:pathLst>
              <a:path w="170996" h="136797">
                <a:moveTo>
                  <a:pt x="111121" y="56242"/>
                </a:moveTo>
                <a:cubicBezTo>
                  <a:pt x="114380" y="55360"/>
                  <a:pt x="117800" y="56910"/>
                  <a:pt x="119270" y="59929"/>
                </a:cubicBezTo>
                <a:lnTo>
                  <a:pt x="124239" y="69975"/>
                </a:lnTo>
                <a:cubicBezTo>
                  <a:pt x="126991" y="70349"/>
                  <a:pt x="129690" y="71097"/>
                  <a:pt x="132228" y="72139"/>
                </a:cubicBezTo>
                <a:lnTo>
                  <a:pt x="141579" y="65914"/>
                </a:lnTo>
                <a:cubicBezTo>
                  <a:pt x="144385" y="64043"/>
                  <a:pt x="148098" y="64417"/>
                  <a:pt x="150476" y="66795"/>
                </a:cubicBezTo>
                <a:lnTo>
                  <a:pt x="155606" y="71925"/>
                </a:lnTo>
                <a:cubicBezTo>
                  <a:pt x="157984" y="74303"/>
                  <a:pt x="158358" y="78044"/>
                  <a:pt x="156488" y="80822"/>
                </a:cubicBezTo>
                <a:lnTo>
                  <a:pt x="150263" y="90147"/>
                </a:lnTo>
                <a:cubicBezTo>
                  <a:pt x="150770" y="91403"/>
                  <a:pt x="151224" y="92712"/>
                  <a:pt x="151598" y="94074"/>
                </a:cubicBezTo>
                <a:cubicBezTo>
                  <a:pt x="151973" y="95437"/>
                  <a:pt x="152213" y="96773"/>
                  <a:pt x="152400" y="98136"/>
                </a:cubicBezTo>
                <a:lnTo>
                  <a:pt x="162473" y="103105"/>
                </a:lnTo>
                <a:cubicBezTo>
                  <a:pt x="165492" y="104601"/>
                  <a:pt x="167042" y="108021"/>
                  <a:pt x="166160" y="111254"/>
                </a:cubicBezTo>
                <a:lnTo>
                  <a:pt x="164290" y="118254"/>
                </a:lnTo>
                <a:cubicBezTo>
                  <a:pt x="163408" y="121487"/>
                  <a:pt x="160389" y="123678"/>
                  <a:pt x="157022" y="123464"/>
                </a:cubicBezTo>
                <a:lnTo>
                  <a:pt x="145801" y="122743"/>
                </a:lnTo>
                <a:cubicBezTo>
                  <a:pt x="144117" y="124907"/>
                  <a:pt x="142167" y="126911"/>
                  <a:pt x="139949" y="128621"/>
                </a:cubicBezTo>
                <a:lnTo>
                  <a:pt x="140671" y="139816"/>
                </a:lnTo>
                <a:cubicBezTo>
                  <a:pt x="140885" y="143182"/>
                  <a:pt x="138694" y="146228"/>
                  <a:pt x="135461" y="147083"/>
                </a:cubicBezTo>
                <a:lnTo>
                  <a:pt x="128461" y="148953"/>
                </a:lnTo>
                <a:cubicBezTo>
                  <a:pt x="125201" y="149835"/>
                  <a:pt x="121808" y="148285"/>
                  <a:pt x="120312" y="145266"/>
                </a:cubicBezTo>
                <a:lnTo>
                  <a:pt x="115342" y="135220"/>
                </a:lnTo>
                <a:cubicBezTo>
                  <a:pt x="112590" y="134846"/>
                  <a:pt x="109892" y="134098"/>
                  <a:pt x="107353" y="133056"/>
                </a:cubicBezTo>
                <a:lnTo>
                  <a:pt x="98002" y="139281"/>
                </a:lnTo>
                <a:cubicBezTo>
                  <a:pt x="95197" y="141152"/>
                  <a:pt x="91483" y="140778"/>
                  <a:pt x="89105" y="138400"/>
                </a:cubicBezTo>
                <a:lnTo>
                  <a:pt x="83975" y="133270"/>
                </a:lnTo>
                <a:cubicBezTo>
                  <a:pt x="81597" y="130892"/>
                  <a:pt x="81223" y="127178"/>
                  <a:pt x="83093" y="124373"/>
                </a:cubicBezTo>
                <a:lnTo>
                  <a:pt x="89319" y="115021"/>
                </a:lnTo>
                <a:cubicBezTo>
                  <a:pt x="88811" y="113766"/>
                  <a:pt x="88357" y="112456"/>
                  <a:pt x="87983" y="111094"/>
                </a:cubicBezTo>
                <a:cubicBezTo>
                  <a:pt x="87609" y="109731"/>
                  <a:pt x="87368" y="108369"/>
                  <a:pt x="87181" y="107033"/>
                </a:cubicBezTo>
                <a:lnTo>
                  <a:pt x="77108" y="102063"/>
                </a:lnTo>
                <a:cubicBezTo>
                  <a:pt x="74089" y="100567"/>
                  <a:pt x="72566" y="97147"/>
                  <a:pt x="73421" y="93914"/>
                </a:cubicBezTo>
                <a:lnTo>
                  <a:pt x="75292" y="86914"/>
                </a:lnTo>
                <a:cubicBezTo>
                  <a:pt x="76173" y="83681"/>
                  <a:pt x="79192" y="81490"/>
                  <a:pt x="82559" y="81704"/>
                </a:cubicBezTo>
                <a:lnTo>
                  <a:pt x="93754" y="82425"/>
                </a:lnTo>
                <a:cubicBezTo>
                  <a:pt x="95437" y="80261"/>
                  <a:pt x="97387" y="78257"/>
                  <a:pt x="99605" y="76547"/>
                </a:cubicBezTo>
                <a:lnTo>
                  <a:pt x="98884" y="65379"/>
                </a:lnTo>
                <a:cubicBezTo>
                  <a:pt x="98670" y="62013"/>
                  <a:pt x="100861" y="58967"/>
                  <a:pt x="104094" y="58112"/>
                </a:cubicBezTo>
                <a:lnTo>
                  <a:pt x="111094" y="56242"/>
                </a:lnTo>
                <a:close/>
                <a:moveTo>
                  <a:pt x="119804" y="90842"/>
                </a:moveTo>
                <a:cubicBezTo>
                  <a:pt x="113316" y="90849"/>
                  <a:pt x="108054" y="96123"/>
                  <a:pt x="108061" y="102611"/>
                </a:cubicBezTo>
                <a:cubicBezTo>
                  <a:pt x="108069" y="109099"/>
                  <a:pt x="113342" y="114361"/>
                  <a:pt x="119831" y="114353"/>
                </a:cubicBezTo>
                <a:cubicBezTo>
                  <a:pt x="126319" y="114346"/>
                  <a:pt x="131581" y="109072"/>
                  <a:pt x="131573" y="102584"/>
                </a:cubicBezTo>
                <a:cubicBezTo>
                  <a:pt x="131566" y="96096"/>
                  <a:pt x="126292" y="90834"/>
                  <a:pt x="119804" y="90842"/>
                </a:cubicBezTo>
                <a:close/>
                <a:moveTo>
                  <a:pt x="60089" y="-12157"/>
                </a:moveTo>
                <a:lnTo>
                  <a:pt x="67089" y="-10286"/>
                </a:lnTo>
                <a:cubicBezTo>
                  <a:pt x="70322" y="-9405"/>
                  <a:pt x="72513" y="-6359"/>
                  <a:pt x="72299" y="-3019"/>
                </a:cubicBezTo>
                <a:lnTo>
                  <a:pt x="71578" y="8149"/>
                </a:lnTo>
                <a:cubicBezTo>
                  <a:pt x="73795" y="9859"/>
                  <a:pt x="75746" y="11836"/>
                  <a:pt x="77429" y="14027"/>
                </a:cubicBezTo>
                <a:lnTo>
                  <a:pt x="88651" y="13306"/>
                </a:lnTo>
                <a:cubicBezTo>
                  <a:pt x="91990" y="13092"/>
                  <a:pt x="95036" y="15283"/>
                  <a:pt x="95918" y="18516"/>
                </a:cubicBezTo>
                <a:lnTo>
                  <a:pt x="97788" y="25516"/>
                </a:lnTo>
                <a:cubicBezTo>
                  <a:pt x="98643" y="28749"/>
                  <a:pt x="97120" y="32169"/>
                  <a:pt x="94101" y="33665"/>
                </a:cubicBezTo>
                <a:lnTo>
                  <a:pt x="84028" y="38634"/>
                </a:lnTo>
                <a:cubicBezTo>
                  <a:pt x="83841" y="39997"/>
                  <a:pt x="83574" y="41360"/>
                  <a:pt x="83227" y="42696"/>
                </a:cubicBezTo>
                <a:cubicBezTo>
                  <a:pt x="82880" y="44031"/>
                  <a:pt x="82399" y="45367"/>
                  <a:pt x="81891" y="46623"/>
                </a:cubicBezTo>
                <a:lnTo>
                  <a:pt x="88116" y="55974"/>
                </a:lnTo>
                <a:cubicBezTo>
                  <a:pt x="89987" y="58780"/>
                  <a:pt x="89612" y="62494"/>
                  <a:pt x="87235" y="64872"/>
                </a:cubicBezTo>
                <a:lnTo>
                  <a:pt x="82105" y="70001"/>
                </a:lnTo>
                <a:cubicBezTo>
                  <a:pt x="79727" y="72379"/>
                  <a:pt x="76013" y="72753"/>
                  <a:pt x="73208" y="70883"/>
                </a:cubicBezTo>
                <a:lnTo>
                  <a:pt x="63856" y="64658"/>
                </a:lnTo>
                <a:cubicBezTo>
                  <a:pt x="61318" y="65700"/>
                  <a:pt x="58619" y="66448"/>
                  <a:pt x="55868" y="66822"/>
                </a:cubicBezTo>
                <a:lnTo>
                  <a:pt x="50898" y="76868"/>
                </a:lnTo>
                <a:cubicBezTo>
                  <a:pt x="49402" y="79887"/>
                  <a:pt x="45982" y="81410"/>
                  <a:pt x="42749" y="80555"/>
                </a:cubicBezTo>
                <a:lnTo>
                  <a:pt x="35749" y="78685"/>
                </a:lnTo>
                <a:cubicBezTo>
                  <a:pt x="32489" y="77803"/>
                  <a:pt x="30325" y="74757"/>
                  <a:pt x="30539" y="71417"/>
                </a:cubicBezTo>
                <a:lnTo>
                  <a:pt x="31260" y="60223"/>
                </a:lnTo>
                <a:cubicBezTo>
                  <a:pt x="29043" y="58513"/>
                  <a:pt x="27092" y="56535"/>
                  <a:pt x="25409" y="54345"/>
                </a:cubicBezTo>
                <a:lnTo>
                  <a:pt x="14187" y="55066"/>
                </a:lnTo>
                <a:cubicBezTo>
                  <a:pt x="10848" y="55280"/>
                  <a:pt x="7802" y="53089"/>
                  <a:pt x="6920" y="49856"/>
                </a:cubicBezTo>
                <a:lnTo>
                  <a:pt x="5050" y="42856"/>
                </a:lnTo>
                <a:cubicBezTo>
                  <a:pt x="4195" y="39623"/>
                  <a:pt x="5718" y="36203"/>
                  <a:pt x="8737" y="34707"/>
                </a:cubicBezTo>
                <a:lnTo>
                  <a:pt x="18810" y="29737"/>
                </a:lnTo>
                <a:cubicBezTo>
                  <a:pt x="18997" y="28375"/>
                  <a:pt x="19264" y="27039"/>
                  <a:pt x="19611" y="25676"/>
                </a:cubicBezTo>
                <a:cubicBezTo>
                  <a:pt x="19985" y="24313"/>
                  <a:pt x="20413" y="23004"/>
                  <a:pt x="20947" y="21749"/>
                </a:cubicBezTo>
                <a:lnTo>
                  <a:pt x="14722" y="12424"/>
                </a:lnTo>
                <a:cubicBezTo>
                  <a:pt x="12851" y="9619"/>
                  <a:pt x="13225" y="5905"/>
                  <a:pt x="15603" y="3527"/>
                </a:cubicBezTo>
                <a:lnTo>
                  <a:pt x="20733" y="-1603"/>
                </a:lnTo>
                <a:cubicBezTo>
                  <a:pt x="23111" y="-3981"/>
                  <a:pt x="26825" y="-4355"/>
                  <a:pt x="29630" y="-2485"/>
                </a:cubicBezTo>
                <a:lnTo>
                  <a:pt x="38982" y="3741"/>
                </a:lnTo>
                <a:cubicBezTo>
                  <a:pt x="41520" y="2699"/>
                  <a:pt x="44218" y="1950"/>
                  <a:pt x="46970" y="1576"/>
                </a:cubicBezTo>
                <a:lnTo>
                  <a:pt x="51940" y="-8470"/>
                </a:lnTo>
                <a:cubicBezTo>
                  <a:pt x="53436" y="-11489"/>
                  <a:pt x="56829" y="-13012"/>
                  <a:pt x="60089" y="-12157"/>
                </a:cubicBezTo>
                <a:close/>
                <a:moveTo>
                  <a:pt x="51406" y="22443"/>
                </a:moveTo>
                <a:cubicBezTo>
                  <a:pt x="44917" y="22443"/>
                  <a:pt x="39650" y="27711"/>
                  <a:pt x="39650" y="34199"/>
                </a:cubicBezTo>
                <a:cubicBezTo>
                  <a:pt x="39650" y="40687"/>
                  <a:pt x="44917" y="45955"/>
                  <a:pt x="51406" y="45955"/>
                </a:cubicBezTo>
                <a:cubicBezTo>
                  <a:pt x="57894" y="45955"/>
                  <a:pt x="63162" y="40687"/>
                  <a:pt x="63162" y="34199"/>
                </a:cubicBezTo>
                <a:cubicBezTo>
                  <a:pt x="63162" y="27711"/>
                  <a:pt x="57894" y="22443"/>
                  <a:pt x="51406" y="2244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3" name="Text 11"/>
          <p:cNvSpPr/>
          <p:nvPr/>
        </p:nvSpPr>
        <p:spPr>
          <a:xfrm>
            <a:off x="1479114" y="2060499"/>
            <a:ext cx="752381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运行时合成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9719" y="2334093"/>
            <a:ext cx="3283119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根据任务需求动态生成Skill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87489" y="1957902"/>
            <a:ext cx="3445565" cy="649784"/>
          </a:xfrm>
          <a:custGeom>
            <a:avLst/>
            <a:gdLst/>
            <a:ahLst/>
            <a:cxnLst/>
            <a:rect l="l" t="t" r="r" b="b"/>
            <a:pathLst>
              <a:path w="3445565" h="649784">
                <a:moveTo>
                  <a:pt x="34199" y="0"/>
                </a:moveTo>
                <a:lnTo>
                  <a:pt x="3377169" y="0"/>
                </a:lnTo>
                <a:cubicBezTo>
                  <a:pt x="3414943" y="0"/>
                  <a:pt x="3445565" y="30622"/>
                  <a:pt x="3445565" y="68396"/>
                </a:cubicBezTo>
                <a:lnTo>
                  <a:pt x="3445565" y="581388"/>
                </a:lnTo>
                <a:cubicBezTo>
                  <a:pt x="3445565" y="619162"/>
                  <a:pt x="3414943" y="649784"/>
                  <a:pt x="3377169" y="649784"/>
                </a:cubicBezTo>
                <a:lnTo>
                  <a:pt x="34199" y="649784"/>
                </a:lnTo>
                <a:cubicBezTo>
                  <a:pt x="15311" y="649784"/>
                  <a:pt x="0" y="634473"/>
                  <a:pt x="0" y="615585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687489" y="1957902"/>
            <a:ext cx="34199" cy="649784"/>
          </a:xfrm>
          <a:custGeom>
            <a:avLst/>
            <a:gdLst/>
            <a:ahLst/>
            <a:cxnLst/>
            <a:rect l="l" t="t" r="r" b="b"/>
            <a:pathLst>
              <a:path w="34199" h="649784">
                <a:moveTo>
                  <a:pt x="34199" y="0"/>
                </a:moveTo>
                <a:lnTo>
                  <a:pt x="34199" y="0"/>
                </a:lnTo>
                <a:lnTo>
                  <a:pt x="34199" y="649784"/>
                </a:lnTo>
                <a:lnTo>
                  <a:pt x="34199" y="649784"/>
                </a:lnTo>
                <a:cubicBezTo>
                  <a:pt x="15311" y="649784"/>
                  <a:pt x="0" y="634473"/>
                  <a:pt x="0" y="615585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7" name="Shape 15"/>
          <p:cNvSpPr/>
          <p:nvPr/>
        </p:nvSpPr>
        <p:spPr>
          <a:xfrm>
            <a:off x="4824286" y="2094698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17607" y="61051"/>
                </a:moveTo>
                <a:cubicBezTo>
                  <a:pt x="21161" y="36203"/>
                  <a:pt x="42562" y="17100"/>
                  <a:pt x="68398" y="17100"/>
                </a:cubicBezTo>
                <a:cubicBezTo>
                  <a:pt x="82559" y="17100"/>
                  <a:pt x="95384" y="22844"/>
                  <a:pt x="104681" y="32115"/>
                </a:cubicBezTo>
                <a:cubicBezTo>
                  <a:pt x="104735" y="32169"/>
                  <a:pt x="104788" y="32222"/>
                  <a:pt x="104842" y="32275"/>
                </a:cubicBezTo>
                <a:lnTo>
                  <a:pt x="106872" y="34199"/>
                </a:lnTo>
                <a:lnTo>
                  <a:pt x="94074" y="34199"/>
                </a:lnTo>
                <a:cubicBezTo>
                  <a:pt x="89345" y="34199"/>
                  <a:pt x="85525" y="38020"/>
                  <a:pt x="85525" y="42749"/>
                </a:cubicBezTo>
                <a:cubicBezTo>
                  <a:pt x="85525" y="47478"/>
                  <a:pt x="89345" y="51299"/>
                  <a:pt x="94074" y="51299"/>
                </a:cubicBezTo>
                <a:lnTo>
                  <a:pt x="128274" y="51299"/>
                </a:lnTo>
                <a:cubicBezTo>
                  <a:pt x="133003" y="51299"/>
                  <a:pt x="136823" y="47478"/>
                  <a:pt x="136823" y="42749"/>
                </a:cubicBezTo>
                <a:lnTo>
                  <a:pt x="136823" y="8550"/>
                </a:lnTo>
                <a:cubicBezTo>
                  <a:pt x="136823" y="3821"/>
                  <a:pt x="133003" y="0"/>
                  <a:pt x="128274" y="0"/>
                </a:cubicBezTo>
                <a:cubicBezTo>
                  <a:pt x="123544" y="0"/>
                  <a:pt x="119724" y="3821"/>
                  <a:pt x="119724" y="8550"/>
                </a:cubicBezTo>
                <a:lnTo>
                  <a:pt x="119724" y="22817"/>
                </a:lnTo>
                <a:lnTo>
                  <a:pt x="116705" y="19958"/>
                </a:lnTo>
                <a:cubicBezTo>
                  <a:pt x="104334" y="7641"/>
                  <a:pt x="87235" y="0"/>
                  <a:pt x="68398" y="0"/>
                </a:cubicBezTo>
                <a:cubicBezTo>
                  <a:pt x="33932" y="0"/>
                  <a:pt x="5424" y="25489"/>
                  <a:pt x="695" y="58646"/>
                </a:cubicBezTo>
                <a:cubicBezTo>
                  <a:pt x="27" y="63322"/>
                  <a:pt x="3260" y="67650"/>
                  <a:pt x="7935" y="68318"/>
                </a:cubicBezTo>
                <a:cubicBezTo>
                  <a:pt x="12611" y="68986"/>
                  <a:pt x="16939" y="65727"/>
                  <a:pt x="17607" y="61078"/>
                </a:cubicBezTo>
                <a:close/>
                <a:moveTo>
                  <a:pt x="136102" y="78150"/>
                </a:moveTo>
                <a:cubicBezTo>
                  <a:pt x="136770" y="73475"/>
                  <a:pt x="133510" y="69146"/>
                  <a:pt x="128861" y="68478"/>
                </a:cubicBezTo>
                <a:cubicBezTo>
                  <a:pt x="124212" y="67811"/>
                  <a:pt x="119857" y="71070"/>
                  <a:pt x="119189" y="75719"/>
                </a:cubicBezTo>
                <a:cubicBezTo>
                  <a:pt x="115636" y="100567"/>
                  <a:pt x="94235" y="119670"/>
                  <a:pt x="68398" y="119670"/>
                </a:cubicBezTo>
                <a:cubicBezTo>
                  <a:pt x="54238" y="119670"/>
                  <a:pt x="41413" y="113926"/>
                  <a:pt x="32115" y="104655"/>
                </a:cubicBezTo>
                <a:cubicBezTo>
                  <a:pt x="32062" y="104601"/>
                  <a:pt x="32008" y="104548"/>
                  <a:pt x="31955" y="104494"/>
                </a:cubicBezTo>
                <a:lnTo>
                  <a:pt x="29924" y="102571"/>
                </a:lnTo>
                <a:lnTo>
                  <a:pt x="42722" y="102571"/>
                </a:lnTo>
                <a:cubicBezTo>
                  <a:pt x="47451" y="102571"/>
                  <a:pt x="51272" y="98750"/>
                  <a:pt x="51272" y="94021"/>
                </a:cubicBezTo>
                <a:cubicBezTo>
                  <a:pt x="51272" y="89292"/>
                  <a:pt x="47451" y="85471"/>
                  <a:pt x="42722" y="85471"/>
                </a:cubicBezTo>
                <a:lnTo>
                  <a:pt x="8550" y="85498"/>
                </a:lnTo>
                <a:cubicBezTo>
                  <a:pt x="6279" y="85498"/>
                  <a:pt x="4088" y="86406"/>
                  <a:pt x="2485" y="88036"/>
                </a:cubicBezTo>
                <a:cubicBezTo>
                  <a:pt x="882" y="89666"/>
                  <a:pt x="-27" y="91830"/>
                  <a:pt x="0" y="94128"/>
                </a:cubicBezTo>
                <a:lnTo>
                  <a:pt x="267" y="128060"/>
                </a:lnTo>
                <a:cubicBezTo>
                  <a:pt x="294" y="132789"/>
                  <a:pt x="4168" y="136583"/>
                  <a:pt x="8897" y="136529"/>
                </a:cubicBezTo>
                <a:cubicBezTo>
                  <a:pt x="13626" y="136476"/>
                  <a:pt x="17420" y="132629"/>
                  <a:pt x="17367" y="127900"/>
                </a:cubicBezTo>
                <a:lnTo>
                  <a:pt x="17260" y="114140"/>
                </a:lnTo>
                <a:lnTo>
                  <a:pt x="20119" y="116838"/>
                </a:lnTo>
                <a:cubicBezTo>
                  <a:pt x="32489" y="129155"/>
                  <a:pt x="49562" y="136797"/>
                  <a:pt x="68398" y="136797"/>
                </a:cubicBezTo>
                <a:cubicBezTo>
                  <a:pt x="102865" y="136797"/>
                  <a:pt x="131373" y="111308"/>
                  <a:pt x="136102" y="7815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8" name="Text 16"/>
          <p:cNvSpPr/>
          <p:nvPr/>
        </p:nvSpPr>
        <p:spPr>
          <a:xfrm>
            <a:off x="5046580" y="2060499"/>
            <a:ext cx="752381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自适应调整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7186" y="2334093"/>
            <a:ext cx="3283119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基于执行反馈持续优化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4955" y="1957902"/>
            <a:ext cx="3445565" cy="649784"/>
          </a:xfrm>
          <a:custGeom>
            <a:avLst/>
            <a:gdLst/>
            <a:ahLst/>
            <a:cxnLst/>
            <a:rect l="l" t="t" r="r" b="b"/>
            <a:pathLst>
              <a:path w="3445565" h="649784">
                <a:moveTo>
                  <a:pt x="34199" y="0"/>
                </a:moveTo>
                <a:lnTo>
                  <a:pt x="3377169" y="0"/>
                </a:lnTo>
                <a:cubicBezTo>
                  <a:pt x="3414943" y="0"/>
                  <a:pt x="3445565" y="30622"/>
                  <a:pt x="3445565" y="68396"/>
                </a:cubicBezTo>
                <a:lnTo>
                  <a:pt x="3445565" y="581388"/>
                </a:lnTo>
                <a:cubicBezTo>
                  <a:pt x="3445565" y="619162"/>
                  <a:pt x="3414943" y="649784"/>
                  <a:pt x="3377169" y="649784"/>
                </a:cubicBezTo>
                <a:lnTo>
                  <a:pt x="34199" y="649784"/>
                </a:lnTo>
                <a:cubicBezTo>
                  <a:pt x="15311" y="649784"/>
                  <a:pt x="0" y="634473"/>
                  <a:pt x="0" y="615585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8254955" y="1957902"/>
            <a:ext cx="34199" cy="649784"/>
          </a:xfrm>
          <a:custGeom>
            <a:avLst/>
            <a:gdLst/>
            <a:ahLst/>
            <a:cxnLst/>
            <a:rect l="l" t="t" r="r" b="b"/>
            <a:pathLst>
              <a:path w="34199" h="649784">
                <a:moveTo>
                  <a:pt x="34199" y="0"/>
                </a:moveTo>
                <a:lnTo>
                  <a:pt x="34199" y="0"/>
                </a:lnTo>
                <a:lnTo>
                  <a:pt x="34199" y="649784"/>
                </a:lnTo>
                <a:lnTo>
                  <a:pt x="34199" y="649784"/>
                </a:lnTo>
                <a:cubicBezTo>
                  <a:pt x="15311" y="649784"/>
                  <a:pt x="0" y="634473"/>
                  <a:pt x="0" y="615585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2" name="Shape 20"/>
          <p:cNvSpPr/>
          <p:nvPr/>
        </p:nvSpPr>
        <p:spPr>
          <a:xfrm>
            <a:off x="8391752" y="2094698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32062" y="14962"/>
                </a:moveTo>
                <a:cubicBezTo>
                  <a:pt x="32062" y="6706"/>
                  <a:pt x="38768" y="0"/>
                  <a:pt x="47024" y="0"/>
                </a:cubicBezTo>
                <a:lnTo>
                  <a:pt x="53436" y="0"/>
                </a:lnTo>
                <a:cubicBezTo>
                  <a:pt x="58165" y="0"/>
                  <a:pt x="61986" y="3821"/>
                  <a:pt x="61986" y="8550"/>
                </a:cubicBezTo>
                <a:lnTo>
                  <a:pt x="61986" y="128247"/>
                </a:lnTo>
                <a:cubicBezTo>
                  <a:pt x="61986" y="132976"/>
                  <a:pt x="58165" y="136797"/>
                  <a:pt x="53436" y="136797"/>
                </a:cubicBezTo>
                <a:lnTo>
                  <a:pt x="44886" y="136797"/>
                </a:lnTo>
                <a:cubicBezTo>
                  <a:pt x="36924" y="136797"/>
                  <a:pt x="30218" y="131346"/>
                  <a:pt x="28321" y="123972"/>
                </a:cubicBezTo>
                <a:cubicBezTo>
                  <a:pt x="28134" y="123972"/>
                  <a:pt x="27974" y="123972"/>
                  <a:pt x="27787" y="123972"/>
                </a:cubicBezTo>
                <a:cubicBezTo>
                  <a:pt x="15977" y="123972"/>
                  <a:pt x="6412" y="114407"/>
                  <a:pt x="6412" y="102597"/>
                </a:cubicBezTo>
                <a:cubicBezTo>
                  <a:pt x="6412" y="97788"/>
                  <a:pt x="8015" y="93353"/>
                  <a:pt x="10687" y="89773"/>
                </a:cubicBezTo>
                <a:cubicBezTo>
                  <a:pt x="5504" y="85872"/>
                  <a:pt x="2137" y="79673"/>
                  <a:pt x="2137" y="72673"/>
                </a:cubicBezTo>
                <a:cubicBezTo>
                  <a:pt x="2137" y="64417"/>
                  <a:pt x="6840" y="57230"/>
                  <a:pt x="13680" y="53677"/>
                </a:cubicBezTo>
                <a:cubicBezTo>
                  <a:pt x="11783" y="50470"/>
                  <a:pt x="10687" y="46730"/>
                  <a:pt x="10687" y="42749"/>
                </a:cubicBezTo>
                <a:cubicBezTo>
                  <a:pt x="10687" y="30940"/>
                  <a:pt x="20252" y="21374"/>
                  <a:pt x="32062" y="21374"/>
                </a:cubicBezTo>
                <a:lnTo>
                  <a:pt x="32062" y="14962"/>
                </a:lnTo>
                <a:close/>
                <a:moveTo>
                  <a:pt x="104735" y="14962"/>
                </a:moveTo>
                <a:lnTo>
                  <a:pt x="104735" y="21374"/>
                </a:lnTo>
                <a:cubicBezTo>
                  <a:pt x="116544" y="21374"/>
                  <a:pt x="126109" y="30940"/>
                  <a:pt x="126109" y="42749"/>
                </a:cubicBezTo>
                <a:cubicBezTo>
                  <a:pt x="126109" y="46757"/>
                  <a:pt x="125014" y="50497"/>
                  <a:pt x="123117" y="53677"/>
                </a:cubicBezTo>
                <a:cubicBezTo>
                  <a:pt x="129984" y="57230"/>
                  <a:pt x="134659" y="64391"/>
                  <a:pt x="134659" y="72673"/>
                </a:cubicBezTo>
                <a:cubicBezTo>
                  <a:pt x="134659" y="79673"/>
                  <a:pt x="131293" y="85872"/>
                  <a:pt x="126109" y="89773"/>
                </a:cubicBezTo>
                <a:cubicBezTo>
                  <a:pt x="128781" y="93353"/>
                  <a:pt x="130384" y="97788"/>
                  <a:pt x="130384" y="102597"/>
                </a:cubicBezTo>
                <a:cubicBezTo>
                  <a:pt x="130384" y="114407"/>
                  <a:pt x="120819" y="123972"/>
                  <a:pt x="109010" y="123972"/>
                </a:cubicBezTo>
                <a:cubicBezTo>
                  <a:pt x="108823" y="123972"/>
                  <a:pt x="108662" y="123972"/>
                  <a:pt x="108475" y="123972"/>
                </a:cubicBezTo>
                <a:cubicBezTo>
                  <a:pt x="106578" y="131346"/>
                  <a:pt x="99872" y="136797"/>
                  <a:pt x="91910" y="136797"/>
                </a:cubicBezTo>
                <a:lnTo>
                  <a:pt x="83360" y="136797"/>
                </a:lnTo>
                <a:cubicBezTo>
                  <a:pt x="78631" y="136797"/>
                  <a:pt x="74811" y="132976"/>
                  <a:pt x="74811" y="128247"/>
                </a:cubicBezTo>
                <a:lnTo>
                  <a:pt x="74811" y="8550"/>
                </a:lnTo>
                <a:cubicBezTo>
                  <a:pt x="74811" y="3821"/>
                  <a:pt x="78631" y="0"/>
                  <a:pt x="83360" y="0"/>
                </a:cubicBezTo>
                <a:lnTo>
                  <a:pt x="89773" y="0"/>
                </a:lnTo>
                <a:cubicBezTo>
                  <a:pt x="98029" y="0"/>
                  <a:pt x="104735" y="6706"/>
                  <a:pt x="104735" y="14962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3" name="Text 21"/>
          <p:cNvSpPr/>
          <p:nvPr/>
        </p:nvSpPr>
        <p:spPr>
          <a:xfrm>
            <a:off x="8614047" y="2060499"/>
            <a:ext cx="752381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元学习习得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74653" y="2334093"/>
            <a:ext cx="3283119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从经验中自动学习新Skill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6266" y="2859905"/>
            <a:ext cx="11499467" cy="1769806"/>
          </a:xfrm>
          <a:custGeom>
            <a:avLst/>
            <a:gdLst/>
            <a:ahLst/>
            <a:cxnLst/>
            <a:rect l="l" t="t" r="r" b="b"/>
            <a:pathLst>
              <a:path w="11499467" h="1769806">
                <a:moveTo>
                  <a:pt x="102596" y="0"/>
                </a:moveTo>
                <a:lnTo>
                  <a:pt x="11396871" y="0"/>
                </a:lnTo>
                <a:cubicBezTo>
                  <a:pt x="11453533" y="0"/>
                  <a:pt x="11499467" y="45934"/>
                  <a:pt x="11499467" y="102596"/>
                </a:cubicBezTo>
                <a:lnTo>
                  <a:pt x="11499467" y="1667211"/>
                </a:lnTo>
                <a:cubicBezTo>
                  <a:pt x="11499467" y="1723873"/>
                  <a:pt x="11453533" y="1769806"/>
                  <a:pt x="11396871" y="1769806"/>
                </a:cubicBezTo>
                <a:lnTo>
                  <a:pt x="102596" y="1769806"/>
                </a:lnTo>
                <a:cubicBezTo>
                  <a:pt x="45934" y="1769806"/>
                  <a:pt x="0" y="1723873"/>
                  <a:pt x="0" y="1667211"/>
                </a:cubicBezTo>
                <a:lnTo>
                  <a:pt x="0" y="102596"/>
                </a:lnTo>
                <a:cubicBezTo>
                  <a:pt x="0" y="45972"/>
                  <a:pt x="45972" y="0"/>
                  <a:pt x="1025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38" y="3000976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102600" y="0"/>
                </a:moveTo>
                <a:lnTo>
                  <a:pt x="376189" y="0"/>
                </a:lnTo>
                <a:cubicBezTo>
                  <a:pt x="432853" y="0"/>
                  <a:pt x="478788" y="45935"/>
                  <a:pt x="478788" y="102600"/>
                </a:cubicBezTo>
                <a:lnTo>
                  <a:pt x="478788" y="376189"/>
                </a:lnTo>
                <a:cubicBezTo>
                  <a:pt x="478788" y="432853"/>
                  <a:pt x="432853" y="478788"/>
                  <a:pt x="376189" y="478788"/>
                </a:cubicBezTo>
                <a:lnTo>
                  <a:pt x="102600" y="478788"/>
                </a:lnTo>
                <a:cubicBezTo>
                  <a:pt x="45935" y="478788"/>
                  <a:pt x="0" y="432853"/>
                  <a:pt x="0" y="376189"/>
                </a:cubicBezTo>
                <a:lnTo>
                  <a:pt x="0" y="102600"/>
                </a:lnTo>
                <a:cubicBezTo>
                  <a:pt x="0" y="45973"/>
                  <a:pt x="45973" y="0"/>
                  <a:pt x="1026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11310" y="3137773"/>
            <a:ext cx="230844" cy="205195"/>
          </a:xfrm>
          <a:custGeom>
            <a:avLst/>
            <a:gdLst/>
            <a:ahLst/>
            <a:cxnLst/>
            <a:rect l="l" t="t" r="r" b="b"/>
            <a:pathLst>
              <a:path w="230844" h="205195">
                <a:moveTo>
                  <a:pt x="38474" y="38474"/>
                </a:moveTo>
                <a:cubicBezTo>
                  <a:pt x="38474" y="24327"/>
                  <a:pt x="49976" y="12825"/>
                  <a:pt x="64123" y="12825"/>
                </a:cubicBezTo>
                <a:lnTo>
                  <a:pt x="192370" y="12825"/>
                </a:lnTo>
                <a:cubicBezTo>
                  <a:pt x="206517" y="12825"/>
                  <a:pt x="218020" y="24327"/>
                  <a:pt x="218020" y="38474"/>
                </a:cubicBezTo>
                <a:lnTo>
                  <a:pt x="218020" y="141072"/>
                </a:lnTo>
                <a:cubicBezTo>
                  <a:pt x="218020" y="155219"/>
                  <a:pt x="206517" y="166721"/>
                  <a:pt x="192370" y="166721"/>
                </a:cubicBezTo>
                <a:lnTo>
                  <a:pt x="64123" y="166721"/>
                </a:lnTo>
                <a:cubicBezTo>
                  <a:pt x="49976" y="166721"/>
                  <a:pt x="38474" y="155219"/>
                  <a:pt x="38474" y="141072"/>
                </a:cubicBezTo>
                <a:lnTo>
                  <a:pt x="38474" y="38474"/>
                </a:lnTo>
                <a:close/>
                <a:moveTo>
                  <a:pt x="9619" y="51299"/>
                </a:moveTo>
                <a:cubicBezTo>
                  <a:pt x="14949" y="51299"/>
                  <a:pt x="19237" y="55587"/>
                  <a:pt x="19237" y="60917"/>
                </a:cubicBezTo>
                <a:lnTo>
                  <a:pt x="19237" y="179546"/>
                </a:lnTo>
                <a:cubicBezTo>
                  <a:pt x="19237" y="183072"/>
                  <a:pt x="22123" y="185958"/>
                  <a:pt x="25649" y="185958"/>
                </a:cubicBezTo>
                <a:lnTo>
                  <a:pt x="169927" y="185958"/>
                </a:lnTo>
                <a:cubicBezTo>
                  <a:pt x="175257" y="185958"/>
                  <a:pt x="179546" y="190246"/>
                  <a:pt x="179546" y="195576"/>
                </a:cubicBezTo>
                <a:cubicBezTo>
                  <a:pt x="179546" y="200907"/>
                  <a:pt x="175257" y="205195"/>
                  <a:pt x="169927" y="205195"/>
                </a:cubicBezTo>
                <a:lnTo>
                  <a:pt x="25649" y="205195"/>
                </a:lnTo>
                <a:cubicBezTo>
                  <a:pt x="11502" y="205195"/>
                  <a:pt x="0" y="193693"/>
                  <a:pt x="0" y="179546"/>
                </a:cubicBezTo>
                <a:lnTo>
                  <a:pt x="0" y="60917"/>
                </a:lnTo>
                <a:cubicBezTo>
                  <a:pt x="0" y="55587"/>
                  <a:pt x="4288" y="51299"/>
                  <a:pt x="9619" y="51299"/>
                </a:cubicBezTo>
                <a:close/>
                <a:moveTo>
                  <a:pt x="76948" y="64123"/>
                </a:moveTo>
                <a:cubicBezTo>
                  <a:pt x="84026" y="64123"/>
                  <a:pt x="89773" y="58377"/>
                  <a:pt x="89773" y="51299"/>
                </a:cubicBezTo>
                <a:cubicBezTo>
                  <a:pt x="89773" y="44221"/>
                  <a:pt x="84026" y="38474"/>
                  <a:pt x="76948" y="38474"/>
                </a:cubicBezTo>
                <a:cubicBezTo>
                  <a:pt x="69870" y="38474"/>
                  <a:pt x="64123" y="44221"/>
                  <a:pt x="64123" y="51299"/>
                </a:cubicBezTo>
                <a:cubicBezTo>
                  <a:pt x="64123" y="58377"/>
                  <a:pt x="69870" y="64123"/>
                  <a:pt x="76948" y="64123"/>
                </a:cubicBezTo>
                <a:close/>
                <a:moveTo>
                  <a:pt x="155700" y="68732"/>
                </a:moveTo>
                <a:cubicBezTo>
                  <a:pt x="153936" y="65887"/>
                  <a:pt x="150850" y="64123"/>
                  <a:pt x="147484" y="64123"/>
                </a:cubicBezTo>
                <a:cubicBezTo>
                  <a:pt x="144117" y="64123"/>
                  <a:pt x="141031" y="65887"/>
                  <a:pt x="139268" y="68732"/>
                </a:cubicBezTo>
                <a:lnTo>
                  <a:pt x="116705" y="105643"/>
                </a:lnTo>
                <a:lnTo>
                  <a:pt x="106886" y="93380"/>
                </a:lnTo>
                <a:cubicBezTo>
                  <a:pt x="105042" y="91095"/>
                  <a:pt x="102317" y="89773"/>
                  <a:pt x="99391" y="89773"/>
                </a:cubicBezTo>
                <a:cubicBezTo>
                  <a:pt x="96466" y="89773"/>
                  <a:pt x="93700" y="91095"/>
                  <a:pt x="91897" y="93380"/>
                </a:cubicBezTo>
                <a:lnTo>
                  <a:pt x="66248" y="125441"/>
                </a:lnTo>
                <a:cubicBezTo>
                  <a:pt x="63923" y="128327"/>
                  <a:pt x="63482" y="132295"/>
                  <a:pt x="65085" y="135621"/>
                </a:cubicBezTo>
                <a:cubicBezTo>
                  <a:pt x="66688" y="138947"/>
                  <a:pt x="70055" y="141072"/>
                  <a:pt x="73742" y="141072"/>
                </a:cubicBezTo>
                <a:lnTo>
                  <a:pt x="182752" y="141072"/>
                </a:lnTo>
                <a:cubicBezTo>
                  <a:pt x="186238" y="141072"/>
                  <a:pt x="189445" y="139188"/>
                  <a:pt x="191128" y="136142"/>
                </a:cubicBezTo>
                <a:cubicBezTo>
                  <a:pt x="192811" y="133096"/>
                  <a:pt x="192771" y="129409"/>
                  <a:pt x="190927" y="126403"/>
                </a:cubicBezTo>
                <a:lnTo>
                  <a:pt x="155660" y="68692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8" name="Text 26"/>
          <p:cNvSpPr/>
          <p:nvPr/>
        </p:nvSpPr>
        <p:spPr>
          <a:xfrm>
            <a:off x="1102923" y="3000976"/>
            <a:ext cx="10687237" cy="239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多模态整合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2923" y="3308769"/>
            <a:ext cx="10670137" cy="222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文本-代码领域</a:t>
            </a:r>
            <a:r>
              <a:rPr lang="en-US" sz="10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扩展至更多模态：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02923" y="3633661"/>
            <a:ext cx="2573487" cy="854979"/>
          </a:xfrm>
          <a:custGeom>
            <a:avLst/>
            <a:gdLst/>
            <a:ahLst/>
            <a:cxnLst/>
            <a:rect l="l" t="t" r="r" b="b"/>
            <a:pathLst>
              <a:path w="2573487" h="854979">
                <a:moveTo>
                  <a:pt x="68398" y="0"/>
                </a:moveTo>
                <a:lnTo>
                  <a:pt x="2505088" y="0"/>
                </a:lnTo>
                <a:cubicBezTo>
                  <a:pt x="2542864" y="0"/>
                  <a:pt x="2573487" y="30623"/>
                  <a:pt x="2573487" y="68398"/>
                </a:cubicBezTo>
                <a:lnTo>
                  <a:pt x="2573487" y="786581"/>
                </a:lnTo>
                <a:cubicBezTo>
                  <a:pt x="2573487" y="824356"/>
                  <a:pt x="2542864" y="854979"/>
                  <a:pt x="2505088" y="854979"/>
                </a:cubicBezTo>
                <a:lnTo>
                  <a:pt x="68398" y="854979"/>
                </a:lnTo>
                <a:cubicBezTo>
                  <a:pt x="30623" y="854979"/>
                  <a:pt x="0" y="824356"/>
                  <a:pt x="0" y="786581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2299626" y="3736258"/>
            <a:ext cx="179546" cy="205195"/>
          </a:xfrm>
          <a:custGeom>
            <a:avLst/>
            <a:gdLst/>
            <a:ahLst/>
            <a:cxnLst/>
            <a:rect l="l" t="t" r="r" b="b"/>
            <a:pathLst>
              <a:path w="179546" h="205195">
                <a:moveTo>
                  <a:pt x="25649" y="12825"/>
                </a:moveTo>
                <a:cubicBezTo>
                  <a:pt x="11502" y="12825"/>
                  <a:pt x="0" y="24327"/>
                  <a:pt x="0" y="38474"/>
                </a:cubicBezTo>
                <a:lnTo>
                  <a:pt x="0" y="166721"/>
                </a:lnTo>
                <a:cubicBezTo>
                  <a:pt x="0" y="180868"/>
                  <a:pt x="11502" y="192370"/>
                  <a:pt x="25649" y="192370"/>
                </a:cubicBezTo>
                <a:lnTo>
                  <a:pt x="153896" y="192370"/>
                </a:lnTo>
                <a:cubicBezTo>
                  <a:pt x="168043" y="192370"/>
                  <a:pt x="179546" y="180868"/>
                  <a:pt x="179546" y="166721"/>
                </a:cubicBezTo>
                <a:lnTo>
                  <a:pt x="179546" y="38474"/>
                </a:lnTo>
                <a:cubicBezTo>
                  <a:pt x="179546" y="24327"/>
                  <a:pt x="168043" y="12825"/>
                  <a:pt x="153896" y="12825"/>
                </a:cubicBezTo>
                <a:lnTo>
                  <a:pt x="25649" y="12825"/>
                </a:lnTo>
                <a:close/>
                <a:moveTo>
                  <a:pt x="51299" y="44886"/>
                </a:moveTo>
                <a:cubicBezTo>
                  <a:pt x="61916" y="44886"/>
                  <a:pt x="70536" y="53506"/>
                  <a:pt x="70536" y="64123"/>
                </a:cubicBezTo>
                <a:cubicBezTo>
                  <a:pt x="70536" y="74741"/>
                  <a:pt x="61916" y="83360"/>
                  <a:pt x="51299" y="83360"/>
                </a:cubicBezTo>
                <a:cubicBezTo>
                  <a:pt x="40682" y="83360"/>
                  <a:pt x="32062" y="74741"/>
                  <a:pt x="32062" y="64123"/>
                </a:cubicBezTo>
                <a:cubicBezTo>
                  <a:pt x="32062" y="53506"/>
                  <a:pt x="40682" y="44886"/>
                  <a:pt x="51299" y="44886"/>
                </a:cubicBezTo>
                <a:close/>
                <a:moveTo>
                  <a:pt x="109010" y="89773"/>
                </a:moveTo>
                <a:cubicBezTo>
                  <a:pt x="112376" y="89773"/>
                  <a:pt x="115462" y="91536"/>
                  <a:pt x="117226" y="94382"/>
                </a:cubicBezTo>
                <a:lnTo>
                  <a:pt x="152494" y="152093"/>
                </a:lnTo>
                <a:cubicBezTo>
                  <a:pt x="154297" y="155058"/>
                  <a:pt x="154377" y="158786"/>
                  <a:pt x="152694" y="161831"/>
                </a:cubicBezTo>
                <a:cubicBezTo>
                  <a:pt x="151011" y="164877"/>
                  <a:pt x="147764" y="166721"/>
                  <a:pt x="144278" y="166721"/>
                </a:cubicBezTo>
                <a:lnTo>
                  <a:pt x="35268" y="166721"/>
                </a:lnTo>
                <a:cubicBezTo>
                  <a:pt x="31701" y="166721"/>
                  <a:pt x="28375" y="164717"/>
                  <a:pt x="26731" y="161551"/>
                </a:cubicBezTo>
                <a:cubicBezTo>
                  <a:pt x="25088" y="158385"/>
                  <a:pt x="25329" y="154537"/>
                  <a:pt x="27373" y="151612"/>
                </a:cubicBezTo>
                <a:lnTo>
                  <a:pt x="49816" y="119550"/>
                </a:lnTo>
                <a:cubicBezTo>
                  <a:pt x="51619" y="116985"/>
                  <a:pt x="54545" y="115462"/>
                  <a:pt x="57711" y="115462"/>
                </a:cubicBezTo>
                <a:cubicBezTo>
                  <a:pt x="60877" y="115462"/>
                  <a:pt x="63803" y="116985"/>
                  <a:pt x="65606" y="119550"/>
                </a:cubicBezTo>
                <a:lnTo>
                  <a:pt x="76187" y="134699"/>
                </a:lnTo>
                <a:lnTo>
                  <a:pt x="100794" y="94422"/>
                </a:lnTo>
                <a:cubicBezTo>
                  <a:pt x="102557" y="91576"/>
                  <a:pt x="105643" y="89813"/>
                  <a:pt x="109010" y="8981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2" name="Text 30"/>
          <p:cNvSpPr/>
          <p:nvPr/>
        </p:nvSpPr>
        <p:spPr>
          <a:xfrm>
            <a:off x="1171321" y="4009851"/>
            <a:ext cx="243669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75596" y="4215046"/>
            <a:ext cx="2428140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UI设计稿转代码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778473" y="3633661"/>
            <a:ext cx="2573487" cy="854979"/>
          </a:xfrm>
          <a:custGeom>
            <a:avLst/>
            <a:gdLst/>
            <a:ahLst/>
            <a:cxnLst/>
            <a:rect l="l" t="t" r="r" b="b"/>
            <a:pathLst>
              <a:path w="2573487" h="854979">
                <a:moveTo>
                  <a:pt x="68398" y="0"/>
                </a:moveTo>
                <a:lnTo>
                  <a:pt x="2505088" y="0"/>
                </a:lnTo>
                <a:cubicBezTo>
                  <a:pt x="2542864" y="0"/>
                  <a:pt x="2573487" y="30623"/>
                  <a:pt x="2573487" y="68398"/>
                </a:cubicBezTo>
                <a:lnTo>
                  <a:pt x="2573487" y="786581"/>
                </a:lnTo>
                <a:cubicBezTo>
                  <a:pt x="2573487" y="824356"/>
                  <a:pt x="2542864" y="854979"/>
                  <a:pt x="2505088" y="854979"/>
                </a:cubicBezTo>
                <a:lnTo>
                  <a:pt x="68398" y="854979"/>
                </a:lnTo>
                <a:cubicBezTo>
                  <a:pt x="30623" y="854979"/>
                  <a:pt x="0" y="824356"/>
                  <a:pt x="0" y="786581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988001" y="3736258"/>
            <a:ext cx="153896" cy="205195"/>
          </a:xfrm>
          <a:custGeom>
            <a:avLst/>
            <a:gdLst/>
            <a:ahLst/>
            <a:cxnLst/>
            <a:rect l="l" t="t" r="r" b="b"/>
            <a:pathLst>
              <a:path w="153896" h="205195">
                <a:moveTo>
                  <a:pt x="76948" y="0"/>
                </a:moveTo>
                <a:cubicBezTo>
                  <a:pt x="55707" y="0"/>
                  <a:pt x="38474" y="17233"/>
                  <a:pt x="38474" y="38474"/>
                </a:cubicBezTo>
                <a:lnTo>
                  <a:pt x="38474" y="89773"/>
                </a:lnTo>
                <a:cubicBezTo>
                  <a:pt x="38474" y="111014"/>
                  <a:pt x="55707" y="128247"/>
                  <a:pt x="76948" y="128247"/>
                </a:cubicBezTo>
                <a:cubicBezTo>
                  <a:pt x="98189" y="128247"/>
                  <a:pt x="115422" y="111014"/>
                  <a:pt x="115422" y="89773"/>
                </a:cubicBezTo>
                <a:lnTo>
                  <a:pt x="115422" y="38474"/>
                </a:lnTo>
                <a:cubicBezTo>
                  <a:pt x="115422" y="17233"/>
                  <a:pt x="98189" y="0"/>
                  <a:pt x="76948" y="0"/>
                </a:cubicBezTo>
                <a:close/>
                <a:moveTo>
                  <a:pt x="19237" y="73742"/>
                </a:moveTo>
                <a:cubicBezTo>
                  <a:pt x="19237" y="68412"/>
                  <a:pt x="14949" y="64123"/>
                  <a:pt x="9619" y="64123"/>
                </a:cubicBezTo>
                <a:cubicBezTo>
                  <a:pt x="4288" y="64123"/>
                  <a:pt x="0" y="68412"/>
                  <a:pt x="0" y="73742"/>
                </a:cubicBezTo>
                <a:lnTo>
                  <a:pt x="0" y="89773"/>
                </a:lnTo>
                <a:cubicBezTo>
                  <a:pt x="0" y="129008"/>
                  <a:pt x="29377" y="161391"/>
                  <a:pt x="67330" y="166120"/>
                </a:cubicBezTo>
                <a:lnTo>
                  <a:pt x="67330" y="185958"/>
                </a:lnTo>
                <a:lnTo>
                  <a:pt x="48093" y="185958"/>
                </a:lnTo>
                <a:cubicBezTo>
                  <a:pt x="42762" y="185958"/>
                  <a:pt x="38474" y="190246"/>
                  <a:pt x="38474" y="195576"/>
                </a:cubicBezTo>
                <a:cubicBezTo>
                  <a:pt x="38474" y="200907"/>
                  <a:pt x="42762" y="205195"/>
                  <a:pt x="48093" y="205195"/>
                </a:cubicBezTo>
                <a:lnTo>
                  <a:pt x="105804" y="205195"/>
                </a:lnTo>
                <a:cubicBezTo>
                  <a:pt x="111134" y="205195"/>
                  <a:pt x="115422" y="200907"/>
                  <a:pt x="115422" y="195576"/>
                </a:cubicBezTo>
                <a:cubicBezTo>
                  <a:pt x="115422" y="190246"/>
                  <a:pt x="111134" y="185958"/>
                  <a:pt x="105804" y="185958"/>
                </a:cubicBezTo>
                <a:lnTo>
                  <a:pt x="86567" y="185958"/>
                </a:lnTo>
                <a:lnTo>
                  <a:pt x="86567" y="166120"/>
                </a:lnTo>
                <a:cubicBezTo>
                  <a:pt x="124520" y="161391"/>
                  <a:pt x="153896" y="129008"/>
                  <a:pt x="153896" y="89773"/>
                </a:cubicBezTo>
                <a:lnTo>
                  <a:pt x="153896" y="73742"/>
                </a:lnTo>
                <a:cubicBezTo>
                  <a:pt x="153896" y="68412"/>
                  <a:pt x="149608" y="64123"/>
                  <a:pt x="144278" y="64123"/>
                </a:cubicBezTo>
                <a:cubicBezTo>
                  <a:pt x="138947" y="64123"/>
                  <a:pt x="134659" y="68412"/>
                  <a:pt x="134659" y="73742"/>
                </a:cubicBezTo>
                <a:lnTo>
                  <a:pt x="134659" y="89773"/>
                </a:lnTo>
                <a:cubicBezTo>
                  <a:pt x="134659" y="121634"/>
                  <a:pt x="108809" y="147484"/>
                  <a:pt x="76948" y="147484"/>
                </a:cubicBezTo>
                <a:cubicBezTo>
                  <a:pt x="45087" y="147484"/>
                  <a:pt x="19237" y="121634"/>
                  <a:pt x="19237" y="89773"/>
                </a:cubicBezTo>
                <a:lnTo>
                  <a:pt x="19237" y="73742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6" name="Text 34"/>
          <p:cNvSpPr/>
          <p:nvPr/>
        </p:nvSpPr>
        <p:spPr>
          <a:xfrm>
            <a:off x="3846871" y="4009851"/>
            <a:ext cx="243669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音频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51146" y="4215046"/>
            <a:ext cx="2428140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会议录音转纪要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54089" y="3633661"/>
            <a:ext cx="2573487" cy="854979"/>
          </a:xfrm>
          <a:custGeom>
            <a:avLst/>
            <a:gdLst/>
            <a:ahLst/>
            <a:cxnLst/>
            <a:rect l="l" t="t" r="r" b="b"/>
            <a:pathLst>
              <a:path w="2573487" h="854979">
                <a:moveTo>
                  <a:pt x="68398" y="0"/>
                </a:moveTo>
                <a:lnTo>
                  <a:pt x="2505088" y="0"/>
                </a:lnTo>
                <a:cubicBezTo>
                  <a:pt x="2542864" y="0"/>
                  <a:pt x="2573487" y="30623"/>
                  <a:pt x="2573487" y="68398"/>
                </a:cubicBezTo>
                <a:lnTo>
                  <a:pt x="2573487" y="786581"/>
                </a:lnTo>
                <a:cubicBezTo>
                  <a:pt x="2573487" y="824356"/>
                  <a:pt x="2542864" y="854979"/>
                  <a:pt x="2505088" y="854979"/>
                </a:cubicBezTo>
                <a:lnTo>
                  <a:pt x="68398" y="854979"/>
                </a:lnTo>
                <a:cubicBezTo>
                  <a:pt x="30623" y="854979"/>
                  <a:pt x="0" y="824356"/>
                  <a:pt x="0" y="786581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7625143" y="3736258"/>
            <a:ext cx="230844" cy="205195"/>
          </a:xfrm>
          <a:custGeom>
            <a:avLst/>
            <a:gdLst/>
            <a:ahLst/>
            <a:cxnLst/>
            <a:rect l="l" t="t" r="r" b="b"/>
            <a:pathLst>
              <a:path w="230844" h="205195">
                <a:moveTo>
                  <a:pt x="38474" y="25649"/>
                </a:moveTo>
                <a:cubicBezTo>
                  <a:pt x="24327" y="25649"/>
                  <a:pt x="12825" y="37152"/>
                  <a:pt x="12825" y="51299"/>
                </a:cubicBezTo>
                <a:lnTo>
                  <a:pt x="12825" y="153896"/>
                </a:lnTo>
                <a:cubicBezTo>
                  <a:pt x="12825" y="168043"/>
                  <a:pt x="24327" y="179546"/>
                  <a:pt x="38474" y="179546"/>
                </a:cubicBezTo>
                <a:lnTo>
                  <a:pt x="141072" y="179546"/>
                </a:lnTo>
                <a:cubicBezTo>
                  <a:pt x="155219" y="179546"/>
                  <a:pt x="166721" y="168043"/>
                  <a:pt x="166721" y="153896"/>
                </a:cubicBezTo>
                <a:lnTo>
                  <a:pt x="166721" y="51299"/>
                </a:lnTo>
                <a:cubicBezTo>
                  <a:pt x="166721" y="37152"/>
                  <a:pt x="155219" y="25649"/>
                  <a:pt x="141072" y="25649"/>
                </a:cubicBezTo>
                <a:lnTo>
                  <a:pt x="38474" y="25649"/>
                </a:lnTo>
                <a:close/>
                <a:moveTo>
                  <a:pt x="185958" y="134659"/>
                </a:moveTo>
                <a:lnTo>
                  <a:pt x="215415" y="158225"/>
                </a:lnTo>
                <a:cubicBezTo>
                  <a:pt x="217098" y="159587"/>
                  <a:pt x="219182" y="160309"/>
                  <a:pt x="221346" y="160309"/>
                </a:cubicBezTo>
                <a:cubicBezTo>
                  <a:pt x="226596" y="160309"/>
                  <a:pt x="230844" y="156060"/>
                  <a:pt x="230844" y="150810"/>
                </a:cubicBezTo>
                <a:lnTo>
                  <a:pt x="230844" y="54385"/>
                </a:lnTo>
                <a:cubicBezTo>
                  <a:pt x="230844" y="49135"/>
                  <a:pt x="226596" y="44886"/>
                  <a:pt x="221346" y="44886"/>
                </a:cubicBezTo>
                <a:cubicBezTo>
                  <a:pt x="219182" y="44886"/>
                  <a:pt x="217098" y="45608"/>
                  <a:pt x="215415" y="46970"/>
                </a:cubicBezTo>
                <a:lnTo>
                  <a:pt x="185958" y="70536"/>
                </a:lnTo>
                <a:lnTo>
                  <a:pt x="185958" y="134659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0" name="Text 38"/>
          <p:cNvSpPr/>
          <p:nvPr/>
        </p:nvSpPr>
        <p:spPr>
          <a:xfrm>
            <a:off x="6522488" y="4009851"/>
            <a:ext cx="243669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视频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26762" y="4215046"/>
            <a:ext cx="2428140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操作演示转脚本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129706" y="3633661"/>
            <a:ext cx="2573487" cy="854979"/>
          </a:xfrm>
          <a:custGeom>
            <a:avLst/>
            <a:gdLst/>
            <a:ahLst/>
            <a:cxnLst/>
            <a:rect l="l" t="t" r="r" b="b"/>
            <a:pathLst>
              <a:path w="2573487" h="854979">
                <a:moveTo>
                  <a:pt x="68398" y="0"/>
                </a:moveTo>
                <a:lnTo>
                  <a:pt x="2505088" y="0"/>
                </a:lnTo>
                <a:cubicBezTo>
                  <a:pt x="2542864" y="0"/>
                  <a:pt x="2573487" y="30623"/>
                  <a:pt x="2573487" y="68398"/>
                </a:cubicBezTo>
                <a:lnTo>
                  <a:pt x="2573487" y="786581"/>
                </a:lnTo>
                <a:cubicBezTo>
                  <a:pt x="2573487" y="824356"/>
                  <a:pt x="2542864" y="854979"/>
                  <a:pt x="2505088" y="854979"/>
                </a:cubicBezTo>
                <a:lnTo>
                  <a:pt x="68398" y="854979"/>
                </a:lnTo>
                <a:cubicBezTo>
                  <a:pt x="30623" y="854979"/>
                  <a:pt x="0" y="824356"/>
                  <a:pt x="0" y="786581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10313585" y="3736258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89893" y="-1002"/>
                </a:moveTo>
                <a:cubicBezTo>
                  <a:pt x="97828" y="-5571"/>
                  <a:pt x="107607" y="-5571"/>
                  <a:pt x="115542" y="-1002"/>
                </a:cubicBezTo>
                <a:lnTo>
                  <a:pt x="186038" y="39676"/>
                </a:lnTo>
                <a:cubicBezTo>
                  <a:pt x="193973" y="44245"/>
                  <a:pt x="198863" y="52742"/>
                  <a:pt x="198863" y="61879"/>
                </a:cubicBezTo>
                <a:lnTo>
                  <a:pt x="198863" y="143236"/>
                </a:lnTo>
                <a:cubicBezTo>
                  <a:pt x="198863" y="152413"/>
                  <a:pt x="193973" y="160870"/>
                  <a:pt x="186038" y="165438"/>
                </a:cubicBezTo>
                <a:lnTo>
                  <a:pt x="115542" y="206197"/>
                </a:lnTo>
                <a:cubicBezTo>
                  <a:pt x="107607" y="210766"/>
                  <a:pt x="97828" y="210766"/>
                  <a:pt x="89893" y="206197"/>
                </a:cubicBezTo>
                <a:lnTo>
                  <a:pt x="19437" y="165519"/>
                </a:lnTo>
                <a:cubicBezTo>
                  <a:pt x="11502" y="160950"/>
                  <a:pt x="6613" y="152453"/>
                  <a:pt x="6613" y="143316"/>
                </a:cubicBezTo>
                <a:lnTo>
                  <a:pt x="6613" y="61959"/>
                </a:lnTo>
                <a:cubicBezTo>
                  <a:pt x="6613" y="52782"/>
                  <a:pt x="11502" y="44325"/>
                  <a:pt x="19437" y="39757"/>
                </a:cubicBezTo>
                <a:lnTo>
                  <a:pt x="89893" y="-1002"/>
                </a:lnTo>
                <a:close/>
                <a:moveTo>
                  <a:pt x="173173" y="143276"/>
                </a:moveTo>
                <a:lnTo>
                  <a:pt x="173173" y="76708"/>
                </a:lnTo>
                <a:lnTo>
                  <a:pt x="115542" y="109972"/>
                </a:lnTo>
                <a:lnTo>
                  <a:pt x="115542" y="176540"/>
                </a:lnTo>
                <a:lnTo>
                  <a:pt x="173173" y="14327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4" name="Text 42"/>
          <p:cNvSpPr/>
          <p:nvPr/>
        </p:nvSpPr>
        <p:spPr>
          <a:xfrm>
            <a:off x="9198104" y="4009851"/>
            <a:ext cx="243669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02379" y="4215046"/>
            <a:ext cx="2428140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模型生成与打印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46266" y="4740858"/>
            <a:ext cx="11499467" cy="1769806"/>
          </a:xfrm>
          <a:custGeom>
            <a:avLst/>
            <a:gdLst/>
            <a:ahLst/>
            <a:cxnLst/>
            <a:rect l="l" t="t" r="r" b="b"/>
            <a:pathLst>
              <a:path w="11499467" h="1769806">
                <a:moveTo>
                  <a:pt x="102596" y="0"/>
                </a:moveTo>
                <a:lnTo>
                  <a:pt x="11396871" y="0"/>
                </a:lnTo>
                <a:cubicBezTo>
                  <a:pt x="11453533" y="0"/>
                  <a:pt x="11499467" y="45934"/>
                  <a:pt x="11499467" y="102596"/>
                </a:cubicBezTo>
                <a:lnTo>
                  <a:pt x="11499467" y="1667211"/>
                </a:lnTo>
                <a:cubicBezTo>
                  <a:pt x="11499467" y="1723873"/>
                  <a:pt x="11453533" y="1769806"/>
                  <a:pt x="11396871" y="1769806"/>
                </a:cubicBezTo>
                <a:lnTo>
                  <a:pt x="102596" y="1769806"/>
                </a:lnTo>
                <a:cubicBezTo>
                  <a:pt x="45934" y="1769806"/>
                  <a:pt x="0" y="1723873"/>
                  <a:pt x="0" y="1667211"/>
                </a:cubicBezTo>
                <a:lnTo>
                  <a:pt x="0" y="102596"/>
                </a:lnTo>
                <a:cubicBezTo>
                  <a:pt x="0" y="45972"/>
                  <a:pt x="45972" y="0"/>
                  <a:pt x="102596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7338" y="4881930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102600" y="0"/>
                </a:moveTo>
                <a:lnTo>
                  <a:pt x="376189" y="0"/>
                </a:lnTo>
                <a:cubicBezTo>
                  <a:pt x="432853" y="0"/>
                  <a:pt x="478788" y="45935"/>
                  <a:pt x="478788" y="102600"/>
                </a:cubicBezTo>
                <a:lnTo>
                  <a:pt x="478788" y="376189"/>
                </a:lnTo>
                <a:cubicBezTo>
                  <a:pt x="478788" y="432853"/>
                  <a:pt x="432853" y="478788"/>
                  <a:pt x="376189" y="478788"/>
                </a:cubicBezTo>
                <a:lnTo>
                  <a:pt x="102600" y="478788"/>
                </a:lnTo>
                <a:cubicBezTo>
                  <a:pt x="45935" y="478788"/>
                  <a:pt x="0" y="432853"/>
                  <a:pt x="0" y="376189"/>
                </a:cubicBezTo>
                <a:lnTo>
                  <a:pt x="0" y="102600"/>
                </a:lnTo>
                <a:cubicBezTo>
                  <a:pt x="0" y="45973"/>
                  <a:pt x="45973" y="0"/>
                  <a:pt x="102600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24135" y="5018727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51299" y="128247"/>
                </a:moveTo>
                <a:lnTo>
                  <a:pt x="9819" y="128247"/>
                </a:lnTo>
                <a:cubicBezTo>
                  <a:pt x="-160" y="128247"/>
                  <a:pt x="-6292" y="117386"/>
                  <a:pt x="-1162" y="108809"/>
                </a:cubicBezTo>
                <a:lnTo>
                  <a:pt x="20039" y="73461"/>
                </a:lnTo>
                <a:cubicBezTo>
                  <a:pt x="23525" y="67650"/>
                  <a:pt x="29777" y="64123"/>
                  <a:pt x="36550" y="64123"/>
                </a:cubicBezTo>
                <a:lnTo>
                  <a:pt x="74624" y="64123"/>
                </a:lnTo>
                <a:cubicBezTo>
                  <a:pt x="105122" y="12464"/>
                  <a:pt x="150610" y="9859"/>
                  <a:pt x="181028" y="14308"/>
                </a:cubicBezTo>
                <a:cubicBezTo>
                  <a:pt x="186158" y="15069"/>
                  <a:pt x="190166" y="19077"/>
                  <a:pt x="190887" y="24167"/>
                </a:cubicBezTo>
                <a:cubicBezTo>
                  <a:pt x="195336" y="54585"/>
                  <a:pt x="192731" y="100073"/>
                  <a:pt x="141072" y="130571"/>
                </a:cubicBezTo>
                <a:lnTo>
                  <a:pt x="141072" y="168645"/>
                </a:lnTo>
                <a:cubicBezTo>
                  <a:pt x="141072" y="175418"/>
                  <a:pt x="137545" y="181670"/>
                  <a:pt x="131734" y="185156"/>
                </a:cubicBezTo>
                <a:lnTo>
                  <a:pt x="96386" y="206357"/>
                </a:lnTo>
                <a:cubicBezTo>
                  <a:pt x="87849" y="211487"/>
                  <a:pt x="76948" y="205315"/>
                  <a:pt x="76948" y="195376"/>
                </a:cubicBezTo>
                <a:lnTo>
                  <a:pt x="76948" y="153896"/>
                </a:lnTo>
                <a:cubicBezTo>
                  <a:pt x="76948" y="139749"/>
                  <a:pt x="65446" y="128247"/>
                  <a:pt x="51299" y="128247"/>
                </a:cubicBezTo>
                <a:lnTo>
                  <a:pt x="51259" y="128247"/>
                </a:lnTo>
                <a:close/>
                <a:moveTo>
                  <a:pt x="160309" y="64123"/>
                </a:moveTo>
                <a:cubicBezTo>
                  <a:pt x="160309" y="53506"/>
                  <a:pt x="151689" y="44886"/>
                  <a:pt x="141072" y="44886"/>
                </a:cubicBezTo>
                <a:cubicBezTo>
                  <a:pt x="130454" y="44886"/>
                  <a:pt x="121835" y="53506"/>
                  <a:pt x="121835" y="64123"/>
                </a:cubicBezTo>
                <a:cubicBezTo>
                  <a:pt x="121835" y="74741"/>
                  <a:pt x="130454" y="83360"/>
                  <a:pt x="141072" y="83360"/>
                </a:cubicBezTo>
                <a:cubicBezTo>
                  <a:pt x="151689" y="83360"/>
                  <a:pt x="160309" y="74741"/>
                  <a:pt x="160309" y="64123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9" name="Text 47"/>
          <p:cNvSpPr/>
          <p:nvPr/>
        </p:nvSpPr>
        <p:spPr>
          <a:xfrm>
            <a:off x="1102923" y="4881930"/>
            <a:ext cx="10687237" cy="239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Skill编译优化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2923" y="5189722"/>
            <a:ext cx="10670137" cy="222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</a:t>
            </a: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文本指令</a:t>
            </a:r>
            <a:r>
              <a:rPr lang="en-US" sz="10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转化为</a:t>
            </a: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更高效的内部表示</a:t>
            </a:r>
            <a:r>
              <a:rPr lang="en-US" sz="10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，从认知阶段向自动化阶段演进。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20022" y="5514614"/>
            <a:ext cx="5018727" cy="854979"/>
          </a:xfrm>
          <a:custGeom>
            <a:avLst/>
            <a:gdLst/>
            <a:ahLst/>
            <a:cxnLst/>
            <a:rect l="l" t="t" r="r" b="b"/>
            <a:pathLst>
              <a:path w="5018727" h="854979">
                <a:moveTo>
                  <a:pt x="34199" y="0"/>
                </a:moveTo>
                <a:lnTo>
                  <a:pt x="4950328" y="0"/>
                </a:lnTo>
                <a:cubicBezTo>
                  <a:pt x="4988104" y="0"/>
                  <a:pt x="5018727" y="30623"/>
                  <a:pt x="5018727" y="68398"/>
                </a:cubicBezTo>
                <a:lnTo>
                  <a:pt x="5018727" y="786581"/>
                </a:lnTo>
                <a:cubicBezTo>
                  <a:pt x="5018727" y="824356"/>
                  <a:pt x="4988104" y="854979"/>
                  <a:pt x="4950328" y="854979"/>
                </a:cubicBezTo>
                <a:lnTo>
                  <a:pt x="34199" y="854979"/>
                </a:lnTo>
                <a:cubicBezTo>
                  <a:pt x="15311" y="854979"/>
                  <a:pt x="0" y="839667"/>
                  <a:pt x="0" y="820780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1120022" y="5514614"/>
            <a:ext cx="34199" cy="854979"/>
          </a:xfrm>
          <a:custGeom>
            <a:avLst/>
            <a:gdLst/>
            <a:ahLst/>
            <a:cxnLst/>
            <a:rect l="l" t="t" r="r" b="b"/>
            <a:pathLst>
              <a:path w="34199" h="854979">
                <a:moveTo>
                  <a:pt x="34199" y="0"/>
                </a:moveTo>
                <a:lnTo>
                  <a:pt x="34199" y="0"/>
                </a:lnTo>
                <a:lnTo>
                  <a:pt x="34199" y="854979"/>
                </a:lnTo>
                <a:lnTo>
                  <a:pt x="34199" y="854979"/>
                </a:lnTo>
                <a:cubicBezTo>
                  <a:pt x="15311" y="854979"/>
                  <a:pt x="0" y="839667"/>
                  <a:pt x="0" y="820780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3" name="Text 51"/>
          <p:cNvSpPr/>
          <p:nvPr/>
        </p:nvSpPr>
        <p:spPr>
          <a:xfrm>
            <a:off x="1239719" y="5617212"/>
            <a:ext cx="4856281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当前状态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39719" y="5856606"/>
            <a:ext cx="486483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文本解析 + 推理执行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239719" y="6096000"/>
            <a:ext cx="4856281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高灵活性，高 overhead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00193" y="5839506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201428" y="111655"/>
                </a:moveTo>
                <a:cubicBezTo>
                  <a:pt x="206437" y="106645"/>
                  <a:pt x="206437" y="98510"/>
                  <a:pt x="201428" y="93500"/>
                </a:cubicBezTo>
                <a:lnTo>
                  <a:pt x="137304" y="29377"/>
                </a:lnTo>
                <a:cubicBezTo>
                  <a:pt x="132295" y="24367"/>
                  <a:pt x="124159" y="24367"/>
                  <a:pt x="119149" y="29377"/>
                </a:cubicBezTo>
                <a:cubicBezTo>
                  <a:pt x="114140" y="34386"/>
                  <a:pt x="114140" y="42522"/>
                  <a:pt x="119149" y="47531"/>
                </a:cubicBezTo>
                <a:lnTo>
                  <a:pt x="161391" y="89773"/>
                </a:lnTo>
                <a:lnTo>
                  <a:pt x="12825" y="89773"/>
                </a:lnTo>
                <a:cubicBezTo>
                  <a:pt x="5731" y="89773"/>
                  <a:pt x="0" y="95504"/>
                  <a:pt x="0" y="102597"/>
                </a:cubicBezTo>
                <a:cubicBezTo>
                  <a:pt x="0" y="109691"/>
                  <a:pt x="5731" y="115422"/>
                  <a:pt x="12825" y="115422"/>
                </a:cubicBezTo>
                <a:lnTo>
                  <a:pt x="161391" y="115422"/>
                </a:lnTo>
                <a:lnTo>
                  <a:pt x="119149" y="157663"/>
                </a:lnTo>
                <a:cubicBezTo>
                  <a:pt x="114140" y="162673"/>
                  <a:pt x="114140" y="170809"/>
                  <a:pt x="119149" y="175818"/>
                </a:cubicBezTo>
                <a:cubicBezTo>
                  <a:pt x="124159" y="180828"/>
                  <a:pt x="132295" y="180828"/>
                  <a:pt x="137304" y="175818"/>
                </a:cubicBezTo>
                <a:lnTo>
                  <a:pt x="201428" y="111695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7" name="Shape 55"/>
          <p:cNvSpPr/>
          <p:nvPr/>
        </p:nvSpPr>
        <p:spPr>
          <a:xfrm>
            <a:off x="6684934" y="5514614"/>
            <a:ext cx="5018727" cy="854979"/>
          </a:xfrm>
          <a:custGeom>
            <a:avLst/>
            <a:gdLst/>
            <a:ahLst/>
            <a:cxnLst/>
            <a:rect l="l" t="t" r="r" b="b"/>
            <a:pathLst>
              <a:path w="5018727" h="854979">
                <a:moveTo>
                  <a:pt x="34199" y="0"/>
                </a:moveTo>
                <a:lnTo>
                  <a:pt x="4950328" y="0"/>
                </a:lnTo>
                <a:cubicBezTo>
                  <a:pt x="4988104" y="0"/>
                  <a:pt x="5018727" y="30623"/>
                  <a:pt x="5018727" y="68398"/>
                </a:cubicBezTo>
                <a:lnTo>
                  <a:pt x="5018727" y="786581"/>
                </a:lnTo>
                <a:cubicBezTo>
                  <a:pt x="5018727" y="824356"/>
                  <a:pt x="4988104" y="854979"/>
                  <a:pt x="4950328" y="854979"/>
                </a:cubicBezTo>
                <a:lnTo>
                  <a:pt x="34199" y="854979"/>
                </a:lnTo>
                <a:cubicBezTo>
                  <a:pt x="15311" y="854979"/>
                  <a:pt x="0" y="839667"/>
                  <a:pt x="0" y="820780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684934" y="5514614"/>
            <a:ext cx="34199" cy="854979"/>
          </a:xfrm>
          <a:custGeom>
            <a:avLst/>
            <a:gdLst/>
            <a:ahLst/>
            <a:cxnLst/>
            <a:rect l="l" t="t" r="r" b="b"/>
            <a:pathLst>
              <a:path w="34199" h="854979">
                <a:moveTo>
                  <a:pt x="34199" y="0"/>
                </a:moveTo>
                <a:lnTo>
                  <a:pt x="34199" y="0"/>
                </a:lnTo>
                <a:lnTo>
                  <a:pt x="34199" y="854979"/>
                </a:lnTo>
                <a:lnTo>
                  <a:pt x="34199" y="854979"/>
                </a:lnTo>
                <a:cubicBezTo>
                  <a:pt x="15311" y="854979"/>
                  <a:pt x="0" y="839667"/>
                  <a:pt x="0" y="820780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9" name="Text 57"/>
          <p:cNvSpPr/>
          <p:nvPr/>
        </p:nvSpPr>
        <p:spPr>
          <a:xfrm>
            <a:off x="6804631" y="5617212"/>
            <a:ext cx="4856281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未来方向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04631" y="5856606"/>
            <a:ext cx="486483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编译为内部表示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04631" y="6096000"/>
            <a:ext cx="4856281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 overhead，高性能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380" y="372380"/>
            <a:ext cx="1342407" cy="303421"/>
          </a:xfrm>
          <a:custGeom>
            <a:avLst/>
            <a:gdLst/>
            <a:ahLst/>
            <a:cxnLst/>
            <a:rect l="l" t="t" r="r" b="b"/>
            <a:pathLst>
              <a:path w="1342407" h="303421">
                <a:moveTo>
                  <a:pt x="36778" y="0"/>
                </a:moveTo>
                <a:lnTo>
                  <a:pt x="1305630" y="0"/>
                </a:lnTo>
                <a:cubicBezTo>
                  <a:pt x="1325941" y="0"/>
                  <a:pt x="1342407" y="16466"/>
                  <a:pt x="1342407" y="36778"/>
                </a:cubicBezTo>
                <a:lnTo>
                  <a:pt x="1342407" y="266643"/>
                </a:lnTo>
                <a:cubicBezTo>
                  <a:pt x="1342407" y="286955"/>
                  <a:pt x="1325941" y="303421"/>
                  <a:pt x="1305630" y="303421"/>
                </a:cubicBezTo>
                <a:lnTo>
                  <a:pt x="36778" y="303421"/>
                </a:lnTo>
                <a:cubicBezTo>
                  <a:pt x="16480" y="303421"/>
                  <a:pt x="0" y="286941"/>
                  <a:pt x="0" y="266643"/>
                </a:cubicBezTo>
                <a:lnTo>
                  <a:pt x="0" y="36778"/>
                </a:lnTo>
                <a:cubicBezTo>
                  <a:pt x="0" y="16466"/>
                  <a:pt x="16466" y="0"/>
                  <a:pt x="36778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312" y="445937"/>
            <a:ext cx="1179778" cy="17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kern="0" spc="5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783" y="753955"/>
            <a:ext cx="11621937" cy="367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关键研究空白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7783" y="1195294"/>
            <a:ext cx="11539186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亟待解决的基础性问题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2380" y="1604452"/>
            <a:ext cx="5645466" cy="4257086"/>
          </a:xfrm>
          <a:custGeom>
            <a:avLst/>
            <a:gdLst/>
            <a:ahLst/>
            <a:cxnLst/>
            <a:rect l="l" t="t" r="r" b="b"/>
            <a:pathLst>
              <a:path w="5645466" h="4257086">
                <a:moveTo>
                  <a:pt x="110344" y="0"/>
                </a:moveTo>
                <a:lnTo>
                  <a:pt x="5535122" y="0"/>
                </a:lnTo>
                <a:cubicBezTo>
                  <a:pt x="5596064" y="0"/>
                  <a:pt x="5645466" y="49403"/>
                  <a:pt x="5645466" y="110344"/>
                </a:cubicBezTo>
                <a:lnTo>
                  <a:pt x="5645466" y="4146742"/>
                </a:lnTo>
                <a:cubicBezTo>
                  <a:pt x="5645466" y="4207683"/>
                  <a:pt x="5596064" y="4257086"/>
                  <a:pt x="5535122" y="4257086"/>
                </a:cubicBezTo>
                <a:lnTo>
                  <a:pt x="110344" y="4257086"/>
                </a:lnTo>
                <a:cubicBezTo>
                  <a:pt x="49403" y="4257086"/>
                  <a:pt x="0" y="4207683"/>
                  <a:pt x="0" y="4146742"/>
                </a:cubicBezTo>
                <a:lnTo>
                  <a:pt x="0" y="110344"/>
                </a:lnTo>
                <a:cubicBezTo>
                  <a:pt x="0" y="49403"/>
                  <a:pt x="49403" y="0"/>
                  <a:pt x="110344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0869" y="1792941"/>
            <a:ext cx="514896" cy="514896"/>
          </a:xfrm>
          <a:custGeom>
            <a:avLst/>
            <a:gdLst/>
            <a:ahLst/>
            <a:cxnLst/>
            <a:rect l="l" t="t" r="r" b="b"/>
            <a:pathLst>
              <a:path w="514896" h="514896">
                <a:moveTo>
                  <a:pt x="110337" y="0"/>
                </a:moveTo>
                <a:lnTo>
                  <a:pt x="404559" y="0"/>
                </a:lnTo>
                <a:cubicBezTo>
                  <a:pt x="465456" y="0"/>
                  <a:pt x="514896" y="49440"/>
                  <a:pt x="514896" y="110337"/>
                </a:cubicBezTo>
                <a:lnTo>
                  <a:pt x="514896" y="404559"/>
                </a:lnTo>
                <a:cubicBezTo>
                  <a:pt x="514896" y="465456"/>
                  <a:pt x="465456" y="514896"/>
                  <a:pt x="404559" y="514896"/>
                </a:cubicBezTo>
                <a:lnTo>
                  <a:pt x="110337" y="514896"/>
                </a:lnTo>
                <a:cubicBezTo>
                  <a:pt x="49440" y="514896"/>
                  <a:pt x="0" y="465456"/>
                  <a:pt x="0" y="404559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21774" y="1940054"/>
            <a:ext cx="193086" cy="220670"/>
          </a:xfrm>
          <a:custGeom>
            <a:avLst/>
            <a:gdLst/>
            <a:ahLst/>
            <a:cxnLst/>
            <a:rect l="l" t="t" r="r" b="b"/>
            <a:pathLst>
              <a:path w="193086" h="220670">
                <a:moveTo>
                  <a:pt x="431" y="190371"/>
                </a:moveTo>
                <a:cubicBezTo>
                  <a:pt x="2370" y="199766"/>
                  <a:pt x="10689" y="206878"/>
                  <a:pt x="20688" y="206878"/>
                </a:cubicBezTo>
                <a:lnTo>
                  <a:pt x="172398" y="206878"/>
                </a:lnTo>
                <a:cubicBezTo>
                  <a:pt x="183820" y="206878"/>
                  <a:pt x="193086" y="197611"/>
                  <a:pt x="193086" y="186190"/>
                </a:cubicBezTo>
                <a:lnTo>
                  <a:pt x="193086" y="144814"/>
                </a:lnTo>
                <a:cubicBezTo>
                  <a:pt x="193086" y="133393"/>
                  <a:pt x="183820" y="124127"/>
                  <a:pt x="172398" y="124127"/>
                </a:cubicBezTo>
                <a:lnTo>
                  <a:pt x="151710" y="124127"/>
                </a:lnTo>
                <a:lnTo>
                  <a:pt x="151710" y="155158"/>
                </a:lnTo>
                <a:cubicBezTo>
                  <a:pt x="151710" y="160891"/>
                  <a:pt x="147099" y="165502"/>
                  <a:pt x="141367" y="165502"/>
                </a:cubicBezTo>
                <a:cubicBezTo>
                  <a:pt x="135634" y="165502"/>
                  <a:pt x="131023" y="160891"/>
                  <a:pt x="131023" y="155158"/>
                </a:cubicBezTo>
                <a:lnTo>
                  <a:pt x="131023" y="124127"/>
                </a:lnTo>
                <a:lnTo>
                  <a:pt x="103439" y="124127"/>
                </a:lnTo>
                <a:lnTo>
                  <a:pt x="103439" y="155158"/>
                </a:lnTo>
                <a:cubicBezTo>
                  <a:pt x="103439" y="160891"/>
                  <a:pt x="98827" y="165502"/>
                  <a:pt x="93095" y="165502"/>
                </a:cubicBezTo>
                <a:cubicBezTo>
                  <a:pt x="87363" y="165502"/>
                  <a:pt x="82751" y="160891"/>
                  <a:pt x="82751" y="155158"/>
                </a:cubicBezTo>
                <a:lnTo>
                  <a:pt x="82751" y="124127"/>
                </a:lnTo>
                <a:lnTo>
                  <a:pt x="51719" y="124127"/>
                </a:lnTo>
                <a:cubicBezTo>
                  <a:pt x="45987" y="124127"/>
                  <a:pt x="41376" y="119515"/>
                  <a:pt x="41376" y="113783"/>
                </a:cubicBezTo>
                <a:cubicBezTo>
                  <a:pt x="41376" y="108051"/>
                  <a:pt x="45987" y="103439"/>
                  <a:pt x="51719" y="103439"/>
                </a:cubicBezTo>
                <a:lnTo>
                  <a:pt x="82751" y="103439"/>
                </a:lnTo>
                <a:lnTo>
                  <a:pt x="82751" y="75855"/>
                </a:lnTo>
                <a:lnTo>
                  <a:pt x="51719" y="75855"/>
                </a:lnTo>
                <a:cubicBezTo>
                  <a:pt x="45987" y="75855"/>
                  <a:pt x="41376" y="71244"/>
                  <a:pt x="41376" y="65511"/>
                </a:cubicBezTo>
                <a:cubicBezTo>
                  <a:pt x="41376" y="59779"/>
                  <a:pt x="45987" y="55167"/>
                  <a:pt x="51719" y="55167"/>
                </a:cubicBezTo>
                <a:lnTo>
                  <a:pt x="82751" y="55167"/>
                </a:lnTo>
                <a:lnTo>
                  <a:pt x="82751" y="34480"/>
                </a:lnTo>
                <a:cubicBezTo>
                  <a:pt x="82751" y="23058"/>
                  <a:pt x="73485" y="13792"/>
                  <a:pt x="62063" y="13792"/>
                </a:cubicBezTo>
                <a:lnTo>
                  <a:pt x="20688" y="13792"/>
                </a:lnTo>
                <a:cubicBezTo>
                  <a:pt x="9266" y="13792"/>
                  <a:pt x="0" y="23058"/>
                  <a:pt x="0" y="34480"/>
                </a:cubicBezTo>
                <a:lnTo>
                  <a:pt x="0" y="186190"/>
                </a:lnTo>
                <a:cubicBezTo>
                  <a:pt x="0" y="187612"/>
                  <a:pt x="129" y="189035"/>
                  <a:pt x="431" y="19037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9" name="Text 7"/>
          <p:cNvSpPr/>
          <p:nvPr/>
        </p:nvSpPr>
        <p:spPr>
          <a:xfrm>
            <a:off x="1186100" y="1903276"/>
            <a:ext cx="1434353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评估体系缺失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0869" y="2454950"/>
            <a:ext cx="5342045" cy="239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目前</a:t>
            </a: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没有标准化的Skill有效性度量方法</a:t>
            </a:r>
            <a:r>
              <a:rPr lang="en-US" sz="116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。以下基础问题尚无公认答案：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258" y="2841122"/>
            <a:ext cx="5250100" cy="441339"/>
          </a:xfrm>
          <a:custGeom>
            <a:avLst/>
            <a:gdLst/>
            <a:ahLst/>
            <a:cxnLst/>
            <a:rect l="l" t="t" r="r" b="b"/>
            <a:pathLst>
              <a:path w="5250100" h="441339">
                <a:moveTo>
                  <a:pt x="36778" y="0"/>
                </a:moveTo>
                <a:lnTo>
                  <a:pt x="5176542" y="0"/>
                </a:lnTo>
                <a:cubicBezTo>
                  <a:pt x="5217166" y="0"/>
                  <a:pt x="5250100" y="32933"/>
                  <a:pt x="5250100" y="73558"/>
                </a:cubicBezTo>
                <a:lnTo>
                  <a:pt x="5250100" y="367781"/>
                </a:lnTo>
                <a:cubicBezTo>
                  <a:pt x="5250100" y="408379"/>
                  <a:pt x="5217139" y="441339"/>
                  <a:pt x="5176542" y="441339"/>
                </a:cubicBezTo>
                <a:lnTo>
                  <a:pt x="36778" y="441339"/>
                </a:lnTo>
                <a:cubicBezTo>
                  <a:pt x="16466" y="441339"/>
                  <a:pt x="0" y="424873"/>
                  <a:pt x="0" y="40456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79258" y="2841122"/>
            <a:ext cx="36778" cy="441339"/>
          </a:xfrm>
          <a:custGeom>
            <a:avLst/>
            <a:gdLst/>
            <a:ahLst/>
            <a:cxnLst/>
            <a:rect l="l" t="t" r="r" b="b"/>
            <a:pathLst>
              <a:path w="36778" h="441339">
                <a:moveTo>
                  <a:pt x="36778" y="0"/>
                </a:moveTo>
                <a:lnTo>
                  <a:pt x="36778" y="0"/>
                </a:lnTo>
                <a:lnTo>
                  <a:pt x="36778" y="441339"/>
                </a:lnTo>
                <a:lnTo>
                  <a:pt x="36778" y="441339"/>
                </a:lnTo>
                <a:cubicBezTo>
                  <a:pt x="16466" y="441339"/>
                  <a:pt x="0" y="424873"/>
                  <a:pt x="0" y="40456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3" name="Shape 11"/>
          <p:cNvSpPr/>
          <p:nvPr/>
        </p:nvSpPr>
        <p:spPr>
          <a:xfrm>
            <a:off x="726371" y="2988235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73557" y="50570"/>
                </a:moveTo>
                <a:cubicBezTo>
                  <a:pt x="68471" y="50570"/>
                  <a:pt x="64362" y="54679"/>
                  <a:pt x="64362" y="59765"/>
                </a:cubicBezTo>
                <a:cubicBezTo>
                  <a:pt x="64362" y="63586"/>
                  <a:pt x="61288" y="66661"/>
                  <a:pt x="57466" y="66661"/>
                </a:cubicBezTo>
                <a:cubicBezTo>
                  <a:pt x="53645" y="66661"/>
                  <a:pt x="50570" y="63586"/>
                  <a:pt x="50570" y="59765"/>
                </a:cubicBezTo>
                <a:cubicBezTo>
                  <a:pt x="50570" y="47065"/>
                  <a:pt x="60857" y="36778"/>
                  <a:pt x="73557" y="36778"/>
                </a:cubicBezTo>
                <a:cubicBezTo>
                  <a:pt x="86257" y="36778"/>
                  <a:pt x="96543" y="47065"/>
                  <a:pt x="96543" y="59765"/>
                </a:cubicBezTo>
                <a:cubicBezTo>
                  <a:pt x="96543" y="73327"/>
                  <a:pt x="86199" y="79073"/>
                  <a:pt x="80452" y="81171"/>
                </a:cubicBezTo>
                <a:lnTo>
                  <a:pt x="80452" y="82263"/>
                </a:lnTo>
                <a:cubicBezTo>
                  <a:pt x="80452" y="86084"/>
                  <a:pt x="77378" y="89159"/>
                  <a:pt x="73557" y="89159"/>
                </a:cubicBezTo>
                <a:cubicBezTo>
                  <a:pt x="69735" y="89159"/>
                  <a:pt x="66661" y="86084"/>
                  <a:pt x="66661" y="82263"/>
                </a:cubicBezTo>
                <a:lnTo>
                  <a:pt x="66661" y="79935"/>
                </a:lnTo>
                <a:cubicBezTo>
                  <a:pt x="66661" y="74045"/>
                  <a:pt x="70913" y="69821"/>
                  <a:pt x="75309" y="68385"/>
                </a:cubicBezTo>
                <a:cubicBezTo>
                  <a:pt x="77148" y="67781"/>
                  <a:pt x="79102" y="66804"/>
                  <a:pt x="80539" y="65425"/>
                </a:cubicBezTo>
                <a:cubicBezTo>
                  <a:pt x="81774" y="64218"/>
                  <a:pt x="82751" y="62552"/>
                  <a:pt x="82751" y="59793"/>
                </a:cubicBezTo>
                <a:cubicBezTo>
                  <a:pt x="82751" y="54708"/>
                  <a:pt x="78642" y="50599"/>
                  <a:pt x="73557" y="50599"/>
                </a:cubicBezTo>
                <a:close/>
                <a:moveTo>
                  <a:pt x="64362" y="105738"/>
                </a:moveTo>
                <a:cubicBezTo>
                  <a:pt x="64362" y="100663"/>
                  <a:pt x="68482" y="96543"/>
                  <a:pt x="73557" y="96543"/>
                </a:cubicBezTo>
                <a:cubicBezTo>
                  <a:pt x="78631" y="96543"/>
                  <a:pt x="82751" y="100663"/>
                  <a:pt x="82751" y="105738"/>
                </a:cubicBezTo>
                <a:cubicBezTo>
                  <a:pt x="82751" y="110812"/>
                  <a:pt x="78631" y="114932"/>
                  <a:pt x="73557" y="114932"/>
                </a:cubicBezTo>
                <a:cubicBezTo>
                  <a:pt x="68482" y="114932"/>
                  <a:pt x="64362" y="110812"/>
                  <a:pt x="64362" y="105738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2"/>
          <p:cNvSpPr/>
          <p:nvPr/>
        </p:nvSpPr>
        <p:spPr>
          <a:xfrm>
            <a:off x="965430" y="2951457"/>
            <a:ext cx="2399783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如何预测Skill在</a:t>
            </a: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特定任务</a:t>
            </a:r>
            <a:r>
              <a:rPr lang="en-US" sz="11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上的效果？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9258" y="3392796"/>
            <a:ext cx="5250100" cy="441339"/>
          </a:xfrm>
          <a:custGeom>
            <a:avLst/>
            <a:gdLst/>
            <a:ahLst/>
            <a:cxnLst/>
            <a:rect l="l" t="t" r="r" b="b"/>
            <a:pathLst>
              <a:path w="5250100" h="441339">
                <a:moveTo>
                  <a:pt x="36778" y="0"/>
                </a:moveTo>
                <a:lnTo>
                  <a:pt x="5176542" y="0"/>
                </a:lnTo>
                <a:cubicBezTo>
                  <a:pt x="5217166" y="0"/>
                  <a:pt x="5250100" y="32933"/>
                  <a:pt x="5250100" y="73558"/>
                </a:cubicBezTo>
                <a:lnTo>
                  <a:pt x="5250100" y="367781"/>
                </a:lnTo>
                <a:cubicBezTo>
                  <a:pt x="5250100" y="408379"/>
                  <a:pt x="5217139" y="441339"/>
                  <a:pt x="5176542" y="441339"/>
                </a:cubicBezTo>
                <a:lnTo>
                  <a:pt x="36778" y="441339"/>
                </a:lnTo>
                <a:cubicBezTo>
                  <a:pt x="16466" y="441339"/>
                  <a:pt x="0" y="424873"/>
                  <a:pt x="0" y="40456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79258" y="3392796"/>
            <a:ext cx="36778" cy="441339"/>
          </a:xfrm>
          <a:custGeom>
            <a:avLst/>
            <a:gdLst/>
            <a:ahLst/>
            <a:cxnLst/>
            <a:rect l="l" t="t" r="r" b="b"/>
            <a:pathLst>
              <a:path w="36778" h="441339">
                <a:moveTo>
                  <a:pt x="36778" y="0"/>
                </a:moveTo>
                <a:lnTo>
                  <a:pt x="36778" y="0"/>
                </a:lnTo>
                <a:lnTo>
                  <a:pt x="36778" y="441339"/>
                </a:lnTo>
                <a:lnTo>
                  <a:pt x="36778" y="441339"/>
                </a:lnTo>
                <a:cubicBezTo>
                  <a:pt x="16466" y="441339"/>
                  <a:pt x="0" y="424873"/>
                  <a:pt x="0" y="40456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7" name="Shape 15"/>
          <p:cNvSpPr/>
          <p:nvPr/>
        </p:nvSpPr>
        <p:spPr>
          <a:xfrm>
            <a:off x="726371" y="3539910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73557" y="50570"/>
                </a:moveTo>
                <a:cubicBezTo>
                  <a:pt x="68471" y="50570"/>
                  <a:pt x="64362" y="54679"/>
                  <a:pt x="64362" y="59765"/>
                </a:cubicBezTo>
                <a:cubicBezTo>
                  <a:pt x="64362" y="63586"/>
                  <a:pt x="61288" y="66661"/>
                  <a:pt x="57466" y="66661"/>
                </a:cubicBezTo>
                <a:cubicBezTo>
                  <a:pt x="53645" y="66661"/>
                  <a:pt x="50570" y="63586"/>
                  <a:pt x="50570" y="59765"/>
                </a:cubicBezTo>
                <a:cubicBezTo>
                  <a:pt x="50570" y="47065"/>
                  <a:pt x="60857" y="36778"/>
                  <a:pt x="73557" y="36778"/>
                </a:cubicBezTo>
                <a:cubicBezTo>
                  <a:pt x="86257" y="36778"/>
                  <a:pt x="96543" y="47065"/>
                  <a:pt x="96543" y="59765"/>
                </a:cubicBezTo>
                <a:cubicBezTo>
                  <a:pt x="96543" y="73327"/>
                  <a:pt x="86199" y="79073"/>
                  <a:pt x="80452" y="81171"/>
                </a:cubicBezTo>
                <a:lnTo>
                  <a:pt x="80452" y="82263"/>
                </a:lnTo>
                <a:cubicBezTo>
                  <a:pt x="80452" y="86084"/>
                  <a:pt x="77378" y="89159"/>
                  <a:pt x="73557" y="89159"/>
                </a:cubicBezTo>
                <a:cubicBezTo>
                  <a:pt x="69735" y="89159"/>
                  <a:pt x="66661" y="86084"/>
                  <a:pt x="66661" y="82263"/>
                </a:cubicBezTo>
                <a:lnTo>
                  <a:pt x="66661" y="79935"/>
                </a:lnTo>
                <a:cubicBezTo>
                  <a:pt x="66661" y="74045"/>
                  <a:pt x="70913" y="69821"/>
                  <a:pt x="75309" y="68385"/>
                </a:cubicBezTo>
                <a:cubicBezTo>
                  <a:pt x="77148" y="67781"/>
                  <a:pt x="79102" y="66804"/>
                  <a:pt x="80539" y="65425"/>
                </a:cubicBezTo>
                <a:cubicBezTo>
                  <a:pt x="81774" y="64218"/>
                  <a:pt x="82751" y="62552"/>
                  <a:pt x="82751" y="59793"/>
                </a:cubicBezTo>
                <a:cubicBezTo>
                  <a:pt x="82751" y="54708"/>
                  <a:pt x="78642" y="50599"/>
                  <a:pt x="73557" y="50599"/>
                </a:cubicBezTo>
                <a:close/>
                <a:moveTo>
                  <a:pt x="64362" y="105738"/>
                </a:moveTo>
                <a:cubicBezTo>
                  <a:pt x="64362" y="100663"/>
                  <a:pt x="68482" y="96543"/>
                  <a:pt x="73557" y="96543"/>
                </a:cubicBezTo>
                <a:cubicBezTo>
                  <a:pt x="78631" y="96543"/>
                  <a:pt x="82751" y="100663"/>
                  <a:pt x="82751" y="105738"/>
                </a:cubicBezTo>
                <a:cubicBezTo>
                  <a:pt x="82751" y="110812"/>
                  <a:pt x="78631" y="114932"/>
                  <a:pt x="73557" y="114932"/>
                </a:cubicBezTo>
                <a:cubicBezTo>
                  <a:pt x="68482" y="114932"/>
                  <a:pt x="64362" y="110812"/>
                  <a:pt x="64362" y="105738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8" name="Text 16"/>
          <p:cNvSpPr/>
          <p:nvPr/>
        </p:nvSpPr>
        <p:spPr>
          <a:xfrm>
            <a:off x="965430" y="3503131"/>
            <a:ext cx="2252670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如何度量Skill组合的</a:t>
            </a: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协同或冲突</a:t>
            </a:r>
            <a:r>
              <a:rPr lang="en-US" sz="11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9258" y="3944471"/>
            <a:ext cx="5250100" cy="441339"/>
          </a:xfrm>
          <a:custGeom>
            <a:avLst/>
            <a:gdLst/>
            <a:ahLst/>
            <a:cxnLst/>
            <a:rect l="l" t="t" r="r" b="b"/>
            <a:pathLst>
              <a:path w="5250100" h="441339">
                <a:moveTo>
                  <a:pt x="36778" y="0"/>
                </a:moveTo>
                <a:lnTo>
                  <a:pt x="5176542" y="0"/>
                </a:lnTo>
                <a:cubicBezTo>
                  <a:pt x="5217166" y="0"/>
                  <a:pt x="5250100" y="32933"/>
                  <a:pt x="5250100" y="73558"/>
                </a:cubicBezTo>
                <a:lnTo>
                  <a:pt x="5250100" y="367781"/>
                </a:lnTo>
                <a:cubicBezTo>
                  <a:pt x="5250100" y="408379"/>
                  <a:pt x="5217139" y="441339"/>
                  <a:pt x="5176542" y="441339"/>
                </a:cubicBezTo>
                <a:lnTo>
                  <a:pt x="36778" y="441339"/>
                </a:lnTo>
                <a:cubicBezTo>
                  <a:pt x="16466" y="441339"/>
                  <a:pt x="0" y="424873"/>
                  <a:pt x="0" y="40456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79258" y="3944471"/>
            <a:ext cx="36778" cy="441339"/>
          </a:xfrm>
          <a:custGeom>
            <a:avLst/>
            <a:gdLst/>
            <a:ahLst/>
            <a:cxnLst/>
            <a:rect l="l" t="t" r="r" b="b"/>
            <a:pathLst>
              <a:path w="36778" h="441339">
                <a:moveTo>
                  <a:pt x="36778" y="0"/>
                </a:moveTo>
                <a:lnTo>
                  <a:pt x="36778" y="0"/>
                </a:lnTo>
                <a:lnTo>
                  <a:pt x="36778" y="441339"/>
                </a:lnTo>
                <a:lnTo>
                  <a:pt x="36778" y="441339"/>
                </a:lnTo>
                <a:cubicBezTo>
                  <a:pt x="16466" y="441339"/>
                  <a:pt x="0" y="424873"/>
                  <a:pt x="0" y="40456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Shape 19"/>
          <p:cNvSpPr/>
          <p:nvPr/>
        </p:nvSpPr>
        <p:spPr>
          <a:xfrm>
            <a:off x="726371" y="4091584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73557" y="50570"/>
                </a:moveTo>
                <a:cubicBezTo>
                  <a:pt x="68471" y="50570"/>
                  <a:pt x="64362" y="54679"/>
                  <a:pt x="64362" y="59765"/>
                </a:cubicBezTo>
                <a:cubicBezTo>
                  <a:pt x="64362" y="63586"/>
                  <a:pt x="61288" y="66661"/>
                  <a:pt x="57466" y="66661"/>
                </a:cubicBezTo>
                <a:cubicBezTo>
                  <a:pt x="53645" y="66661"/>
                  <a:pt x="50570" y="63586"/>
                  <a:pt x="50570" y="59765"/>
                </a:cubicBezTo>
                <a:cubicBezTo>
                  <a:pt x="50570" y="47065"/>
                  <a:pt x="60857" y="36778"/>
                  <a:pt x="73557" y="36778"/>
                </a:cubicBezTo>
                <a:cubicBezTo>
                  <a:pt x="86257" y="36778"/>
                  <a:pt x="96543" y="47065"/>
                  <a:pt x="96543" y="59765"/>
                </a:cubicBezTo>
                <a:cubicBezTo>
                  <a:pt x="96543" y="73327"/>
                  <a:pt x="86199" y="79073"/>
                  <a:pt x="80452" y="81171"/>
                </a:cubicBezTo>
                <a:lnTo>
                  <a:pt x="80452" y="82263"/>
                </a:lnTo>
                <a:cubicBezTo>
                  <a:pt x="80452" y="86084"/>
                  <a:pt x="77378" y="89159"/>
                  <a:pt x="73557" y="89159"/>
                </a:cubicBezTo>
                <a:cubicBezTo>
                  <a:pt x="69735" y="89159"/>
                  <a:pt x="66661" y="86084"/>
                  <a:pt x="66661" y="82263"/>
                </a:cubicBezTo>
                <a:lnTo>
                  <a:pt x="66661" y="79935"/>
                </a:lnTo>
                <a:cubicBezTo>
                  <a:pt x="66661" y="74045"/>
                  <a:pt x="70913" y="69821"/>
                  <a:pt x="75309" y="68385"/>
                </a:cubicBezTo>
                <a:cubicBezTo>
                  <a:pt x="77148" y="67781"/>
                  <a:pt x="79102" y="66804"/>
                  <a:pt x="80539" y="65425"/>
                </a:cubicBezTo>
                <a:cubicBezTo>
                  <a:pt x="81774" y="64218"/>
                  <a:pt x="82751" y="62552"/>
                  <a:pt x="82751" y="59793"/>
                </a:cubicBezTo>
                <a:cubicBezTo>
                  <a:pt x="82751" y="54708"/>
                  <a:pt x="78642" y="50599"/>
                  <a:pt x="73557" y="50599"/>
                </a:cubicBezTo>
                <a:close/>
                <a:moveTo>
                  <a:pt x="64362" y="105738"/>
                </a:moveTo>
                <a:cubicBezTo>
                  <a:pt x="64362" y="100663"/>
                  <a:pt x="68482" y="96543"/>
                  <a:pt x="73557" y="96543"/>
                </a:cubicBezTo>
                <a:cubicBezTo>
                  <a:pt x="78631" y="96543"/>
                  <a:pt x="82751" y="100663"/>
                  <a:pt x="82751" y="105738"/>
                </a:cubicBezTo>
                <a:cubicBezTo>
                  <a:pt x="82751" y="110812"/>
                  <a:pt x="78631" y="114932"/>
                  <a:pt x="73557" y="114932"/>
                </a:cubicBezTo>
                <a:cubicBezTo>
                  <a:pt x="68482" y="114932"/>
                  <a:pt x="64362" y="110812"/>
                  <a:pt x="64362" y="105738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2" name="Text 20"/>
          <p:cNvSpPr/>
          <p:nvPr/>
        </p:nvSpPr>
        <p:spPr>
          <a:xfrm>
            <a:off x="965430" y="4054805"/>
            <a:ext cx="2280253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如何建立</a:t>
            </a: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跨平台可比</a:t>
            </a:r>
            <a:r>
              <a:rPr lang="en-US" sz="11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的基准测试？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5466" y="4537520"/>
            <a:ext cx="5259294" cy="413756"/>
          </a:xfrm>
          <a:custGeom>
            <a:avLst/>
            <a:gdLst/>
            <a:ahLst/>
            <a:cxnLst/>
            <a:rect l="l" t="t" r="r" b="b"/>
            <a:pathLst>
              <a:path w="5259294" h="413756">
                <a:moveTo>
                  <a:pt x="73557" y="0"/>
                </a:moveTo>
                <a:lnTo>
                  <a:pt x="5185737" y="0"/>
                </a:lnTo>
                <a:cubicBezTo>
                  <a:pt x="5226361" y="0"/>
                  <a:pt x="5259294" y="32933"/>
                  <a:pt x="5259294" y="73557"/>
                </a:cubicBezTo>
                <a:lnTo>
                  <a:pt x="5259294" y="340198"/>
                </a:lnTo>
                <a:cubicBezTo>
                  <a:pt x="5259294" y="380823"/>
                  <a:pt x="5226361" y="413756"/>
                  <a:pt x="5185737" y="413756"/>
                </a:cubicBezTo>
                <a:lnTo>
                  <a:pt x="73557" y="413756"/>
                </a:lnTo>
                <a:cubicBezTo>
                  <a:pt x="32960" y="413756"/>
                  <a:pt x="0" y="380796"/>
                  <a:pt x="0" y="340198"/>
                </a:cubicBezTo>
                <a:lnTo>
                  <a:pt x="0" y="73557"/>
                </a:lnTo>
                <a:cubicBezTo>
                  <a:pt x="0" y="32933"/>
                  <a:pt x="32933" y="0"/>
                  <a:pt x="7355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8787" y="4680036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64362" y="128724"/>
                </a:moveTo>
                <a:cubicBezTo>
                  <a:pt x="99884" y="128724"/>
                  <a:pt x="128724" y="99884"/>
                  <a:pt x="128724" y="64362"/>
                </a:cubicBezTo>
                <a:cubicBezTo>
                  <a:pt x="128724" y="28840"/>
                  <a:pt x="99884" y="0"/>
                  <a:pt x="64362" y="0"/>
                </a:cubicBezTo>
                <a:cubicBezTo>
                  <a:pt x="28840" y="0"/>
                  <a:pt x="0" y="28840"/>
                  <a:pt x="0" y="64362"/>
                </a:cubicBezTo>
                <a:cubicBezTo>
                  <a:pt x="0" y="99884"/>
                  <a:pt x="28840" y="128724"/>
                  <a:pt x="64362" y="128724"/>
                </a:cubicBezTo>
                <a:close/>
                <a:moveTo>
                  <a:pt x="56317" y="40226"/>
                </a:moveTo>
                <a:cubicBezTo>
                  <a:pt x="56317" y="35786"/>
                  <a:pt x="59922" y="32181"/>
                  <a:pt x="64362" y="32181"/>
                </a:cubicBezTo>
                <a:cubicBezTo>
                  <a:pt x="68802" y="32181"/>
                  <a:pt x="72407" y="35786"/>
                  <a:pt x="72407" y="40226"/>
                </a:cubicBezTo>
                <a:cubicBezTo>
                  <a:pt x="72407" y="44667"/>
                  <a:pt x="68802" y="48271"/>
                  <a:pt x="64362" y="48271"/>
                </a:cubicBezTo>
                <a:cubicBezTo>
                  <a:pt x="59922" y="48271"/>
                  <a:pt x="56317" y="44667"/>
                  <a:pt x="56317" y="40226"/>
                </a:cubicBezTo>
                <a:close/>
                <a:moveTo>
                  <a:pt x="54305" y="56317"/>
                </a:moveTo>
                <a:lnTo>
                  <a:pt x="66373" y="56317"/>
                </a:lnTo>
                <a:cubicBezTo>
                  <a:pt x="69717" y="56317"/>
                  <a:pt x="72407" y="59007"/>
                  <a:pt x="72407" y="62351"/>
                </a:cubicBezTo>
                <a:lnTo>
                  <a:pt x="72407" y="84475"/>
                </a:lnTo>
                <a:lnTo>
                  <a:pt x="74419" y="84475"/>
                </a:lnTo>
                <a:cubicBezTo>
                  <a:pt x="77762" y="84475"/>
                  <a:pt x="80452" y="87165"/>
                  <a:pt x="80452" y="90509"/>
                </a:cubicBezTo>
                <a:cubicBezTo>
                  <a:pt x="80452" y="93853"/>
                  <a:pt x="77762" y="96543"/>
                  <a:pt x="74419" y="96543"/>
                </a:cubicBezTo>
                <a:lnTo>
                  <a:pt x="54305" y="96543"/>
                </a:lnTo>
                <a:cubicBezTo>
                  <a:pt x="50962" y="96543"/>
                  <a:pt x="48271" y="93853"/>
                  <a:pt x="48271" y="90509"/>
                </a:cubicBezTo>
                <a:cubicBezTo>
                  <a:pt x="48271" y="87165"/>
                  <a:pt x="50962" y="84475"/>
                  <a:pt x="54305" y="84475"/>
                </a:cubicBezTo>
                <a:lnTo>
                  <a:pt x="60339" y="84475"/>
                </a:lnTo>
                <a:lnTo>
                  <a:pt x="60339" y="68385"/>
                </a:lnTo>
                <a:lnTo>
                  <a:pt x="54305" y="68385"/>
                </a:lnTo>
                <a:cubicBezTo>
                  <a:pt x="50962" y="68385"/>
                  <a:pt x="48271" y="65694"/>
                  <a:pt x="48271" y="62351"/>
                </a:cubicBezTo>
                <a:cubicBezTo>
                  <a:pt x="48271" y="59007"/>
                  <a:pt x="50962" y="56317"/>
                  <a:pt x="54305" y="5631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5" name="Text 23"/>
          <p:cNvSpPr/>
          <p:nvPr/>
        </p:nvSpPr>
        <p:spPr>
          <a:xfrm>
            <a:off x="899154" y="4652452"/>
            <a:ext cx="4875036" cy="18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当前效能数据多来自厂商，</a:t>
            </a:r>
            <a:r>
              <a:rPr lang="en-US" sz="101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peer-reviewed验证稀缺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5160" y="1604452"/>
            <a:ext cx="5645466" cy="4257086"/>
          </a:xfrm>
          <a:custGeom>
            <a:avLst/>
            <a:gdLst/>
            <a:ahLst/>
            <a:cxnLst/>
            <a:rect l="l" t="t" r="r" b="b"/>
            <a:pathLst>
              <a:path w="5645466" h="4257086">
                <a:moveTo>
                  <a:pt x="110344" y="0"/>
                </a:moveTo>
                <a:lnTo>
                  <a:pt x="5535122" y="0"/>
                </a:lnTo>
                <a:cubicBezTo>
                  <a:pt x="5596064" y="0"/>
                  <a:pt x="5645466" y="49403"/>
                  <a:pt x="5645466" y="110344"/>
                </a:cubicBezTo>
                <a:lnTo>
                  <a:pt x="5645466" y="4146742"/>
                </a:lnTo>
                <a:cubicBezTo>
                  <a:pt x="5645466" y="4207683"/>
                  <a:pt x="5596064" y="4257086"/>
                  <a:pt x="5535122" y="4257086"/>
                </a:cubicBezTo>
                <a:lnTo>
                  <a:pt x="110344" y="4257086"/>
                </a:lnTo>
                <a:cubicBezTo>
                  <a:pt x="49403" y="4257086"/>
                  <a:pt x="0" y="4207683"/>
                  <a:pt x="0" y="4146742"/>
                </a:cubicBezTo>
                <a:lnTo>
                  <a:pt x="0" y="110344"/>
                </a:lnTo>
                <a:cubicBezTo>
                  <a:pt x="0" y="49403"/>
                  <a:pt x="49403" y="0"/>
                  <a:pt x="110344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3648" y="1792941"/>
            <a:ext cx="514896" cy="514896"/>
          </a:xfrm>
          <a:custGeom>
            <a:avLst/>
            <a:gdLst/>
            <a:ahLst/>
            <a:cxnLst/>
            <a:rect l="l" t="t" r="r" b="b"/>
            <a:pathLst>
              <a:path w="514896" h="514896">
                <a:moveTo>
                  <a:pt x="110337" y="0"/>
                </a:moveTo>
                <a:lnTo>
                  <a:pt x="404559" y="0"/>
                </a:lnTo>
                <a:cubicBezTo>
                  <a:pt x="465456" y="0"/>
                  <a:pt x="514896" y="49440"/>
                  <a:pt x="514896" y="110337"/>
                </a:cubicBezTo>
                <a:lnTo>
                  <a:pt x="514896" y="404559"/>
                </a:lnTo>
                <a:cubicBezTo>
                  <a:pt x="514896" y="465456"/>
                  <a:pt x="465456" y="514896"/>
                  <a:pt x="404559" y="514896"/>
                </a:cubicBezTo>
                <a:lnTo>
                  <a:pt x="110337" y="514896"/>
                </a:lnTo>
                <a:cubicBezTo>
                  <a:pt x="49440" y="514896"/>
                  <a:pt x="0" y="465456"/>
                  <a:pt x="0" y="404559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510761" y="1940054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10335" y="0"/>
                </a:moveTo>
                <a:cubicBezTo>
                  <a:pt x="112317" y="0"/>
                  <a:pt x="114300" y="431"/>
                  <a:pt x="116110" y="1250"/>
                </a:cubicBezTo>
                <a:lnTo>
                  <a:pt x="197310" y="35686"/>
                </a:lnTo>
                <a:cubicBezTo>
                  <a:pt x="206792" y="39695"/>
                  <a:pt x="213860" y="49047"/>
                  <a:pt x="213817" y="60339"/>
                </a:cubicBezTo>
                <a:cubicBezTo>
                  <a:pt x="213601" y="103094"/>
                  <a:pt x="196017" y="181320"/>
                  <a:pt x="121756" y="216877"/>
                </a:cubicBezTo>
                <a:cubicBezTo>
                  <a:pt x="114559" y="220325"/>
                  <a:pt x="106197" y="220325"/>
                  <a:pt x="99000" y="216877"/>
                </a:cubicBezTo>
                <a:cubicBezTo>
                  <a:pt x="24696" y="181320"/>
                  <a:pt x="7155" y="103094"/>
                  <a:pt x="6939" y="60339"/>
                </a:cubicBezTo>
                <a:cubicBezTo>
                  <a:pt x="6896" y="49047"/>
                  <a:pt x="13964" y="39695"/>
                  <a:pt x="23446" y="35686"/>
                </a:cubicBezTo>
                <a:lnTo>
                  <a:pt x="104603" y="1250"/>
                </a:lnTo>
                <a:cubicBezTo>
                  <a:pt x="106413" y="431"/>
                  <a:pt x="108352" y="0"/>
                  <a:pt x="110335" y="0"/>
                </a:cubicBezTo>
                <a:close/>
                <a:moveTo>
                  <a:pt x="110335" y="28790"/>
                </a:moveTo>
                <a:lnTo>
                  <a:pt x="110335" y="191750"/>
                </a:lnTo>
                <a:cubicBezTo>
                  <a:pt x="169812" y="162959"/>
                  <a:pt x="185802" y="99172"/>
                  <a:pt x="186190" y="60986"/>
                </a:cubicBezTo>
                <a:lnTo>
                  <a:pt x="110335" y="28834"/>
                </a:lnTo>
                <a:lnTo>
                  <a:pt x="110335" y="28834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9" name="Text 27"/>
          <p:cNvSpPr/>
          <p:nvPr/>
        </p:nvSpPr>
        <p:spPr>
          <a:xfrm>
            <a:off x="6988879" y="1903276"/>
            <a:ext cx="1655023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安全框架不完善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3648" y="2454950"/>
            <a:ext cx="5342045" cy="239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以下风险已被识别，但</a:t>
            </a: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系统性的防御标准尚未建立</a:t>
            </a:r>
            <a:r>
              <a:rPr lang="en-US" sz="116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3648" y="2841122"/>
            <a:ext cx="5268489" cy="625231"/>
          </a:xfrm>
          <a:custGeom>
            <a:avLst/>
            <a:gdLst/>
            <a:ahLst/>
            <a:cxnLst/>
            <a:rect l="l" t="t" r="r" b="b"/>
            <a:pathLst>
              <a:path w="5268489" h="625231">
                <a:moveTo>
                  <a:pt x="73558" y="0"/>
                </a:moveTo>
                <a:lnTo>
                  <a:pt x="5194930" y="0"/>
                </a:lnTo>
                <a:cubicBezTo>
                  <a:pt x="5235555" y="0"/>
                  <a:pt x="5268489" y="32933"/>
                  <a:pt x="5268489" y="73558"/>
                </a:cubicBezTo>
                <a:lnTo>
                  <a:pt x="5268489" y="551672"/>
                </a:lnTo>
                <a:cubicBezTo>
                  <a:pt x="5268489" y="592298"/>
                  <a:pt x="5235555" y="625231"/>
                  <a:pt x="5194930" y="625231"/>
                </a:cubicBezTo>
                <a:lnTo>
                  <a:pt x="73558" y="625231"/>
                </a:lnTo>
                <a:cubicBezTo>
                  <a:pt x="32933" y="625231"/>
                  <a:pt x="0" y="592298"/>
                  <a:pt x="0" y="551672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473983" y="2951457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36778" y="0"/>
                </a:moveTo>
                <a:lnTo>
                  <a:pt x="331005" y="0"/>
                </a:lnTo>
                <a:cubicBezTo>
                  <a:pt x="351303" y="0"/>
                  <a:pt x="367783" y="16480"/>
                  <a:pt x="367783" y="36778"/>
                </a:cubicBezTo>
                <a:lnTo>
                  <a:pt x="367783" y="331005"/>
                </a:lnTo>
                <a:cubicBezTo>
                  <a:pt x="367783" y="351317"/>
                  <a:pt x="351317" y="367783"/>
                  <a:pt x="331005" y="367783"/>
                </a:cubicBezTo>
                <a:lnTo>
                  <a:pt x="36778" y="367783"/>
                </a:lnTo>
                <a:cubicBezTo>
                  <a:pt x="16466" y="367783"/>
                  <a:pt x="0" y="351317"/>
                  <a:pt x="0" y="331005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593512" y="3061792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49133" y="-4597"/>
                </a:moveTo>
                <a:cubicBezTo>
                  <a:pt x="38675" y="-4597"/>
                  <a:pt x="32526" y="12154"/>
                  <a:pt x="29509" y="27584"/>
                </a:cubicBezTo>
                <a:lnTo>
                  <a:pt x="20688" y="27584"/>
                </a:lnTo>
                <a:cubicBezTo>
                  <a:pt x="16866" y="27584"/>
                  <a:pt x="13792" y="30658"/>
                  <a:pt x="13792" y="34480"/>
                </a:cubicBezTo>
                <a:cubicBezTo>
                  <a:pt x="13792" y="38301"/>
                  <a:pt x="16866" y="41376"/>
                  <a:pt x="20688" y="41376"/>
                </a:cubicBezTo>
                <a:lnTo>
                  <a:pt x="27584" y="41376"/>
                </a:lnTo>
                <a:lnTo>
                  <a:pt x="27584" y="50570"/>
                </a:lnTo>
                <a:cubicBezTo>
                  <a:pt x="27584" y="55455"/>
                  <a:pt x="28532" y="60110"/>
                  <a:pt x="30256" y="64362"/>
                </a:cubicBezTo>
                <a:lnTo>
                  <a:pt x="27584" y="64362"/>
                </a:lnTo>
                <a:lnTo>
                  <a:pt x="27584" y="64362"/>
                </a:lnTo>
                <a:lnTo>
                  <a:pt x="21693" y="64362"/>
                </a:lnTo>
                <a:cubicBezTo>
                  <a:pt x="17326" y="64362"/>
                  <a:pt x="13792" y="67896"/>
                  <a:pt x="13792" y="72264"/>
                </a:cubicBezTo>
                <a:cubicBezTo>
                  <a:pt x="13792" y="73126"/>
                  <a:pt x="13936" y="73959"/>
                  <a:pt x="14194" y="74763"/>
                </a:cubicBezTo>
                <a:lnTo>
                  <a:pt x="22498" y="99646"/>
                </a:lnTo>
                <a:cubicBezTo>
                  <a:pt x="11551" y="109071"/>
                  <a:pt x="4597" y="123006"/>
                  <a:pt x="4597" y="138579"/>
                </a:cubicBezTo>
                <a:cubicBezTo>
                  <a:pt x="4597" y="143292"/>
                  <a:pt x="8419" y="147113"/>
                  <a:pt x="13131" y="147113"/>
                </a:cubicBezTo>
                <a:lnTo>
                  <a:pt x="115593" y="147113"/>
                </a:lnTo>
                <a:cubicBezTo>
                  <a:pt x="120305" y="147113"/>
                  <a:pt x="124127" y="143292"/>
                  <a:pt x="124127" y="138579"/>
                </a:cubicBezTo>
                <a:cubicBezTo>
                  <a:pt x="124127" y="123006"/>
                  <a:pt x="117173" y="109071"/>
                  <a:pt x="106226" y="99675"/>
                </a:cubicBezTo>
                <a:lnTo>
                  <a:pt x="114530" y="74792"/>
                </a:lnTo>
                <a:cubicBezTo>
                  <a:pt x="114788" y="73988"/>
                  <a:pt x="114932" y="73154"/>
                  <a:pt x="114932" y="72292"/>
                </a:cubicBezTo>
                <a:cubicBezTo>
                  <a:pt x="114932" y="67925"/>
                  <a:pt x="111398" y="64391"/>
                  <a:pt x="107031" y="64391"/>
                </a:cubicBezTo>
                <a:lnTo>
                  <a:pt x="101140" y="64391"/>
                </a:lnTo>
                <a:lnTo>
                  <a:pt x="101140" y="64391"/>
                </a:lnTo>
                <a:lnTo>
                  <a:pt x="98468" y="64391"/>
                </a:lnTo>
                <a:cubicBezTo>
                  <a:pt x="100192" y="60138"/>
                  <a:pt x="101140" y="55483"/>
                  <a:pt x="101140" y="50599"/>
                </a:cubicBezTo>
                <a:lnTo>
                  <a:pt x="101140" y="41404"/>
                </a:lnTo>
                <a:lnTo>
                  <a:pt x="108036" y="41404"/>
                </a:lnTo>
                <a:cubicBezTo>
                  <a:pt x="111858" y="41404"/>
                  <a:pt x="114932" y="38330"/>
                  <a:pt x="114932" y="34508"/>
                </a:cubicBezTo>
                <a:cubicBezTo>
                  <a:pt x="114932" y="30687"/>
                  <a:pt x="111858" y="27612"/>
                  <a:pt x="108036" y="27612"/>
                </a:cubicBezTo>
                <a:lnTo>
                  <a:pt x="99215" y="27612"/>
                </a:lnTo>
                <a:cubicBezTo>
                  <a:pt x="96227" y="12183"/>
                  <a:pt x="90049" y="-4569"/>
                  <a:pt x="79590" y="-4569"/>
                </a:cubicBezTo>
                <a:cubicBezTo>
                  <a:pt x="76832" y="-4569"/>
                  <a:pt x="74131" y="-3448"/>
                  <a:pt x="71689" y="-2212"/>
                </a:cubicBezTo>
                <a:cubicBezTo>
                  <a:pt x="69333" y="-1034"/>
                  <a:pt x="66402" y="29"/>
                  <a:pt x="64362" y="29"/>
                </a:cubicBezTo>
                <a:cubicBezTo>
                  <a:pt x="62322" y="29"/>
                  <a:pt x="59391" y="-1034"/>
                  <a:pt x="57035" y="-2212"/>
                </a:cubicBezTo>
                <a:cubicBezTo>
                  <a:pt x="54593" y="-3477"/>
                  <a:pt x="51892" y="-4597"/>
                  <a:pt x="49133" y="-4597"/>
                </a:cubicBezTo>
                <a:close/>
                <a:moveTo>
                  <a:pt x="76056" y="134586"/>
                </a:moveTo>
                <a:lnTo>
                  <a:pt x="68931" y="114214"/>
                </a:lnTo>
                <a:lnTo>
                  <a:pt x="76947" y="104876"/>
                </a:lnTo>
                <a:cubicBezTo>
                  <a:pt x="77723" y="103956"/>
                  <a:pt x="78154" y="102807"/>
                  <a:pt x="78154" y="101600"/>
                </a:cubicBezTo>
                <a:cubicBezTo>
                  <a:pt x="78154" y="98813"/>
                  <a:pt x="75913" y="96572"/>
                  <a:pt x="73126" y="96572"/>
                </a:cubicBezTo>
                <a:lnTo>
                  <a:pt x="55598" y="96572"/>
                </a:lnTo>
                <a:cubicBezTo>
                  <a:pt x="52811" y="96572"/>
                  <a:pt x="50570" y="98813"/>
                  <a:pt x="50570" y="101600"/>
                </a:cubicBezTo>
                <a:cubicBezTo>
                  <a:pt x="50570" y="102807"/>
                  <a:pt x="51001" y="103956"/>
                  <a:pt x="51777" y="104876"/>
                </a:cubicBezTo>
                <a:lnTo>
                  <a:pt x="59793" y="114214"/>
                </a:lnTo>
                <a:lnTo>
                  <a:pt x="52668" y="134586"/>
                </a:lnTo>
                <a:lnTo>
                  <a:pt x="36290" y="82751"/>
                </a:lnTo>
                <a:lnTo>
                  <a:pt x="46548" y="82751"/>
                </a:lnTo>
                <a:cubicBezTo>
                  <a:pt x="51834" y="85682"/>
                  <a:pt x="57897" y="87348"/>
                  <a:pt x="64362" y="87348"/>
                </a:cubicBezTo>
                <a:cubicBezTo>
                  <a:pt x="70827" y="87348"/>
                  <a:pt x="76890" y="85682"/>
                  <a:pt x="82176" y="82751"/>
                </a:cubicBezTo>
                <a:lnTo>
                  <a:pt x="92434" y="82751"/>
                </a:lnTo>
                <a:lnTo>
                  <a:pt x="76056" y="134586"/>
                </a:lnTo>
                <a:close/>
                <a:moveTo>
                  <a:pt x="64362" y="73557"/>
                </a:moveTo>
                <a:cubicBezTo>
                  <a:pt x="54392" y="73557"/>
                  <a:pt x="45915" y="67207"/>
                  <a:pt x="42726" y="58328"/>
                </a:cubicBezTo>
                <a:cubicBezTo>
                  <a:pt x="44364" y="59248"/>
                  <a:pt x="46260" y="59765"/>
                  <a:pt x="48271" y="59765"/>
                </a:cubicBezTo>
                <a:lnTo>
                  <a:pt x="51834" y="59765"/>
                </a:lnTo>
                <a:cubicBezTo>
                  <a:pt x="56575" y="59765"/>
                  <a:pt x="60770" y="56719"/>
                  <a:pt x="62264" y="52237"/>
                </a:cubicBezTo>
                <a:cubicBezTo>
                  <a:pt x="62925" y="50225"/>
                  <a:pt x="65770" y="50225"/>
                  <a:pt x="66431" y="52237"/>
                </a:cubicBezTo>
                <a:cubicBezTo>
                  <a:pt x="67925" y="56719"/>
                  <a:pt x="72149" y="59765"/>
                  <a:pt x="76861" y="59765"/>
                </a:cubicBezTo>
                <a:lnTo>
                  <a:pt x="80424" y="59765"/>
                </a:lnTo>
                <a:cubicBezTo>
                  <a:pt x="82435" y="59765"/>
                  <a:pt x="84331" y="59248"/>
                  <a:pt x="85969" y="58328"/>
                </a:cubicBezTo>
                <a:cubicBezTo>
                  <a:pt x="82780" y="67207"/>
                  <a:pt x="74304" y="73557"/>
                  <a:pt x="64333" y="7355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4" name="Text 32"/>
          <p:cNvSpPr/>
          <p:nvPr/>
        </p:nvSpPr>
        <p:spPr>
          <a:xfrm>
            <a:off x="6952101" y="2951457"/>
            <a:ext cx="1728579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恶意Skill注入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2101" y="3172127"/>
            <a:ext cx="1719385" cy="18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攻击者通过Skill植入恶意代码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3648" y="3576688"/>
            <a:ext cx="5268489" cy="625231"/>
          </a:xfrm>
          <a:custGeom>
            <a:avLst/>
            <a:gdLst/>
            <a:ahLst/>
            <a:cxnLst/>
            <a:rect l="l" t="t" r="r" b="b"/>
            <a:pathLst>
              <a:path w="5268489" h="625231">
                <a:moveTo>
                  <a:pt x="73558" y="0"/>
                </a:moveTo>
                <a:lnTo>
                  <a:pt x="5194930" y="0"/>
                </a:lnTo>
                <a:cubicBezTo>
                  <a:pt x="5235555" y="0"/>
                  <a:pt x="5268489" y="32933"/>
                  <a:pt x="5268489" y="73558"/>
                </a:cubicBezTo>
                <a:lnTo>
                  <a:pt x="5268489" y="551672"/>
                </a:lnTo>
                <a:cubicBezTo>
                  <a:pt x="5268489" y="592298"/>
                  <a:pt x="5235555" y="625231"/>
                  <a:pt x="5194930" y="625231"/>
                </a:cubicBezTo>
                <a:lnTo>
                  <a:pt x="73558" y="625231"/>
                </a:lnTo>
                <a:cubicBezTo>
                  <a:pt x="32933" y="625231"/>
                  <a:pt x="0" y="592298"/>
                  <a:pt x="0" y="551672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473983" y="3687023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36778" y="0"/>
                </a:moveTo>
                <a:lnTo>
                  <a:pt x="331005" y="0"/>
                </a:lnTo>
                <a:cubicBezTo>
                  <a:pt x="351303" y="0"/>
                  <a:pt x="367783" y="16480"/>
                  <a:pt x="367783" y="36778"/>
                </a:cubicBezTo>
                <a:lnTo>
                  <a:pt x="367783" y="331005"/>
                </a:lnTo>
                <a:cubicBezTo>
                  <a:pt x="367783" y="351317"/>
                  <a:pt x="351317" y="367783"/>
                  <a:pt x="331005" y="367783"/>
                </a:cubicBezTo>
                <a:lnTo>
                  <a:pt x="36778" y="367783"/>
                </a:lnTo>
                <a:cubicBezTo>
                  <a:pt x="16466" y="367783"/>
                  <a:pt x="0" y="351317"/>
                  <a:pt x="0" y="331005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602707" y="3797357"/>
            <a:ext cx="110335" cy="147113"/>
          </a:xfrm>
          <a:custGeom>
            <a:avLst/>
            <a:gdLst/>
            <a:ahLst/>
            <a:cxnLst/>
            <a:rect l="l" t="t" r="r" b="b"/>
            <a:pathLst>
              <a:path w="110335" h="147113">
                <a:moveTo>
                  <a:pt x="48674" y="2701"/>
                </a:moveTo>
                <a:cubicBezTo>
                  <a:pt x="52265" y="-891"/>
                  <a:pt x="58098" y="-891"/>
                  <a:pt x="61690" y="2701"/>
                </a:cubicBezTo>
                <a:lnTo>
                  <a:pt x="98468" y="39479"/>
                </a:lnTo>
                <a:cubicBezTo>
                  <a:pt x="101112" y="42123"/>
                  <a:pt x="101887" y="46059"/>
                  <a:pt x="100451" y="49507"/>
                </a:cubicBezTo>
                <a:cubicBezTo>
                  <a:pt x="99014" y="52955"/>
                  <a:pt x="95652" y="55167"/>
                  <a:pt x="91946" y="55167"/>
                </a:cubicBezTo>
                <a:lnTo>
                  <a:pt x="73557" y="55167"/>
                </a:lnTo>
                <a:lnTo>
                  <a:pt x="73557" y="101140"/>
                </a:lnTo>
                <a:cubicBezTo>
                  <a:pt x="73557" y="126540"/>
                  <a:pt x="52984" y="147113"/>
                  <a:pt x="27584" y="147113"/>
                </a:cubicBezTo>
                <a:lnTo>
                  <a:pt x="9195" y="147113"/>
                </a:lnTo>
                <a:cubicBezTo>
                  <a:pt x="4109" y="147113"/>
                  <a:pt x="0" y="143004"/>
                  <a:pt x="0" y="137919"/>
                </a:cubicBezTo>
                <a:lnTo>
                  <a:pt x="0" y="119529"/>
                </a:lnTo>
                <a:cubicBezTo>
                  <a:pt x="0" y="114444"/>
                  <a:pt x="4109" y="110335"/>
                  <a:pt x="9195" y="110335"/>
                </a:cubicBezTo>
                <a:lnTo>
                  <a:pt x="27584" y="110335"/>
                </a:lnTo>
                <a:cubicBezTo>
                  <a:pt x="32669" y="110335"/>
                  <a:pt x="36778" y="106226"/>
                  <a:pt x="36778" y="101140"/>
                </a:cubicBezTo>
                <a:lnTo>
                  <a:pt x="36778" y="55167"/>
                </a:lnTo>
                <a:lnTo>
                  <a:pt x="18389" y="55167"/>
                </a:lnTo>
                <a:cubicBezTo>
                  <a:pt x="14683" y="55167"/>
                  <a:pt x="11321" y="52926"/>
                  <a:pt x="9884" y="49478"/>
                </a:cubicBezTo>
                <a:cubicBezTo>
                  <a:pt x="8448" y="46030"/>
                  <a:pt x="9252" y="42094"/>
                  <a:pt x="11867" y="39450"/>
                </a:cubicBezTo>
                <a:lnTo>
                  <a:pt x="48645" y="2672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9" name="Text 37"/>
          <p:cNvSpPr/>
          <p:nvPr/>
        </p:nvSpPr>
        <p:spPr>
          <a:xfrm>
            <a:off x="6952101" y="3687023"/>
            <a:ext cx="1728579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权限提升滥用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52101" y="3907692"/>
            <a:ext cx="1719385" cy="18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Skill获取超出预期的系统权限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3648" y="4312253"/>
            <a:ext cx="5268489" cy="625231"/>
          </a:xfrm>
          <a:custGeom>
            <a:avLst/>
            <a:gdLst/>
            <a:ahLst/>
            <a:cxnLst/>
            <a:rect l="l" t="t" r="r" b="b"/>
            <a:pathLst>
              <a:path w="5268489" h="625231">
                <a:moveTo>
                  <a:pt x="73558" y="0"/>
                </a:moveTo>
                <a:lnTo>
                  <a:pt x="5194930" y="0"/>
                </a:lnTo>
                <a:cubicBezTo>
                  <a:pt x="5235555" y="0"/>
                  <a:pt x="5268489" y="32933"/>
                  <a:pt x="5268489" y="73558"/>
                </a:cubicBezTo>
                <a:lnTo>
                  <a:pt x="5268489" y="551672"/>
                </a:lnTo>
                <a:cubicBezTo>
                  <a:pt x="5268489" y="592298"/>
                  <a:pt x="5235555" y="625231"/>
                  <a:pt x="5194930" y="625231"/>
                </a:cubicBezTo>
                <a:lnTo>
                  <a:pt x="73558" y="625231"/>
                </a:lnTo>
                <a:cubicBezTo>
                  <a:pt x="32933" y="625231"/>
                  <a:pt x="0" y="592298"/>
                  <a:pt x="0" y="551672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473983" y="4422588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36778" y="0"/>
                </a:moveTo>
                <a:lnTo>
                  <a:pt x="331005" y="0"/>
                </a:lnTo>
                <a:cubicBezTo>
                  <a:pt x="351303" y="0"/>
                  <a:pt x="367783" y="16480"/>
                  <a:pt x="367783" y="36778"/>
                </a:cubicBezTo>
                <a:lnTo>
                  <a:pt x="367783" y="331005"/>
                </a:lnTo>
                <a:cubicBezTo>
                  <a:pt x="367783" y="351317"/>
                  <a:pt x="351317" y="367783"/>
                  <a:pt x="331005" y="367783"/>
                </a:cubicBezTo>
                <a:lnTo>
                  <a:pt x="36778" y="367783"/>
                </a:lnTo>
                <a:cubicBezTo>
                  <a:pt x="16466" y="367783"/>
                  <a:pt x="0" y="351317"/>
                  <a:pt x="0" y="331005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575123" y="4532923"/>
            <a:ext cx="165502" cy="147113"/>
          </a:xfrm>
          <a:custGeom>
            <a:avLst/>
            <a:gdLst/>
            <a:ahLst/>
            <a:cxnLst/>
            <a:rect l="l" t="t" r="r" b="b"/>
            <a:pathLst>
              <a:path w="165502" h="147113">
                <a:moveTo>
                  <a:pt x="120535" y="27584"/>
                </a:moveTo>
                <a:cubicBezTo>
                  <a:pt x="115765" y="27584"/>
                  <a:pt x="111139" y="28877"/>
                  <a:pt x="107088" y="31233"/>
                </a:cubicBezTo>
                <a:cubicBezTo>
                  <a:pt x="102548" y="26636"/>
                  <a:pt x="97261" y="22785"/>
                  <a:pt x="91429" y="19883"/>
                </a:cubicBezTo>
                <a:cubicBezTo>
                  <a:pt x="99531" y="12987"/>
                  <a:pt x="109846" y="9195"/>
                  <a:pt x="120535" y="9195"/>
                </a:cubicBezTo>
                <a:cubicBezTo>
                  <a:pt x="145360" y="9195"/>
                  <a:pt x="165502" y="29308"/>
                  <a:pt x="165502" y="54162"/>
                </a:cubicBezTo>
                <a:cubicBezTo>
                  <a:pt x="165502" y="66086"/>
                  <a:pt x="160761" y="77522"/>
                  <a:pt x="152343" y="85940"/>
                </a:cubicBezTo>
                <a:lnTo>
                  <a:pt x="131913" y="106370"/>
                </a:lnTo>
                <a:cubicBezTo>
                  <a:pt x="123495" y="114788"/>
                  <a:pt x="112059" y="119529"/>
                  <a:pt x="100135" y="119529"/>
                </a:cubicBezTo>
                <a:cubicBezTo>
                  <a:pt x="75309" y="119529"/>
                  <a:pt x="55167" y="99416"/>
                  <a:pt x="55167" y="74562"/>
                </a:cubicBezTo>
                <a:cubicBezTo>
                  <a:pt x="55167" y="74131"/>
                  <a:pt x="55167" y="73700"/>
                  <a:pt x="55196" y="73269"/>
                </a:cubicBezTo>
                <a:cubicBezTo>
                  <a:pt x="55340" y="68183"/>
                  <a:pt x="59564" y="64190"/>
                  <a:pt x="64649" y="64333"/>
                </a:cubicBezTo>
                <a:cubicBezTo>
                  <a:pt x="69735" y="64477"/>
                  <a:pt x="73729" y="68701"/>
                  <a:pt x="73585" y="73786"/>
                </a:cubicBezTo>
                <a:cubicBezTo>
                  <a:pt x="73585" y="74045"/>
                  <a:pt x="73585" y="74304"/>
                  <a:pt x="73585" y="74533"/>
                </a:cubicBezTo>
                <a:cubicBezTo>
                  <a:pt x="73585" y="89216"/>
                  <a:pt x="85481" y="101112"/>
                  <a:pt x="100163" y="101112"/>
                </a:cubicBezTo>
                <a:cubicBezTo>
                  <a:pt x="107203" y="101112"/>
                  <a:pt x="113955" y="98324"/>
                  <a:pt x="118955" y="93325"/>
                </a:cubicBezTo>
                <a:lnTo>
                  <a:pt x="139384" y="72896"/>
                </a:lnTo>
                <a:cubicBezTo>
                  <a:pt x="144355" y="67925"/>
                  <a:pt x="147171" y="61144"/>
                  <a:pt x="147171" y="54104"/>
                </a:cubicBezTo>
                <a:cubicBezTo>
                  <a:pt x="147171" y="39422"/>
                  <a:pt x="135275" y="27526"/>
                  <a:pt x="120593" y="27526"/>
                </a:cubicBezTo>
                <a:close/>
                <a:moveTo>
                  <a:pt x="79073" y="49794"/>
                </a:moveTo>
                <a:cubicBezTo>
                  <a:pt x="78527" y="49564"/>
                  <a:pt x="77981" y="49248"/>
                  <a:pt x="77493" y="48904"/>
                </a:cubicBezTo>
                <a:cubicBezTo>
                  <a:pt x="73873" y="47036"/>
                  <a:pt x="69735" y="45973"/>
                  <a:pt x="65396" y="45973"/>
                </a:cubicBezTo>
                <a:cubicBezTo>
                  <a:pt x="58357" y="45973"/>
                  <a:pt x="51605" y="48760"/>
                  <a:pt x="46605" y="53760"/>
                </a:cubicBezTo>
                <a:lnTo>
                  <a:pt x="26176" y="74189"/>
                </a:lnTo>
                <a:cubicBezTo>
                  <a:pt x="21205" y="79160"/>
                  <a:pt x="18389" y="85940"/>
                  <a:pt x="18389" y="92980"/>
                </a:cubicBezTo>
                <a:cubicBezTo>
                  <a:pt x="18389" y="107663"/>
                  <a:pt x="30285" y="119558"/>
                  <a:pt x="44967" y="119558"/>
                </a:cubicBezTo>
                <a:cubicBezTo>
                  <a:pt x="49708" y="119558"/>
                  <a:pt x="54334" y="118294"/>
                  <a:pt x="58386" y="115938"/>
                </a:cubicBezTo>
                <a:cubicBezTo>
                  <a:pt x="62925" y="120535"/>
                  <a:pt x="68212" y="124385"/>
                  <a:pt x="74074" y="127287"/>
                </a:cubicBezTo>
                <a:cubicBezTo>
                  <a:pt x="65971" y="134155"/>
                  <a:pt x="55685" y="137976"/>
                  <a:pt x="44967" y="137976"/>
                </a:cubicBezTo>
                <a:cubicBezTo>
                  <a:pt x="20142" y="137976"/>
                  <a:pt x="0" y="117863"/>
                  <a:pt x="0" y="93009"/>
                </a:cubicBezTo>
                <a:cubicBezTo>
                  <a:pt x="0" y="81085"/>
                  <a:pt x="4741" y="69649"/>
                  <a:pt x="13160" y="61230"/>
                </a:cubicBezTo>
                <a:lnTo>
                  <a:pt x="33589" y="40801"/>
                </a:lnTo>
                <a:cubicBezTo>
                  <a:pt x="42008" y="32382"/>
                  <a:pt x="53443" y="27641"/>
                  <a:pt x="65368" y="27641"/>
                </a:cubicBezTo>
                <a:cubicBezTo>
                  <a:pt x="90250" y="27641"/>
                  <a:pt x="110335" y="47927"/>
                  <a:pt x="110335" y="72723"/>
                </a:cubicBezTo>
                <a:cubicBezTo>
                  <a:pt x="110335" y="73097"/>
                  <a:pt x="110335" y="73470"/>
                  <a:pt x="110335" y="73844"/>
                </a:cubicBezTo>
                <a:cubicBezTo>
                  <a:pt x="110220" y="78930"/>
                  <a:pt x="105996" y="82924"/>
                  <a:pt x="100910" y="82809"/>
                </a:cubicBezTo>
                <a:cubicBezTo>
                  <a:pt x="95825" y="82694"/>
                  <a:pt x="91831" y="78470"/>
                  <a:pt x="91946" y="73384"/>
                </a:cubicBezTo>
                <a:cubicBezTo>
                  <a:pt x="91946" y="73154"/>
                  <a:pt x="91946" y="72953"/>
                  <a:pt x="91946" y="72723"/>
                </a:cubicBezTo>
                <a:cubicBezTo>
                  <a:pt x="91946" y="63040"/>
                  <a:pt x="86774" y="54535"/>
                  <a:pt x="79073" y="49852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Text 42"/>
          <p:cNvSpPr/>
          <p:nvPr/>
        </p:nvSpPr>
        <p:spPr>
          <a:xfrm>
            <a:off x="6952101" y="4422588"/>
            <a:ext cx="1471131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供应链攻击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52101" y="4643258"/>
            <a:ext cx="1461937" cy="18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第三方Skill依赖存在漏洞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3648" y="5047819"/>
            <a:ext cx="5268489" cy="625231"/>
          </a:xfrm>
          <a:custGeom>
            <a:avLst/>
            <a:gdLst/>
            <a:ahLst/>
            <a:cxnLst/>
            <a:rect l="l" t="t" r="r" b="b"/>
            <a:pathLst>
              <a:path w="5268489" h="625231">
                <a:moveTo>
                  <a:pt x="73558" y="0"/>
                </a:moveTo>
                <a:lnTo>
                  <a:pt x="5194930" y="0"/>
                </a:lnTo>
                <a:cubicBezTo>
                  <a:pt x="5235555" y="0"/>
                  <a:pt x="5268489" y="32933"/>
                  <a:pt x="5268489" y="73558"/>
                </a:cubicBezTo>
                <a:lnTo>
                  <a:pt x="5268489" y="551672"/>
                </a:lnTo>
                <a:cubicBezTo>
                  <a:pt x="5268489" y="592298"/>
                  <a:pt x="5235555" y="625231"/>
                  <a:pt x="5194930" y="625231"/>
                </a:cubicBezTo>
                <a:lnTo>
                  <a:pt x="73558" y="625231"/>
                </a:lnTo>
                <a:cubicBezTo>
                  <a:pt x="32933" y="625231"/>
                  <a:pt x="0" y="592298"/>
                  <a:pt x="0" y="551672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473983" y="5158154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36778" y="0"/>
                </a:moveTo>
                <a:lnTo>
                  <a:pt x="331005" y="0"/>
                </a:lnTo>
                <a:cubicBezTo>
                  <a:pt x="351303" y="0"/>
                  <a:pt x="367783" y="16480"/>
                  <a:pt x="367783" y="36778"/>
                </a:cubicBezTo>
                <a:lnTo>
                  <a:pt x="367783" y="331005"/>
                </a:lnTo>
                <a:cubicBezTo>
                  <a:pt x="367783" y="351317"/>
                  <a:pt x="351317" y="367783"/>
                  <a:pt x="331005" y="367783"/>
                </a:cubicBezTo>
                <a:lnTo>
                  <a:pt x="36778" y="367783"/>
                </a:lnTo>
                <a:cubicBezTo>
                  <a:pt x="16466" y="367783"/>
                  <a:pt x="0" y="351317"/>
                  <a:pt x="0" y="331005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584318" y="5268489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37919"/>
                </a:moveTo>
                <a:cubicBezTo>
                  <a:pt x="114185" y="137919"/>
                  <a:pt x="147113" y="107031"/>
                  <a:pt x="147113" y="68959"/>
                </a:cubicBezTo>
                <a:cubicBezTo>
                  <a:pt x="147113" y="30888"/>
                  <a:pt x="114185" y="0"/>
                  <a:pt x="73557" y="0"/>
                </a:cubicBezTo>
                <a:cubicBezTo>
                  <a:pt x="32928" y="0"/>
                  <a:pt x="0" y="30888"/>
                  <a:pt x="0" y="68959"/>
                </a:cubicBezTo>
                <a:cubicBezTo>
                  <a:pt x="0" y="84561"/>
                  <a:pt x="5517" y="98928"/>
                  <a:pt x="14826" y="110479"/>
                </a:cubicBezTo>
                <a:lnTo>
                  <a:pt x="805" y="136999"/>
                </a:lnTo>
                <a:cubicBezTo>
                  <a:pt x="-575" y="139585"/>
                  <a:pt x="-144" y="142746"/>
                  <a:pt x="1839" y="144901"/>
                </a:cubicBezTo>
                <a:cubicBezTo>
                  <a:pt x="3821" y="147056"/>
                  <a:pt x="6953" y="147717"/>
                  <a:pt x="9626" y="146567"/>
                </a:cubicBezTo>
                <a:lnTo>
                  <a:pt x="43645" y="132000"/>
                </a:lnTo>
                <a:cubicBezTo>
                  <a:pt x="52783" y="135792"/>
                  <a:pt x="62897" y="137919"/>
                  <a:pt x="73557" y="137919"/>
                </a:cubicBezTo>
                <a:close/>
                <a:moveTo>
                  <a:pt x="36778" y="59765"/>
                </a:moveTo>
                <a:cubicBezTo>
                  <a:pt x="41853" y="59765"/>
                  <a:pt x="45973" y="63885"/>
                  <a:pt x="45973" y="68959"/>
                </a:cubicBezTo>
                <a:cubicBezTo>
                  <a:pt x="45973" y="74034"/>
                  <a:pt x="41853" y="78154"/>
                  <a:pt x="36778" y="78154"/>
                </a:cubicBezTo>
                <a:cubicBezTo>
                  <a:pt x="31704" y="78154"/>
                  <a:pt x="27584" y="74034"/>
                  <a:pt x="27584" y="68959"/>
                </a:cubicBezTo>
                <a:cubicBezTo>
                  <a:pt x="27584" y="63885"/>
                  <a:pt x="31704" y="59765"/>
                  <a:pt x="36778" y="59765"/>
                </a:cubicBezTo>
                <a:close/>
                <a:moveTo>
                  <a:pt x="73557" y="59765"/>
                </a:moveTo>
                <a:cubicBezTo>
                  <a:pt x="78631" y="59765"/>
                  <a:pt x="82751" y="63885"/>
                  <a:pt x="82751" y="68959"/>
                </a:cubicBezTo>
                <a:cubicBezTo>
                  <a:pt x="82751" y="74034"/>
                  <a:pt x="78631" y="78154"/>
                  <a:pt x="73557" y="78154"/>
                </a:cubicBezTo>
                <a:cubicBezTo>
                  <a:pt x="68482" y="78154"/>
                  <a:pt x="64362" y="74034"/>
                  <a:pt x="64362" y="68959"/>
                </a:cubicBezTo>
                <a:cubicBezTo>
                  <a:pt x="64362" y="63885"/>
                  <a:pt x="68482" y="59765"/>
                  <a:pt x="73557" y="59765"/>
                </a:cubicBezTo>
                <a:close/>
                <a:moveTo>
                  <a:pt x="101140" y="68959"/>
                </a:moveTo>
                <a:cubicBezTo>
                  <a:pt x="101140" y="63885"/>
                  <a:pt x="105260" y="59765"/>
                  <a:pt x="110335" y="59765"/>
                </a:cubicBezTo>
                <a:cubicBezTo>
                  <a:pt x="115409" y="59765"/>
                  <a:pt x="119529" y="63885"/>
                  <a:pt x="119529" y="68959"/>
                </a:cubicBezTo>
                <a:cubicBezTo>
                  <a:pt x="119529" y="74034"/>
                  <a:pt x="115409" y="78154"/>
                  <a:pt x="110335" y="78154"/>
                </a:cubicBezTo>
                <a:cubicBezTo>
                  <a:pt x="105260" y="78154"/>
                  <a:pt x="101140" y="74034"/>
                  <a:pt x="101140" y="6895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9" name="Text 47"/>
          <p:cNvSpPr/>
          <p:nvPr/>
        </p:nvSpPr>
        <p:spPr>
          <a:xfrm>
            <a:off x="6952101" y="5158154"/>
            <a:ext cx="1342407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提示注入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52101" y="5378824"/>
            <a:ext cx="1333213" cy="18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通过输入操纵Skill行为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6172" y="5976471"/>
            <a:ext cx="11438045" cy="514896"/>
          </a:xfrm>
          <a:custGeom>
            <a:avLst/>
            <a:gdLst/>
            <a:ahLst/>
            <a:cxnLst/>
            <a:rect l="l" t="t" r="r" b="b"/>
            <a:pathLst>
              <a:path w="11438045" h="514896">
                <a:moveTo>
                  <a:pt x="0" y="0"/>
                </a:moveTo>
                <a:lnTo>
                  <a:pt x="11327708" y="0"/>
                </a:lnTo>
                <a:cubicBezTo>
                  <a:pt x="11388646" y="0"/>
                  <a:pt x="11438045" y="49400"/>
                  <a:pt x="11438045" y="110337"/>
                </a:cubicBezTo>
                <a:lnTo>
                  <a:pt x="11438045" y="404559"/>
                </a:lnTo>
                <a:cubicBezTo>
                  <a:pt x="11438045" y="465496"/>
                  <a:pt x="11388646" y="514896"/>
                  <a:pt x="11327708" y="514896"/>
                </a:cubicBezTo>
                <a:lnTo>
                  <a:pt x="0" y="5148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2" name="Shape 50"/>
          <p:cNvSpPr/>
          <p:nvPr/>
        </p:nvSpPr>
        <p:spPr>
          <a:xfrm>
            <a:off x="386172" y="5976471"/>
            <a:ext cx="36778" cy="514896"/>
          </a:xfrm>
          <a:custGeom>
            <a:avLst/>
            <a:gdLst/>
            <a:ahLst/>
            <a:cxnLst/>
            <a:rect l="l" t="t" r="r" b="b"/>
            <a:pathLst>
              <a:path w="36778" h="514896">
                <a:moveTo>
                  <a:pt x="0" y="0"/>
                </a:moveTo>
                <a:lnTo>
                  <a:pt x="36778" y="0"/>
                </a:lnTo>
                <a:lnTo>
                  <a:pt x="36778" y="514896"/>
                </a:lnTo>
                <a:lnTo>
                  <a:pt x="0" y="514896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3" name="Shape 51"/>
          <p:cNvSpPr/>
          <p:nvPr/>
        </p:nvSpPr>
        <p:spPr>
          <a:xfrm>
            <a:off x="574661" y="6141973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91946" y="0"/>
                </a:moveTo>
                <a:cubicBezTo>
                  <a:pt x="97225" y="0"/>
                  <a:pt x="102074" y="2909"/>
                  <a:pt x="104588" y="7542"/>
                </a:cubicBezTo>
                <a:lnTo>
                  <a:pt x="182167" y="151208"/>
                </a:lnTo>
                <a:cubicBezTo>
                  <a:pt x="184574" y="155661"/>
                  <a:pt x="184466" y="161049"/>
                  <a:pt x="181880" y="165395"/>
                </a:cubicBezTo>
                <a:cubicBezTo>
                  <a:pt x="179294" y="169740"/>
                  <a:pt x="174589" y="172398"/>
                  <a:pt x="169525" y="172398"/>
                </a:cubicBezTo>
                <a:lnTo>
                  <a:pt x="14367" y="172398"/>
                </a:lnTo>
                <a:cubicBezTo>
                  <a:pt x="9302" y="172398"/>
                  <a:pt x="4633" y="169740"/>
                  <a:pt x="2011" y="165395"/>
                </a:cubicBezTo>
                <a:cubicBezTo>
                  <a:pt x="-611" y="161049"/>
                  <a:pt x="-682" y="155661"/>
                  <a:pt x="1724" y="151208"/>
                </a:cubicBezTo>
                <a:lnTo>
                  <a:pt x="79303" y="7542"/>
                </a:lnTo>
                <a:cubicBezTo>
                  <a:pt x="81817" y="2909"/>
                  <a:pt x="86666" y="0"/>
                  <a:pt x="91946" y="0"/>
                </a:cubicBezTo>
                <a:close/>
                <a:moveTo>
                  <a:pt x="91946" y="60339"/>
                </a:moveTo>
                <a:cubicBezTo>
                  <a:pt x="87169" y="60339"/>
                  <a:pt x="83326" y="64182"/>
                  <a:pt x="83326" y="68959"/>
                </a:cubicBezTo>
                <a:lnTo>
                  <a:pt x="83326" y="109186"/>
                </a:lnTo>
                <a:cubicBezTo>
                  <a:pt x="83326" y="113962"/>
                  <a:pt x="87169" y="117805"/>
                  <a:pt x="91946" y="117805"/>
                </a:cubicBezTo>
                <a:cubicBezTo>
                  <a:pt x="96723" y="117805"/>
                  <a:pt x="100566" y="113962"/>
                  <a:pt x="100566" y="109186"/>
                </a:cubicBezTo>
                <a:lnTo>
                  <a:pt x="100566" y="68959"/>
                </a:lnTo>
                <a:cubicBezTo>
                  <a:pt x="100566" y="64182"/>
                  <a:pt x="96723" y="60339"/>
                  <a:pt x="91946" y="60339"/>
                </a:cubicBezTo>
                <a:close/>
                <a:moveTo>
                  <a:pt x="101535" y="137919"/>
                </a:moveTo>
                <a:cubicBezTo>
                  <a:pt x="101753" y="134359"/>
                  <a:pt x="99978" y="130972"/>
                  <a:pt x="96927" y="129127"/>
                </a:cubicBezTo>
                <a:cubicBezTo>
                  <a:pt x="93875" y="127281"/>
                  <a:pt x="90052" y="127281"/>
                  <a:pt x="87000" y="129127"/>
                </a:cubicBezTo>
                <a:cubicBezTo>
                  <a:pt x="83949" y="130972"/>
                  <a:pt x="82174" y="134359"/>
                  <a:pt x="82392" y="137919"/>
                </a:cubicBezTo>
                <a:cubicBezTo>
                  <a:pt x="82174" y="141478"/>
                  <a:pt x="83949" y="144865"/>
                  <a:pt x="87000" y="146710"/>
                </a:cubicBezTo>
                <a:cubicBezTo>
                  <a:pt x="90052" y="148556"/>
                  <a:pt x="93875" y="148556"/>
                  <a:pt x="96927" y="146710"/>
                </a:cubicBezTo>
                <a:cubicBezTo>
                  <a:pt x="99978" y="144865"/>
                  <a:pt x="101753" y="141478"/>
                  <a:pt x="101535" y="13791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4" name="Text 52"/>
          <p:cNvSpPr/>
          <p:nvPr/>
        </p:nvSpPr>
        <p:spPr>
          <a:xfrm>
            <a:off x="891873" y="6123584"/>
            <a:ext cx="7806190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核心洞察：</a:t>
            </a:r>
            <a:r>
              <a:rPr lang="en-US" sz="11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Skills领域目前处于</a:t>
            </a:r>
            <a:r>
              <a:rPr lang="en-US" sz="1160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工程驱动、学术滞后 </a:t>
            </a:r>
            <a:r>
              <a:rPr lang="en-US" sz="116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的阶段，标准化评估体系与安全框架的建立是学术界的重要机遇。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b36cd6b9be515ff726b046b43c82aa9abf45cfb0.jpg"/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1A1D21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626269"/>
            <a:ext cx="1381125" cy="390525"/>
          </a:xfrm>
          <a:custGeom>
            <a:avLst/>
            <a:gdLst/>
            <a:ahLst/>
            <a:cxnLst/>
            <a:rect l="l" t="t" r="r" b="b"/>
            <a:pathLst>
              <a:path w="1381125" h="390525">
                <a:moveTo>
                  <a:pt x="76199" y="0"/>
                </a:moveTo>
                <a:lnTo>
                  <a:pt x="1304926" y="0"/>
                </a:lnTo>
                <a:cubicBezTo>
                  <a:pt x="1347009" y="0"/>
                  <a:pt x="1381125" y="34116"/>
                  <a:pt x="1381125" y="76199"/>
                </a:cubicBezTo>
                <a:lnTo>
                  <a:pt x="1381125" y="314326"/>
                </a:lnTo>
                <a:cubicBezTo>
                  <a:pt x="1381125" y="356409"/>
                  <a:pt x="1347009" y="390525"/>
                  <a:pt x="13049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721519"/>
            <a:ext cx="1144712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73956"/>
            <a:ext cx="116586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总结与启示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2131219"/>
            <a:ext cx="8524875" cy="952500"/>
          </a:xfrm>
          <a:custGeom>
            <a:avLst/>
            <a:gdLst/>
            <a:ahLst/>
            <a:cxnLst/>
            <a:rect l="l" t="t" r="r" b="b"/>
            <a:pathLst>
              <a:path w="8524875" h="952500">
                <a:moveTo>
                  <a:pt x="114300" y="0"/>
                </a:moveTo>
                <a:lnTo>
                  <a:pt x="8410575" y="0"/>
                </a:lnTo>
                <a:cubicBezTo>
                  <a:pt x="8473659" y="0"/>
                  <a:pt x="8524875" y="51216"/>
                  <a:pt x="8524875" y="114300"/>
                </a:cubicBezTo>
                <a:lnTo>
                  <a:pt x="8524875" y="838200"/>
                </a:lnTo>
                <a:cubicBezTo>
                  <a:pt x="8524875" y="901284"/>
                  <a:pt x="8473659" y="952500"/>
                  <a:pt x="84105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1025" y="2326481"/>
            <a:ext cx="822007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Skills技术提供了一种将</a:t>
            </a:r>
            <a:r>
              <a:rPr lang="en-US" sz="1350" b="1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过程性知识显性编码 </a:t>
            </a: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</a:t>
            </a:r>
            <a:r>
              <a:rPr lang="en-US" sz="1350" b="1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模块化复用 </a:t>
            </a: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的机制，通过渐进式披露解决了context窗口约束问题，在领域知识注入、工作流编排和行为确定性方面有明确的技术价值。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3240881"/>
            <a:ext cx="4181475" cy="1647825"/>
          </a:xfrm>
          <a:custGeom>
            <a:avLst/>
            <a:gdLst/>
            <a:ahLst/>
            <a:cxnLst/>
            <a:rect l="l" t="t" r="r" b="b"/>
            <a:pathLst>
              <a:path w="4181475" h="1647825">
                <a:moveTo>
                  <a:pt x="114293" y="0"/>
                </a:moveTo>
                <a:lnTo>
                  <a:pt x="4067182" y="0"/>
                </a:lnTo>
                <a:cubicBezTo>
                  <a:pt x="4130262" y="0"/>
                  <a:pt x="4181475" y="51213"/>
                  <a:pt x="4181475" y="114293"/>
                </a:cubicBezTo>
                <a:lnTo>
                  <a:pt x="4181475" y="1533532"/>
                </a:lnTo>
                <a:cubicBezTo>
                  <a:pt x="4181475" y="1596612"/>
                  <a:pt x="4130262" y="1647825"/>
                  <a:pt x="406718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738" y="34361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8"/>
          <p:cNvSpPr/>
          <p:nvPr/>
        </p:nvSpPr>
        <p:spPr>
          <a:xfrm>
            <a:off x="895350" y="3398044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已验证价值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925" y="381714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1525" y="3779044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渐进式披露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节省85%+ Token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2925" y="416004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1525" y="4121944"/>
            <a:ext cx="2000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企业案例显示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8倍生产力提升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2925" y="450294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1525" y="4464844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行业技术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趋同与标准化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29163" y="3240881"/>
            <a:ext cx="4181475" cy="1647825"/>
          </a:xfrm>
          <a:custGeom>
            <a:avLst/>
            <a:gdLst/>
            <a:ahLst/>
            <a:cxnLst/>
            <a:rect l="l" t="t" r="r" b="b"/>
            <a:pathLst>
              <a:path w="4181475" h="1647825">
                <a:moveTo>
                  <a:pt x="114293" y="0"/>
                </a:moveTo>
                <a:lnTo>
                  <a:pt x="4067182" y="0"/>
                </a:lnTo>
                <a:cubicBezTo>
                  <a:pt x="4130262" y="0"/>
                  <a:pt x="4181475" y="51213"/>
                  <a:pt x="4181475" y="114293"/>
                </a:cubicBezTo>
                <a:lnTo>
                  <a:pt x="4181475" y="1533532"/>
                </a:lnTo>
                <a:cubicBezTo>
                  <a:pt x="4181475" y="1596612"/>
                  <a:pt x="4130262" y="1647825"/>
                  <a:pt x="406718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10138" y="34361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Text 17"/>
          <p:cNvSpPr/>
          <p:nvPr/>
        </p:nvSpPr>
        <p:spPr>
          <a:xfrm>
            <a:off x="5238750" y="3398044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研究方向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86325" y="381714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14925" y="3779044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标准化评估体系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86325" y="416004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14925" y="4121944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安全防御框架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86325" y="450294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14925" y="4464844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认知影响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长期实证研究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00050" y="5045869"/>
            <a:ext cx="8515350" cy="800100"/>
          </a:xfrm>
          <a:custGeom>
            <a:avLst/>
            <a:gdLst/>
            <a:ahLst/>
            <a:cxnLst/>
            <a:rect l="l" t="t" r="r" b="b"/>
            <a:pathLst>
              <a:path w="8515350" h="800100">
                <a:moveTo>
                  <a:pt x="0" y="0"/>
                </a:moveTo>
                <a:lnTo>
                  <a:pt x="8401048" y="0"/>
                </a:lnTo>
                <a:cubicBezTo>
                  <a:pt x="8464133" y="0"/>
                  <a:pt x="8515350" y="51217"/>
                  <a:pt x="8515350" y="114302"/>
                </a:cubicBezTo>
                <a:lnTo>
                  <a:pt x="8515350" y="685798"/>
                </a:lnTo>
                <a:cubicBezTo>
                  <a:pt x="8515350" y="748883"/>
                  <a:pt x="8464133" y="800100"/>
                  <a:pt x="8401048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28" name="Shape 25"/>
          <p:cNvSpPr/>
          <p:nvPr/>
        </p:nvSpPr>
        <p:spPr>
          <a:xfrm>
            <a:off x="400050" y="5045869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9" name="Shape 26"/>
          <p:cNvSpPr/>
          <p:nvPr/>
        </p:nvSpPr>
        <p:spPr>
          <a:xfrm>
            <a:off x="609600" y="525065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0" name="Text 27"/>
          <p:cNvSpPr/>
          <p:nvPr/>
        </p:nvSpPr>
        <p:spPr>
          <a:xfrm>
            <a:off x="819150" y="5198269"/>
            <a:ext cx="80200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关键洞察：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该领域目前处于</a:t>
            </a:r>
            <a:r>
              <a:rPr lang="en-US" sz="1200" dirty="0">
                <a:solidFill>
                  <a:srgbClr val="5E8B7E"/>
                </a:solidFill>
                <a:highlight>
                  <a:srgbClr val="5E8B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工程驱动、学术滞后 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的阶段——标准化评估体系、安全框架、以及认知影响的长期实证研究，是值得关注的研究方向。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381000" y="63436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3" name="Text 30"/>
          <p:cNvSpPr/>
          <p:nvPr/>
        </p:nvSpPr>
        <p:spPr>
          <a:xfrm>
            <a:off x="1143000" y="6248400"/>
            <a:ext cx="2028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 Skills 技术文献综述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026229" y="624840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2025-2026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5034</Words>
  <Application>WPS 表格</Application>
  <PresentationFormat>On-screen Show (16:9)</PresentationFormat>
  <Paragraphs>763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2" baseType="lpstr">
      <vt:lpstr>Arial</vt:lpstr>
      <vt:lpstr>宋体</vt:lpstr>
      <vt:lpstr>Wingdings</vt:lpstr>
      <vt:lpstr>MiSans</vt:lpstr>
      <vt:lpstr>苹方-简</vt:lpstr>
      <vt:lpstr>MiSans</vt:lpstr>
      <vt:lpstr>MiSans</vt:lpstr>
      <vt:lpstr>Alimama ShuHeiTi</vt:lpstr>
      <vt:lpstr>Alimama ShuHeiTi</vt:lpstr>
      <vt:lpstr>Alimama ShuHeiTi</vt:lpstr>
      <vt:lpstr>微软雅黑</vt:lpstr>
      <vt:lpstr>微软雅黑</vt:lpstr>
      <vt:lpstr>微软雅黑</vt:lpstr>
      <vt:lpstr>Calibri</vt:lpstr>
      <vt:lpstr>Helvetica Neue</vt:lpstr>
      <vt:lpstr>汉仪旗黑</vt:lpstr>
      <vt:lpstr>宋体</vt:lpstr>
      <vt:lpstr>Arial Unicode MS</vt:lpstr>
      <vt:lpstr>等线</vt:lpstr>
      <vt:lpstr>汉仪中等线KW</vt:lpstr>
      <vt:lpstr>汉仪书宋二KW</vt:lpstr>
      <vt:lpstr>儷宋 Pro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Skills 技术文献综述</dc:title>
  <dc:creator>Kimi</dc:creator>
  <dc:subject>AI Agent Skills 技术文献综述</dc:subject>
  <cp:lastModifiedBy>tan</cp:lastModifiedBy>
  <cp:revision>2</cp:revision>
  <dcterms:created xsi:type="dcterms:W3CDTF">2026-02-20T14:41:16Z</dcterms:created>
  <dcterms:modified xsi:type="dcterms:W3CDTF">2026-02-20T14:41:16Z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Agent Skills 技术文献综述","ContentProducer":"001191110108MACG2KBH8F10000","ProduceID":"19c4b0d8-ef62-8b20-8000-0000a0c19a5d","ReservedCode1":"","ContentPropagator":"001191110108MACG2KBH8F20000","PropagateID":"19c4b0d8-ef62-8b20-8000-0000a0c19a5d","ReservedCode2":""}</vt:lpwstr>
  </property>
  <property fmtid="{D5CDD505-2E9C-101B-9397-08002B2CF9AE}" pid="3" name="ICV">
    <vt:lpwstr>1A5910E013BAE4F48C729869E39C219A_42</vt:lpwstr>
  </property>
  <property fmtid="{D5CDD505-2E9C-101B-9397-08002B2CF9AE}" pid="4" name="KSOProductBuildVer">
    <vt:lpwstr>2052-6.11.0.8608</vt:lpwstr>
  </property>
</Properties>
</file>